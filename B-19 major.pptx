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75" r:id="rId3"/>
    <p:sldId id="300" r:id="rId4"/>
    <p:sldId id="276" r:id="rId5"/>
    <p:sldId id="259" r:id="rId6"/>
    <p:sldId id="278" r:id="rId7"/>
    <p:sldId id="279" r:id="rId8"/>
    <p:sldId id="315" r:id="rId9"/>
    <p:sldId id="301" r:id="rId10"/>
    <p:sldId id="280" r:id="rId11"/>
    <p:sldId id="322" r:id="rId12"/>
    <p:sldId id="323" r:id="rId13"/>
    <p:sldId id="324" r:id="rId14"/>
    <p:sldId id="325" r:id="rId15"/>
    <p:sldId id="281" r:id="rId16"/>
    <p:sldId id="282" r:id="rId17"/>
    <p:sldId id="308" r:id="rId18"/>
    <p:sldId id="309" r:id="rId19"/>
    <p:sldId id="319" r:id="rId20"/>
    <p:sldId id="320" r:id="rId21"/>
    <p:sldId id="302" r:id="rId22"/>
    <p:sldId id="314" r:id="rId23"/>
    <p:sldId id="313" r:id="rId24"/>
    <p:sldId id="317" r:id="rId25"/>
    <p:sldId id="316" r:id="rId26"/>
    <p:sldId id="318" r:id="rId27"/>
    <p:sldId id="264" r:id="rId28"/>
    <p:sldId id="321" r:id="rId29"/>
    <p:sldId id="26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E20CA4-D3F4-4D9C-BCCB-A38A03127E73}" v="1588" dt="2026-04-19T15:43:37.975"/>
    <p1510:client id="{1E3E50FB-BD75-474E-8052-A58D14E0E13E}" v="11" dt="2026-04-19T13:58:17.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7"/>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B3663C-318F-4FB3-85DF-529067BF0AD7}" type="datetimeFigureOut">
              <a:rPr lang="en-IN" smtClean="0"/>
              <a:t>20-04-2026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8CEAE-C4B3-4A9A-A922-0DFDC487975B}" type="slidenum">
              <a:rPr lang="en-IN" smtClean="0"/>
              <a:t>‹#›</a:t>
            </a:fld>
            <a:endParaRPr lang="en-IN"/>
          </a:p>
        </p:txBody>
      </p:sp>
    </p:spTree>
    <p:extLst>
      <p:ext uri="{BB962C8B-B14F-4D97-AF65-F5344CB8AC3E}">
        <p14:creationId xmlns:p14="http://schemas.microsoft.com/office/powerpoint/2010/main" val="3983253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9F84-7D29-9C6F-D08F-876BAFFCA6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932830-BC50-0A6A-E9B0-C48234FD7E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660388-39E9-32A9-63BD-EE0272B57B35}"/>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5" name="Footer Placeholder 4">
            <a:extLst>
              <a:ext uri="{FF2B5EF4-FFF2-40B4-BE49-F238E27FC236}">
                <a16:creationId xmlns:a16="http://schemas.microsoft.com/office/drawing/2014/main" id="{3984B740-8D0A-9850-2461-F85C30DF9F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9BF4BA-2C46-59AD-8F05-9D44260D14A7}"/>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3755648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93BF-3992-0DB0-8114-CAAAF28F7D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4D93A9-1EA3-8695-413C-C7BB082832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23EFBD-BAB6-81E5-CC36-1B0156EDB400}"/>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5" name="Footer Placeholder 4">
            <a:extLst>
              <a:ext uri="{FF2B5EF4-FFF2-40B4-BE49-F238E27FC236}">
                <a16:creationId xmlns:a16="http://schemas.microsoft.com/office/drawing/2014/main" id="{CC3CC87F-477B-71A0-6120-FB7DCCC424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7EDD62-2D51-4682-3CAA-8E18C8FB097B}"/>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1825762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FBFF5-3FCA-2AB9-EC01-CF08F8A7B6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9E6FCB-EB4B-2408-D751-841DE09745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8E2A37-5934-04D0-4896-CCEF6C48B5FB}"/>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5" name="Footer Placeholder 4">
            <a:extLst>
              <a:ext uri="{FF2B5EF4-FFF2-40B4-BE49-F238E27FC236}">
                <a16:creationId xmlns:a16="http://schemas.microsoft.com/office/drawing/2014/main" id="{C5D47F5E-E1E0-F89B-9B13-4DE8DF5CC0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11324-8B6F-7CE6-C720-A9AE3C7DCDE0}"/>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1841216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B790-F911-F6F1-84B9-BB1C5F7055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4E6F5E-82CA-B887-A881-07307E036C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2B2A2A-AEF5-CD8C-5A62-A7942A80C4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958C08-03FB-2C9A-6E98-9C023F91DE29}"/>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6" name="Footer Placeholder 5">
            <a:extLst>
              <a:ext uri="{FF2B5EF4-FFF2-40B4-BE49-F238E27FC236}">
                <a16:creationId xmlns:a16="http://schemas.microsoft.com/office/drawing/2014/main" id="{80C4697D-AB01-DECD-66A0-E849756B86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3FF84E-9FDB-AEA8-3DC4-684B3077D0F3}"/>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72873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5AC4C-40D5-85A6-FB7A-B1666C30AF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F039EF-4D8E-812D-F2B0-6467AEDE72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2DF224-655B-CA9C-338C-51FCA94031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FF839A-F604-DB0E-F4E7-3C03B758EA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A065F-AAC2-1CE3-0F84-1D7C30910D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F89305-AA0E-3148-E56F-085E814D319D}"/>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8" name="Footer Placeholder 7">
            <a:extLst>
              <a:ext uri="{FF2B5EF4-FFF2-40B4-BE49-F238E27FC236}">
                <a16:creationId xmlns:a16="http://schemas.microsoft.com/office/drawing/2014/main" id="{E48D1FE6-57F0-21E3-C52D-5E28F48966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D9CAEEE-D7FF-092E-D379-2B9C8EB25811}"/>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2438765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7D33-1050-1AB7-E65E-C458BE25C4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3EC621-1A98-314F-5F1A-BC32281CAB4F}"/>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4" name="Footer Placeholder 3">
            <a:extLst>
              <a:ext uri="{FF2B5EF4-FFF2-40B4-BE49-F238E27FC236}">
                <a16:creationId xmlns:a16="http://schemas.microsoft.com/office/drawing/2014/main" id="{630C76E7-75AC-034D-9E42-E6B7B36CA5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D09C1E-8A98-0109-D86C-4320D453FA49}"/>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3802416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26C762-F86B-C75B-CEC4-107DB9B2E0B7}"/>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3" name="Footer Placeholder 2">
            <a:extLst>
              <a:ext uri="{FF2B5EF4-FFF2-40B4-BE49-F238E27FC236}">
                <a16:creationId xmlns:a16="http://schemas.microsoft.com/office/drawing/2014/main" id="{114F2FA1-B73A-3B5F-4DD6-AB398659EA3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DBB7A3-3B62-9417-53FA-4F5BBBF3720D}"/>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179956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F383-FF05-4ABB-36D4-9817C4625D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539FD78-7B9F-CA66-B00A-8473D7E64A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4A8723-7EF3-75F3-2597-92E88E164C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0C0C95-0E14-B910-27EE-9EEF30A1DC1D}"/>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6" name="Footer Placeholder 5">
            <a:extLst>
              <a:ext uri="{FF2B5EF4-FFF2-40B4-BE49-F238E27FC236}">
                <a16:creationId xmlns:a16="http://schemas.microsoft.com/office/drawing/2014/main" id="{D9806D95-FDAC-DD26-8F20-4DA4943C33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C21255-AD49-47DE-D9E1-E37E0C48936B}"/>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143990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A6456-3030-B280-C78D-E4AAB1089D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82444F-9CF5-557C-9C09-54AB99336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330FC9-31D4-7592-901E-69B5036DB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948AB-4C91-AE0D-F1A8-9B955D235CC0}"/>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6" name="Footer Placeholder 5">
            <a:extLst>
              <a:ext uri="{FF2B5EF4-FFF2-40B4-BE49-F238E27FC236}">
                <a16:creationId xmlns:a16="http://schemas.microsoft.com/office/drawing/2014/main" id="{541CE022-1348-6983-F3C8-C5E421FF9C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C6ED90-B79E-1372-8F37-287E0E964B73}"/>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1170899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240C9-9192-BE30-9BFC-F2DC96F96C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73D301-3895-E0DE-314A-E970979123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6028E3-1737-5021-32DC-3FD8D97105AC}"/>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5" name="Footer Placeholder 4">
            <a:extLst>
              <a:ext uri="{FF2B5EF4-FFF2-40B4-BE49-F238E27FC236}">
                <a16:creationId xmlns:a16="http://schemas.microsoft.com/office/drawing/2014/main" id="{83070554-7581-15B4-AACA-FF3508CCAD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1CE1D3-809B-25D7-4AB3-001793831FBD}"/>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685320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9AAF28-3E67-D9BF-F458-847044BEE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29EDC6-47BE-5C4F-E1C5-F8B3BB10D9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954721-D550-A5F7-2C7B-08E3DD7C2A65}"/>
              </a:ext>
            </a:extLst>
          </p:cNvPr>
          <p:cNvSpPr>
            <a:spLocks noGrp="1"/>
          </p:cNvSpPr>
          <p:nvPr>
            <p:ph type="dt" sz="half" idx="10"/>
          </p:nvPr>
        </p:nvSpPr>
        <p:spPr/>
        <p:txBody>
          <a:bodyPr/>
          <a:lstStyle/>
          <a:p>
            <a:fld id="{21746CD6-25CA-4852-B86F-5EC721ED47ED}" type="datetimeFigureOut">
              <a:rPr lang="en-IN" smtClean="0"/>
              <a:t>20-04-2026</a:t>
            </a:fld>
            <a:endParaRPr lang="en-IN"/>
          </a:p>
        </p:txBody>
      </p:sp>
      <p:sp>
        <p:nvSpPr>
          <p:cNvPr id="5" name="Footer Placeholder 4">
            <a:extLst>
              <a:ext uri="{FF2B5EF4-FFF2-40B4-BE49-F238E27FC236}">
                <a16:creationId xmlns:a16="http://schemas.microsoft.com/office/drawing/2014/main" id="{017AF29E-F9AB-D2EE-2710-BF2C55E54F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C5D5C5-92DF-EE34-2D17-B83D9ED8F259}"/>
              </a:ext>
            </a:extLst>
          </p:cNvPr>
          <p:cNvSpPr>
            <a:spLocks noGrp="1"/>
          </p:cNvSpPr>
          <p:nvPr>
            <p:ph type="sldNum" sz="quarter" idx="12"/>
          </p:nvPr>
        </p:nvSpPr>
        <p:spPr/>
        <p:txBody>
          <a:bodyPr/>
          <a:lstStyle/>
          <a:p>
            <a:fld id="{3F09BABB-2854-4EC2-94AD-B8D619DFF95D}" type="slidenum">
              <a:rPr lang="en-IN" smtClean="0"/>
              <a:t>‹#›</a:t>
            </a:fld>
            <a:endParaRPr lang="en-IN"/>
          </a:p>
        </p:txBody>
      </p:sp>
    </p:spTree>
    <p:extLst>
      <p:ext uri="{BB962C8B-B14F-4D97-AF65-F5344CB8AC3E}">
        <p14:creationId xmlns:p14="http://schemas.microsoft.com/office/powerpoint/2010/main" val="411470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42B4DE-070D-CF1B-9C72-E3379EB3A1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1A6FC9-8FB5-1C88-C8AE-979846D4DB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195038-27E5-A059-73B4-5EEA7D7789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746CD6-25CA-4852-B86F-5EC721ED47ED}" type="datetimeFigureOut">
              <a:rPr lang="en-IN" smtClean="0"/>
              <a:t>20-04-2026</a:t>
            </a:fld>
            <a:endParaRPr lang="en-IN"/>
          </a:p>
        </p:txBody>
      </p:sp>
      <p:sp>
        <p:nvSpPr>
          <p:cNvPr id="5" name="Footer Placeholder 4">
            <a:extLst>
              <a:ext uri="{FF2B5EF4-FFF2-40B4-BE49-F238E27FC236}">
                <a16:creationId xmlns:a16="http://schemas.microsoft.com/office/drawing/2014/main" id="{DEF17739-3358-C484-CE3F-6B96A1942E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85F9F8-ED3B-4E71-2004-232BD5C943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09BABB-2854-4EC2-94AD-B8D619DFF95D}" type="slidenum">
              <a:rPr lang="en-IN" smtClean="0"/>
              <a:t>‹#›</a:t>
            </a:fld>
            <a:endParaRPr lang="en-IN"/>
          </a:p>
        </p:txBody>
      </p:sp>
    </p:spTree>
    <p:extLst>
      <p:ext uri="{BB962C8B-B14F-4D97-AF65-F5344CB8AC3E}">
        <p14:creationId xmlns:p14="http://schemas.microsoft.com/office/powerpoint/2010/main" val="21423890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huggingface.co/datasets/ccdv/arxiv-summarization" TargetMode="External"/><Relationship Id="rId2" Type="http://schemas.openxmlformats.org/officeDocument/2006/relationships/hyperlink" Target="https://www.kaggle.com/datasets/abdellatifsassioui/rvlcdi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6412" y="2180956"/>
            <a:ext cx="10844982" cy="933258"/>
          </a:xfrm>
        </p:spPr>
        <p:txBody>
          <a:bodyPr>
            <a:noAutofit/>
          </a:bodyPr>
          <a:lstStyle/>
          <a:p>
            <a:pPr>
              <a:lnSpc>
                <a:spcPct val="100000"/>
              </a:lnSpc>
            </a:pPr>
            <a:r>
              <a:rPr lang="en-US" sz="2800" b="1" dirty="0">
                <a:latin typeface="Times New Roman" panose="02020603050405020304" pitchFamily="18" charset="0"/>
                <a:cs typeface="Times New Roman" panose="02020603050405020304" pitchFamily="18" charset="0"/>
              </a:rPr>
              <a:t>A Hybrid Document Understanding System Using Vision and Language Transformers</a:t>
            </a:r>
            <a:br>
              <a:rPr lang="en-IN" sz="2800" b="1" dirty="0">
                <a:latin typeface="Times New Roman" panose="02020603050405020304" pitchFamily="18" charset="0"/>
                <a:cs typeface="Times New Roman" panose="02020603050405020304" pitchFamily="18" charset="0"/>
              </a:rPr>
            </a:br>
            <a:endParaRPr lang="en-US" sz="28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019298" y="3869735"/>
            <a:ext cx="8153401" cy="1752600"/>
          </a:xfrm>
        </p:spPr>
        <p:txBody>
          <a:bodyPr>
            <a:normAutofit/>
          </a:bodyPr>
          <a:lstStyle/>
          <a:p>
            <a:r>
              <a:rPr lang="en-US" sz="1800" dirty="0">
                <a:latin typeface="Times New Roman" panose="02020603050405020304" pitchFamily="18" charset="0"/>
                <a:cs typeface="Times New Roman" panose="02020603050405020304" pitchFamily="18" charset="0"/>
              </a:rPr>
              <a:t>Presented by</a:t>
            </a:r>
          </a:p>
          <a:p>
            <a:r>
              <a:rPr lang="en-US" sz="1800" b="1" dirty="0">
                <a:solidFill>
                  <a:srgbClr val="7030A0"/>
                </a:solidFill>
                <a:latin typeface="Times New Roman" panose="02020603050405020304" pitchFamily="18" charset="0"/>
                <a:cs typeface="Times New Roman" panose="02020603050405020304" pitchFamily="18" charset="0"/>
              </a:rPr>
              <a:t>  Ms . Poojitha Gatta (228W1A1287)</a:t>
            </a:r>
          </a:p>
          <a:p>
            <a:r>
              <a:rPr lang="en-US" sz="1800" b="1" dirty="0">
                <a:solidFill>
                  <a:srgbClr val="7030A0"/>
                </a:solidFill>
                <a:latin typeface="Times New Roman" panose="02020603050405020304" pitchFamily="18" charset="0"/>
                <a:cs typeface="Times New Roman" panose="02020603050405020304" pitchFamily="18" charset="0"/>
              </a:rPr>
              <a:t>Mr. Jaya Naga Vardhan </a:t>
            </a:r>
            <a:r>
              <a:rPr lang="en-US" sz="1800" b="1" dirty="0" err="1">
                <a:solidFill>
                  <a:srgbClr val="7030A0"/>
                </a:solidFill>
                <a:latin typeface="Times New Roman" panose="02020603050405020304" pitchFamily="18" charset="0"/>
                <a:cs typeface="Times New Roman" panose="02020603050405020304" pitchFamily="18" charset="0"/>
              </a:rPr>
              <a:t>Lukka</a:t>
            </a:r>
            <a:r>
              <a:rPr lang="en-US" sz="1800" b="1" dirty="0">
                <a:solidFill>
                  <a:srgbClr val="7030A0"/>
                </a:solidFill>
                <a:latin typeface="Times New Roman" panose="02020603050405020304" pitchFamily="18" charset="0"/>
                <a:cs typeface="Times New Roman" panose="02020603050405020304" pitchFamily="18" charset="0"/>
              </a:rPr>
              <a:t> (228W1A12A4)</a:t>
            </a:r>
          </a:p>
          <a:p>
            <a:r>
              <a:rPr lang="en-US" sz="1800" b="1" dirty="0">
                <a:solidFill>
                  <a:srgbClr val="7030A0"/>
                </a:solidFill>
                <a:latin typeface="Times New Roman" panose="02020603050405020304" pitchFamily="18" charset="0"/>
                <a:cs typeface="Times New Roman" panose="02020603050405020304" pitchFamily="18" charset="0"/>
              </a:rPr>
              <a:t>Batch - 19</a:t>
            </a:r>
          </a:p>
          <a:p>
            <a:endParaRPr lang="en-US" sz="1800" b="1" dirty="0">
              <a:solidFill>
                <a:srgbClr val="7030A0"/>
              </a:solidFill>
              <a:latin typeface="Times New Roman" panose="02020603050405020304" pitchFamily="18" charset="0"/>
              <a:cs typeface="Times New Roman" panose="02020603050405020304" pitchFamily="18" charset="0"/>
            </a:endParaRPr>
          </a:p>
          <a:p>
            <a:endParaRPr lang="en-US" sz="1800"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128" y="371385"/>
            <a:ext cx="1600199"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descr="Image result for vrse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76871" y="183468"/>
            <a:ext cx="1068572" cy="12419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352799" y="425022"/>
            <a:ext cx="5486400" cy="758857"/>
          </a:xfrm>
          <a:prstGeom prst="rect">
            <a:avLst/>
          </a:prstGeom>
          <a:noFill/>
        </p:spPr>
        <p:txBody>
          <a:bodyPr wrap="square" lIns="19998" tIns="9999" rIns="19998" bIns="9999" rtlCol="0">
            <a:spAutoFit/>
          </a:bodyPr>
          <a:lstStyle/>
          <a:p>
            <a:pPr algn="ctr"/>
            <a:r>
              <a:rPr lang="en-IN" sz="2400" b="1" dirty="0">
                <a:solidFill>
                  <a:srgbClr val="0000FF"/>
                </a:solidFill>
                <a:latin typeface="Times New Roman" panose="02020603050405020304" pitchFamily="18" charset="0"/>
                <a:cs typeface="Times New Roman" panose="02020603050405020304" pitchFamily="18" charset="0"/>
              </a:rPr>
              <a:t>Department of Information Technology</a:t>
            </a:r>
          </a:p>
          <a:p>
            <a:pPr algn="ctr"/>
            <a:r>
              <a:rPr lang="en-IN" sz="2400" b="1" dirty="0">
                <a:solidFill>
                  <a:srgbClr val="FF0000"/>
                </a:solidFill>
                <a:latin typeface="Times New Roman" panose="02020603050405020304" pitchFamily="18" charset="0"/>
                <a:cs typeface="Times New Roman" panose="02020603050405020304" pitchFamily="18" charset="0"/>
              </a:rPr>
              <a:t>V R Siddhartha Engineering College </a:t>
            </a:r>
          </a:p>
        </p:txBody>
      </p:sp>
      <p:sp>
        <p:nvSpPr>
          <p:cNvPr id="8" name="TextBox 7"/>
          <p:cNvSpPr txBox="1"/>
          <p:nvPr/>
        </p:nvSpPr>
        <p:spPr>
          <a:xfrm>
            <a:off x="3467098" y="2964946"/>
            <a:ext cx="5257800"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B.Tech in Information Technology</a:t>
            </a:r>
          </a:p>
          <a:p>
            <a:pPr algn="ctr"/>
            <a:r>
              <a:rPr lang="en-US" sz="2000" b="1" dirty="0">
                <a:solidFill>
                  <a:srgbClr val="BF11A6"/>
                </a:solidFill>
                <a:latin typeface="Times New Roman" panose="02020603050405020304" pitchFamily="18" charset="0"/>
                <a:cs typeface="Times New Roman" panose="02020603050405020304" pitchFamily="18" charset="0"/>
              </a:rPr>
              <a:t>MAJOR Project Review Presentation</a:t>
            </a:r>
          </a:p>
        </p:txBody>
      </p:sp>
      <p:sp>
        <p:nvSpPr>
          <p:cNvPr id="4" name="Rectangle 3"/>
          <p:cNvSpPr/>
          <p:nvPr/>
        </p:nvSpPr>
        <p:spPr>
          <a:xfrm>
            <a:off x="3809999" y="5622335"/>
            <a:ext cx="4572000" cy="615553"/>
          </a:xfrm>
          <a:prstGeom prst="rect">
            <a:avLst/>
          </a:prstGeom>
        </p:spPr>
        <p:txBody>
          <a:bodyPr>
            <a:spAutoFit/>
          </a:bodyPr>
          <a:lstStyle/>
          <a:p>
            <a:pPr algn="ctr"/>
            <a:r>
              <a:rPr lang="en-US" dirty="0">
                <a:latin typeface="Times New Roman" panose="02020603050405020304" pitchFamily="18" charset="0"/>
                <a:cs typeface="Times New Roman" panose="02020603050405020304" pitchFamily="18" charset="0"/>
              </a:rPr>
              <a:t>Under the guidance of </a:t>
            </a:r>
          </a:p>
          <a:p>
            <a:pPr algn="ctr"/>
            <a:r>
              <a:rPr lang="en-US" sz="1600" b="1" dirty="0">
                <a:solidFill>
                  <a:srgbClr val="FF0000"/>
                </a:solidFill>
                <a:latin typeface="Times New Roman" panose="02020603050405020304" pitchFamily="18" charset="0"/>
                <a:cs typeface="Times New Roman" panose="02020603050405020304" pitchFamily="18" charset="0"/>
              </a:rPr>
              <a:t>Dr. M. Suneetha, Head of the Department</a:t>
            </a:r>
          </a:p>
        </p:txBody>
      </p:sp>
    </p:spTree>
    <p:extLst>
      <p:ext uri="{BB962C8B-B14F-4D97-AF65-F5344CB8AC3E}">
        <p14:creationId xmlns:p14="http://schemas.microsoft.com/office/powerpoint/2010/main" val="1813908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68A7D-DBDA-CA98-9FC9-8804A4DD7B3C}"/>
              </a:ext>
            </a:extLst>
          </p:cNvPr>
          <p:cNvSpPr>
            <a:spLocks noGrp="1"/>
          </p:cNvSpPr>
          <p:nvPr>
            <p:ph type="title"/>
          </p:nvPr>
        </p:nvSpPr>
        <p:spPr>
          <a:xfrm>
            <a:off x="838200" y="365125"/>
            <a:ext cx="10515600" cy="1001559"/>
          </a:xfrm>
        </p:spPr>
        <p:txBody>
          <a:bodyPr>
            <a:normAutofit/>
          </a:bodyPr>
          <a:lstStyle/>
          <a:p>
            <a:pPr algn="ctr"/>
            <a:r>
              <a:rPr lang="en-US" sz="2800" dirty="0">
                <a:latin typeface="Times New Roman" panose="02020603050405020304" pitchFamily="18" charset="0"/>
                <a:cs typeface="Times New Roman" panose="02020603050405020304" pitchFamily="18" charset="0"/>
              </a:rPr>
              <a:t>AGENDA</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7FBED0-3618-D319-BA15-DEAA938AA65C}"/>
              </a:ext>
            </a:extLst>
          </p:cNvPr>
          <p:cNvSpPr>
            <a:spLocks noGrp="1"/>
          </p:cNvSpPr>
          <p:nvPr>
            <p:ph idx="1"/>
          </p:nvPr>
        </p:nvSpPr>
        <p:spPr>
          <a:xfrm>
            <a:off x="838200" y="1081548"/>
            <a:ext cx="10515600" cy="5095415"/>
          </a:xfrm>
        </p:spPr>
        <p:txBody>
          <a:bodyPr>
            <a:normAutofit fontScale="70000" lnSpcReduction="20000"/>
          </a:bodyPr>
          <a:lstStyle/>
          <a:p>
            <a:pPr marL="342900" indent="-342900">
              <a:lnSpc>
                <a:spcPct val="150000"/>
              </a:lnSpc>
            </a:pPr>
            <a:r>
              <a:rPr lang="en-US" sz="2400" dirty="0">
                <a:latin typeface="Times New Roman" panose="02020603050405020304" pitchFamily="18" charset="0"/>
                <a:cs typeface="Times New Roman" panose="02020603050405020304" pitchFamily="18" charset="0"/>
              </a:rPr>
              <a:t>Introduction and Problem Statement</a:t>
            </a:r>
          </a:p>
          <a:p>
            <a:pPr marL="342900" indent="-342900">
              <a:lnSpc>
                <a:spcPct val="150000"/>
              </a:lnSpc>
            </a:pPr>
            <a:r>
              <a:rPr lang="en-US" sz="2400" dirty="0">
                <a:latin typeface="Times New Roman" panose="02020603050405020304" pitchFamily="18" charset="0"/>
                <a:cs typeface="Times New Roman" panose="02020603050405020304" pitchFamily="18" charset="0"/>
              </a:rPr>
              <a:t>Objectives and Outcomes of the Project</a:t>
            </a:r>
          </a:p>
          <a:p>
            <a:pPr marL="342900" indent="-342900">
              <a:lnSpc>
                <a:spcPct val="150000"/>
              </a:lnSpc>
            </a:pPr>
            <a:r>
              <a:rPr lang="en-US" sz="2400" dirty="0">
                <a:latin typeface="Times New Roman" panose="02020603050405020304" pitchFamily="18" charset="0"/>
                <a:cs typeface="Times New Roman" panose="02020603050405020304" pitchFamily="18" charset="0"/>
              </a:rPr>
              <a:t>Literature Survey and Summary</a:t>
            </a:r>
          </a:p>
          <a:p>
            <a:pPr marL="342900" indent="-342900">
              <a:lnSpc>
                <a:spcPct val="150000"/>
              </a:lnSpc>
            </a:pPr>
            <a:r>
              <a:rPr lang="en-US" sz="2400" dirty="0">
                <a:latin typeface="Times New Roman" panose="02020603050405020304" pitchFamily="18" charset="0"/>
                <a:cs typeface="Times New Roman" panose="02020603050405020304" pitchFamily="18" charset="0"/>
              </a:rPr>
              <a:t>Datasets and Requirements specifications</a:t>
            </a:r>
          </a:p>
          <a:p>
            <a:pPr marL="342900" indent="-342900">
              <a:lnSpc>
                <a:spcPct val="150000"/>
              </a:lnSpc>
            </a:pPr>
            <a:r>
              <a:rPr lang="en-US" sz="2400" dirty="0">
                <a:latin typeface="Times New Roman" panose="02020603050405020304" pitchFamily="18" charset="0"/>
                <a:cs typeface="Times New Roman" panose="02020603050405020304" pitchFamily="18" charset="0"/>
              </a:rPr>
              <a:t>Algorithms used in the Project</a:t>
            </a:r>
          </a:p>
          <a:p>
            <a:pPr marL="342900" indent="-342900">
              <a:lnSpc>
                <a:spcPct val="150000"/>
              </a:lnSpc>
            </a:pPr>
            <a:r>
              <a:rPr lang="en-US" sz="2400" dirty="0">
                <a:latin typeface="Times New Roman" panose="02020603050405020304" pitchFamily="18" charset="0"/>
                <a:cs typeface="Times New Roman" panose="02020603050405020304" pitchFamily="18" charset="0"/>
              </a:rPr>
              <a:t>Architecture diagram</a:t>
            </a:r>
          </a:p>
          <a:p>
            <a:pPr marL="342900" indent="-342900">
              <a:lnSpc>
                <a:spcPct val="150000"/>
              </a:lnSpc>
            </a:pPr>
            <a:r>
              <a:rPr lang="en-US" sz="2400" dirty="0">
                <a:latin typeface="Times New Roman" panose="02020603050405020304" pitchFamily="18" charset="0"/>
                <a:cs typeface="Times New Roman" panose="02020603050405020304" pitchFamily="18" charset="0"/>
              </a:rPr>
              <a:t>Implementation steps and Execution </a:t>
            </a:r>
          </a:p>
          <a:p>
            <a:pPr marL="342900" indent="-342900">
              <a:lnSpc>
                <a:spcPct val="150000"/>
              </a:lnSpc>
            </a:pPr>
            <a:r>
              <a:rPr lang="en-US" sz="2400" dirty="0">
                <a:latin typeface="Times New Roman" panose="02020603050405020304" pitchFamily="18" charset="0"/>
                <a:cs typeface="Times New Roman" panose="02020603050405020304" pitchFamily="18" charset="0"/>
              </a:rPr>
              <a:t>Results obtained</a:t>
            </a:r>
          </a:p>
          <a:p>
            <a:pPr marL="342900" indent="-342900">
              <a:lnSpc>
                <a:spcPct val="150000"/>
              </a:lnSpc>
            </a:pPr>
            <a:r>
              <a:rPr lang="en-US" sz="2400" dirty="0">
                <a:latin typeface="Times New Roman" panose="02020603050405020304" pitchFamily="18" charset="0"/>
                <a:cs typeface="Times New Roman" panose="02020603050405020304" pitchFamily="18" charset="0"/>
              </a:rPr>
              <a:t>Results Analysis </a:t>
            </a:r>
          </a:p>
          <a:p>
            <a:pPr marL="342900" indent="-342900">
              <a:lnSpc>
                <a:spcPct val="150000"/>
              </a:lnSpc>
            </a:pPr>
            <a:r>
              <a:rPr lang="en-US" sz="2400" dirty="0">
                <a:latin typeface="Times New Roman" panose="02020603050405020304" pitchFamily="18" charset="0"/>
                <a:cs typeface="Times New Roman" panose="02020603050405020304" pitchFamily="18" charset="0"/>
              </a:rPr>
              <a:t>Conclusion &amp;Future Work</a:t>
            </a:r>
          </a:p>
          <a:p>
            <a:pPr marL="342900" indent="-342900">
              <a:lnSpc>
                <a:spcPct val="150000"/>
              </a:lnSpc>
            </a:pPr>
            <a:r>
              <a:rPr lang="en-US" sz="2400" dirty="0">
                <a:latin typeface="Times New Roman" panose="02020603050405020304" pitchFamily="18" charset="0"/>
                <a:cs typeface="Times New Roman" panose="02020603050405020304" pitchFamily="18" charset="0"/>
              </a:rPr>
              <a:t>References</a:t>
            </a:r>
          </a:p>
          <a:p>
            <a:pPr>
              <a:lnSpc>
                <a:spcPct val="150000"/>
              </a:lnSpc>
            </a:pPr>
            <a:endParaRPr lang="en-US" sz="2400" dirty="0"/>
          </a:p>
        </p:txBody>
      </p:sp>
    </p:spTree>
    <p:extLst>
      <p:ext uri="{BB962C8B-B14F-4D97-AF65-F5344CB8AC3E}">
        <p14:creationId xmlns:p14="http://schemas.microsoft.com/office/powerpoint/2010/main" val="272944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7AB0-C641-B9FF-37E4-986CC8AF352E}"/>
              </a:ext>
            </a:extLst>
          </p:cNvPr>
          <p:cNvSpPr>
            <a:spLocks noGrp="1"/>
          </p:cNvSpPr>
          <p:nvPr>
            <p:ph type="title"/>
          </p:nvPr>
        </p:nvSpPr>
        <p:spPr>
          <a:xfrm>
            <a:off x="838200" y="365126"/>
            <a:ext cx="10515600" cy="883572"/>
          </a:xfrm>
        </p:spPr>
        <p:txBody>
          <a:bodyPr>
            <a:normAutofit/>
          </a:bodyPr>
          <a:lstStyle/>
          <a:p>
            <a:pPr algn="ctr"/>
            <a:r>
              <a:rPr lang="en-IN" sz="2400" b="1" dirty="0">
                <a:latin typeface="Times New Roman" panose="02020603050405020304" pitchFamily="18" charset="0"/>
                <a:cs typeface="Times New Roman" panose="02020603050405020304" pitchFamily="18" charset="0"/>
              </a:rPr>
              <a:t>INTRODUCTION</a:t>
            </a:r>
            <a:endParaRPr lang="en-IN" sz="2400" dirty="0"/>
          </a:p>
        </p:txBody>
      </p:sp>
      <p:sp>
        <p:nvSpPr>
          <p:cNvPr id="3" name="Content Placeholder 2">
            <a:extLst>
              <a:ext uri="{FF2B5EF4-FFF2-40B4-BE49-F238E27FC236}">
                <a16:creationId xmlns:a16="http://schemas.microsoft.com/office/drawing/2014/main" id="{60B8F934-2682-EB07-89AF-AD7B71B82E89}"/>
              </a:ext>
            </a:extLst>
          </p:cNvPr>
          <p:cNvSpPr>
            <a:spLocks noGrp="1"/>
          </p:cNvSpPr>
          <p:nvPr>
            <p:ph idx="1"/>
          </p:nvPr>
        </p:nvSpPr>
        <p:spPr>
          <a:xfrm>
            <a:off x="838200" y="1248698"/>
            <a:ext cx="10515600" cy="4928265"/>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 The rapid growth of multi-page digital documents has made manual document processing inefficient and time-consuming, creating the need for automated systems capable of intelligent document understanding.</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 Traditional approaches fail to handle complex layouts, cross-page dependencies, and interleaved image-text content, resulting in loss of structural and contextual information.</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 To overcome these challenges, our system integrates a Vision Transformer (</a:t>
            </a:r>
            <a:r>
              <a:rPr lang="en-US" sz="1600" dirty="0" err="1">
                <a:latin typeface="Times New Roman" panose="02020603050405020304" pitchFamily="18" charset="0"/>
                <a:cs typeface="Times New Roman" panose="02020603050405020304" pitchFamily="18" charset="0"/>
              </a:rPr>
              <a:t>DiT</a:t>
            </a:r>
            <a:r>
              <a:rPr lang="en-US" sz="1600" dirty="0">
                <a:latin typeface="Times New Roman" panose="02020603050405020304" pitchFamily="18" charset="0"/>
                <a:cs typeface="Times New Roman" panose="02020603050405020304" pitchFamily="18" charset="0"/>
              </a:rPr>
              <a:t>) for layout-aware feature extraction and FAISS-based semantic retrieval to improve document classification accuracy and efficiency.</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 For long-document summarization, we employ long-context language models (LED/BART) along with optimization strategies to maintain coherence, preserve key information, and handle large contextual dependencies effectively.</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440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B1720-4A32-051A-51C5-5EAE1C990D7A}"/>
              </a:ext>
            </a:extLst>
          </p:cNvPr>
          <p:cNvSpPr>
            <a:spLocks noGrp="1"/>
          </p:cNvSpPr>
          <p:nvPr>
            <p:ph type="title"/>
          </p:nvPr>
        </p:nvSpPr>
        <p:spPr>
          <a:xfrm>
            <a:off x="838200" y="98323"/>
            <a:ext cx="10515600" cy="854075"/>
          </a:xfrm>
        </p:spPr>
        <p:txBody>
          <a:bodyPr>
            <a:normAutofit/>
          </a:bodyPr>
          <a:lstStyle/>
          <a:p>
            <a:pPr algn="ctr"/>
            <a:r>
              <a:rPr lang="en-IN" sz="24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55D03FB-DAE1-7836-533C-CEEEF138AB0E}"/>
              </a:ext>
            </a:extLst>
          </p:cNvPr>
          <p:cNvSpPr>
            <a:spLocks noGrp="1"/>
          </p:cNvSpPr>
          <p:nvPr>
            <p:ph idx="1"/>
          </p:nvPr>
        </p:nvSpPr>
        <p:spPr>
          <a:xfrm>
            <a:off x="838200" y="1031927"/>
            <a:ext cx="10665541" cy="4486275"/>
          </a:xfrm>
        </p:spPr>
        <p:txBody>
          <a:bodyPr>
            <a:no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exponential growth of digital documents across industries has created challenges in organizing, retrieving, and understanding information efficiently. Manual processing is slow, and not feasible at scale.</a:t>
            </a:r>
          </a:p>
          <a:p>
            <a:pPr algn="just">
              <a:lnSpc>
                <a:spcPct val="150000"/>
              </a:lnSpc>
            </a:pPr>
            <a:r>
              <a:rPr lang="en-US" sz="1600" dirty="0">
                <a:latin typeface="Times New Roman" panose="02020603050405020304" pitchFamily="18" charset="0"/>
                <a:cs typeface="Times New Roman" panose="02020603050405020304" pitchFamily="18" charset="0"/>
              </a:rPr>
              <a:t>Many existing approaches rely only on textual features and ignore layout and visual structure, which reduces accuracy when dealing with complex document formats.</a:t>
            </a:r>
          </a:p>
          <a:p>
            <a:pPr algn="just">
              <a:lnSpc>
                <a:spcPct val="150000"/>
              </a:lnSpc>
            </a:pPr>
            <a:r>
              <a:rPr lang="en-US" sz="1600" dirty="0">
                <a:latin typeface="Times New Roman" panose="02020603050405020304" pitchFamily="18" charset="0"/>
                <a:cs typeface="Times New Roman" panose="02020603050405020304" pitchFamily="18" charset="0"/>
              </a:rPr>
              <a:t>Long-form documents contain complex structures and context spread across multiple sections, making it difficult for conventional models to generate coherent and information-rich summaries.</a:t>
            </a:r>
          </a:p>
          <a:p>
            <a:pPr algn="just">
              <a:lnSpc>
                <a:spcPct val="150000"/>
              </a:lnSpc>
            </a:pPr>
            <a:r>
              <a:rPr lang="en-US" sz="1600" dirty="0">
                <a:latin typeface="Times New Roman" panose="02020603050405020304" pitchFamily="18" charset="0"/>
                <a:cs typeface="Times New Roman" panose="02020603050405020304" pitchFamily="18" charset="0"/>
              </a:rPr>
              <a:t>To generate accurate summaries, we identify the most important and non-redundant information from long documents by analyzing relationships between different sections and ensuring that the final summary reflects the overall consensus of the document content.</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8896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E570DCF-0028-E01E-0E56-73DC6CE52E65}"/>
              </a:ext>
            </a:extLst>
          </p:cNvPr>
          <p:cNvSpPr>
            <a:spLocks noGrp="1"/>
          </p:cNvSpPr>
          <p:nvPr>
            <p:ph type="title"/>
          </p:nvPr>
        </p:nvSpPr>
        <p:spPr>
          <a:xfrm>
            <a:off x="838200" y="154348"/>
            <a:ext cx="10515600" cy="824531"/>
          </a:xfrm>
        </p:spPr>
        <p:txBody>
          <a:bodyPr>
            <a:normAutofit/>
          </a:bodyPr>
          <a:lstStyle/>
          <a:p>
            <a:r>
              <a:rPr lang="en-IN" sz="2000" b="1" dirty="0">
                <a:latin typeface="Times New Roman" panose="02020603050405020304" pitchFamily="18" charset="0"/>
                <a:cs typeface="Times New Roman" panose="02020603050405020304" pitchFamily="18" charset="0"/>
              </a:rPr>
              <a:t>OBJECTIVES</a:t>
            </a:r>
          </a:p>
        </p:txBody>
      </p:sp>
      <p:sp>
        <p:nvSpPr>
          <p:cNvPr id="10" name="Content Placeholder 9">
            <a:extLst>
              <a:ext uri="{FF2B5EF4-FFF2-40B4-BE49-F238E27FC236}">
                <a16:creationId xmlns:a16="http://schemas.microsoft.com/office/drawing/2014/main" id="{27A0B6AF-634E-2885-35D4-36BF7A8DC8CA}"/>
              </a:ext>
            </a:extLst>
          </p:cNvPr>
          <p:cNvSpPr>
            <a:spLocks noGrp="1"/>
          </p:cNvSpPr>
          <p:nvPr>
            <p:ph idx="1"/>
          </p:nvPr>
        </p:nvSpPr>
        <p:spPr>
          <a:xfrm>
            <a:off x="914400" y="968249"/>
            <a:ext cx="10264877" cy="1946444"/>
          </a:xfrm>
        </p:spPr>
        <p:txBody>
          <a:bodyPr>
            <a:noAutofit/>
          </a:bodyPr>
          <a:lstStyle/>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To build a system that can correctly classify different types of documents by understanding their visual layout and content.</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To create a summarization model that can read long documents and pick the most important information to generate a short and clear summary.</a:t>
            </a:r>
          </a:p>
        </p:txBody>
      </p:sp>
      <p:sp>
        <p:nvSpPr>
          <p:cNvPr id="2" name="Content Placeholder 9">
            <a:extLst>
              <a:ext uri="{FF2B5EF4-FFF2-40B4-BE49-F238E27FC236}">
                <a16:creationId xmlns:a16="http://schemas.microsoft.com/office/drawing/2014/main" id="{1CA98D6D-DC5E-95A6-0C27-54A06F6F091D}"/>
              </a:ext>
            </a:extLst>
          </p:cNvPr>
          <p:cNvSpPr txBox="1">
            <a:spLocks/>
          </p:cNvSpPr>
          <p:nvPr/>
        </p:nvSpPr>
        <p:spPr>
          <a:xfrm>
            <a:off x="1092200" y="6385223"/>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50000"/>
              </a:lnSpc>
              <a:buFont typeface="+mj-lt"/>
              <a:buAutoNum type="arabicPeriod"/>
            </a:pPr>
            <a:endParaRPr lang="en-IN" sz="1800" dirty="0">
              <a:latin typeface="Times New Roman" panose="02020603050405020304" pitchFamily="18" charset="0"/>
              <a:cs typeface="Times New Roman" panose="02020603050405020304" pitchFamily="18" charset="0"/>
            </a:endParaRPr>
          </a:p>
        </p:txBody>
      </p:sp>
      <p:sp>
        <p:nvSpPr>
          <p:cNvPr id="3" name="Title 7">
            <a:extLst>
              <a:ext uri="{FF2B5EF4-FFF2-40B4-BE49-F238E27FC236}">
                <a16:creationId xmlns:a16="http://schemas.microsoft.com/office/drawing/2014/main" id="{53FD90B9-544F-BC60-4CD4-1CD216A2B6D3}"/>
              </a:ext>
            </a:extLst>
          </p:cNvPr>
          <p:cNvSpPr txBox="1">
            <a:spLocks/>
          </p:cNvSpPr>
          <p:nvPr/>
        </p:nvSpPr>
        <p:spPr>
          <a:xfrm>
            <a:off x="834307" y="2810920"/>
            <a:ext cx="10515600" cy="9908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000" b="1" dirty="0">
                <a:latin typeface="Times New Roman" panose="02020603050405020304" pitchFamily="18" charset="0"/>
                <a:cs typeface="Times New Roman" panose="02020603050405020304" pitchFamily="18" charset="0"/>
              </a:rPr>
              <a:t>OUTCOMES</a:t>
            </a:r>
          </a:p>
        </p:txBody>
      </p:sp>
      <p:sp>
        <p:nvSpPr>
          <p:cNvPr id="4" name="Content Placeholder 10">
            <a:extLst>
              <a:ext uri="{FF2B5EF4-FFF2-40B4-BE49-F238E27FC236}">
                <a16:creationId xmlns:a16="http://schemas.microsoft.com/office/drawing/2014/main" id="{8F95640E-02CE-1DE5-32D1-60914D5EB607}"/>
              </a:ext>
            </a:extLst>
          </p:cNvPr>
          <p:cNvSpPr txBox="1">
            <a:spLocks/>
          </p:cNvSpPr>
          <p:nvPr/>
        </p:nvSpPr>
        <p:spPr>
          <a:xfrm>
            <a:off x="914399" y="3728594"/>
            <a:ext cx="10443293" cy="24797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A document classification system that can accurately predict the document type, even for complex layouts.</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A summarization system that produces short, meaningful, and non-redundant summaries from long documents.</a:t>
            </a:r>
          </a:p>
          <a:p>
            <a:pPr marL="800100" lvl="1" indent="-342900" algn="just" eaLnBrk="0" fontAlgn="base" hangingPunct="0">
              <a:lnSpc>
                <a:spcPct val="150000"/>
              </a:lnSpc>
              <a:spcBef>
                <a:spcPct val="0"/>
              </a:spcBef>
              <a:spcAft>
                <a:spcPct val="0"/>
              </a:spcAft>
              <a:buFont typeface="+mj-lt"/>
              <a:buAutoNum type="arabicPeriod"/>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186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48CA-E2BC-9E92-6649-1AA3C1423174}"/>
              </a:ext>
            </a:extLst>
          </p:cNvPr>
          <p:cNvSpPr>
            <a:spLocks noGrp="1"/>
          </p:cNvSpPr>
          <p:nvPr>
            <p:ph type="title"/>
          </p:nvPr>
        </p:nvSpPr>
        <p:spPr>
          <a:xfrm>
            <a:off x="3185650" y="78657"/>
            <a:ext cx="5820695" cy="568940"/>
          </a:xfrm>
        </p:spPr>
        <p:txBody>
          <a:bodyPr>
            <a:normAutofit/>
          </a:bodyPr>
          <a:lstStyle/>
          <a:p>
            <a:pPr algn="ctr"/>
            <a:r>
              <a:rPr lang="en-US" sz="2400" b="1" dirty="0">
                <a:latin typeface="Times New Roman" panose="02020603050405020304" pitchFamily="18" charset="0"/>
                <a:cs typeface="Times New Roman" panose="02020603050405020304" pitchFamily="18" charset="0"/>
              </a:rPr>
              <a:t>LITERATURE REVIEW</a:t>
            </a:r>
            <a:endParaRPr lang="en-IN" sz="24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CB96C90-79AE-CB9D-6678-8F984372F3FA}"/>
              </a:ext>
            </a:extLst>
          </p:cNvPr>
          <p:cNvGraphicFramePr>
            <a:graphicFrameLocks noGrp="1"/>
          </p:cNvGraphicFramePr>
          <p:nvPr>
            <p:extLst>
              <p:ext uri="{D42A27DB-BD31-4B8C-83A1-F6EECF244321}">
                <p14:modId xmlns:p14="http://schemas.microsoft.com/office/powerpoint/2010/main" val="1585003437"/>
              </p:ext>
            </p:extLst>
          </p:nvPr>
        </p:nvGraphicFramePr>
        <p:xfrm>
          <a:off x="176978" y="572199"/>
          <a:ext cx="11838038" cy="5822028"/>
        </p:xfrm>
        <a:graphic>
          <a:graphicData uri="http://schemas.openxmlformats.org/drawingml/2006/table">
            <a:tbl>
              <a:tblPr firstRow="1" bandRow="1">
                <a:tableStyleId>{5C22544A-7EE6-4342-B048-85BDC9FD1C3A}</a:tableStyleId>
              </a:tblPr>
              <a:tblGrid>
                <a:gridCol w="2104106">
                  <a:extLst>
                    <a:ext uri="{9D8B030D-6E8A-4147-A177-3AD203B41FA5}">
                      <a16:colId xmlns:a16="http://schemas.microsoft.com/office/drawing/2014/main" val="170278110"/>
                    </a:ext>
                  </a:extLst>
                </a:gridCol>
                <a:gridCol w="2654707">
                  <a:extLst>
                    <a:ext uri="{9D8B030D-6E8A-4147-A177-3AD203B41FA5}">
                      <a16:colId xmlns:a16="http://schemas.microsoft.com/office/drawing/2014/main" val="4242753251"/>
                    </a:ext>
                  </a:extLst>
                </a:gridCol>
                <a:gridCol w="1504338">
                  <a:extLst>
                    <a:ext uri="{9D8B030D-6E8A-4147-A177-3AD203B41FA5}">
                      <a16:colId xmlns:a16="http://schemas.microsoft.com/office/drawing/2014/main" val="4046381350"/>
                    </a:ext>
                  </a:extLst>
                </a:gridCol>
                <a:gridCol w="1376514">
                  <a:extLst>
                    <a:ext uri="{9D8B030D-6E8A-4147-A177-3AD203B41FA5}">
                      <a16:colId xmlns:a16="http://schemas.microsoft.com/office/drawing/2014/main" val="3575263854"/>
                    </a:ext>
                  </a:extLst>
                </a:gridCol>
                <a:gridCol w="2328683">
                  <a:extLst>
                    <a:ext uri="{9D8B030D-6E8A-4147-A177-3AD203B41FA5}">
                      <a16:colId xmlns:a16="http://schemas.microsoft.com/office/drawing/2014/main" val="1473965973"/>
                    </a:ext>
                  </a:extLst>
                </a:gridCol>
                <a:gridCol w="1869690">
                  <a:extLst>
                    <a:ext uri="{9D8B030D-6E8A-4147-A177-3AD203B41FA5}">
                      <a16:colId xmlns:a16="http://schemas.microsoft.com/office/drawing/2014/main" val="1049858605"/>
                    </a:ext>
                  </a:extLst>
                </a:gridCol>
              </a:tblGrid>
              <a:tr h="1516213">
                <a:tc>
                  <a:txBody>
                    <a:bodyPr/>
                    <a:lstStyle/>
                    <a:p>
                      <a:pPr algn="ctr">
                        <a:buNone/>
                      </a:pPr>
                      <a:r>
                        <a:rPr lang="en-IN" sz="1600" b="1">
                          <a:latin typeface="Times New Roman" panose="02020603050405020304" pitchFamily="18" charset="0"/>
                          <a:cs typeface="Times New Roman" panose="02020603050405020304" pitchFamily="18" charset="0"/>
                        </a:rPr>
                        <a:t>Publication Details</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latin typeface="Times New Roman" panose="02020603050405020304" pitchFamily="18" charset="0"/>
                          <a:cs typeface="Times New Roman" panose="02020603050405020304" pitchFamily="18" charset="0"/>
                        </a:rPr>
                        <a:t>Description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a:latin typeface="Times New Roman" panose="02020603050405020304" pitchFamily="18" charset="0"/>
                          <a:cs typeface="Times New Roman" panose="02020603050405020304" pitchFamily="18" charset="0"/>
                        </a:rPr>
                        <a:t>Models Used</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latin typeface="Times New Roman" panose="02020603050405020304" pitchFamily="18" charset="0"/>
                          <a:cs typeface="Times New Roman" panose="02020603050405020304" pitchFamily="18" charset="0"/>
                        </a:rPr>
                        <a:t>Dataset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a:latin typeface="Times New Roman" panose="02020603050405020304" pitchFamily="18" charset="0"/>
                          <a:cs typeface="Times New Roman" panose="02020603050405020304" pitchFamily="18" charset="0"/>
                        </a:rPr>
                        <a:t>Result</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a:latin typeface="Times New Roman" panose="02020603050405020304" pitchFamily="18" charset="0"/>
                          <a:cs typeface="Times New Roman" panose="02020603050405020304" pitchFamily="18" charset="0"/>
                        </a:rPr>
                        <a:t>Limitation</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14383283"/>
                  </a:ext>
                </a:extLst>
              </a:tr>
              <a:tr h="1922239">
                <a:tc>
                  <a:txBody>
                    <a:bodyPr/>
                    <a:lstStyle/>
                    <a:p>
                      <a:pPr algn="ctr">
                        <a:buNone/>
                      </a:pP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2026 </a:t>
                      </a:r>
                    </a:p>
                    <a:p>
                      <a:pPr algn="ctr">
                        <a:buNone/>
                      </a:pPr>
                      <a:r>
                        <a:rPr lang="en-US" sz="1600" b="1" dirty="0">
                          <a:latin typeface="Times New Roman" panose="02020603050405020304" pitchFamily="18" charset="0"/>
                          <a:cs typeface="Times New Roman" panose="02020603050405020304" pitchFamily="18" charset="0"/>
                        </a:rPr>
                        <a:t>Title:</a:t>
                      </a:r>
                      <a:r>
                        <a:rPr lang="en-US" sz="1600" dirty="0">
                          <a:latin typeface="Times New Roman" panose="02020603050405020304" pitchFamily="18" charset="0"/>
                          <a:cs typeface="Times New Roman" panose="02020603050405020304" pitchFamily="18" charset="0"/>
                        </a:rPr>
                        <a:t> Coordinate Matrix Machine: A Human-level Concept Learning to Classify Very Similar Documents</a:t>
                      </a:r>
                    </a:p>
                  </a:txBody>
                  <a:tcPr anchor="ctr"/>
                </a:tc>
                <a:tc>
                  <a:txBody>
                    <a:bodyPr/>
                    <a:lstStyle/>
                    <a:p>
                      <a:pPr algn="ctr">
                        <a:buNone/>
                      </a:pPr>
                      <a:r>
                        <a:rPr lang="en-US" sz="1600" dirty="0">
                          <a:latin typeface="Times New Roman" panose="02020603050405020304" pitchFamily="18" charset="0"/>
                          <a:cs typeface="Times New Roman" panose="02020603050405020304" pitchFamily="18" charset="0"/>
                        </a:rPr>
                        <a:t>Proposes a structure-aware document classification model that uses spatial coordinates of keywords instead of only text. </a:t>
                      </a:r>
                    </a:p>
                  </a:txBody>
                  <a:tcPr anchor="ctr"/>
                </a:tc>
                <a:tc>
                  <a:txBody>
                    <a:bodyPr/>
                    <a:lstStyle/>
                    <a:p>
                      <a:pPr algn="ctr">
                        <a:buNone/>
                      </a:pPr>
                      <a:r>
                        <a:rPr lang="en-IN" sz="1600" dirty="0">
                          <a:latin typeface="Times New Roman" panose="02020603050405020304" pitchFamily="18" charset="0"/>
                          <a:cs typeface="Times New Roman" panose="02020603050405020304" pitchFamily="18" charset="0"/>
                        </a:rPr>
                        <a:t>Coordinate Matrix Machine (CM2), Manhattan Distance-based similarity</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475 bank statements from 5 banks, 53 templates</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Achieves up to 100% accuracy with optimal maximum penalty; outperforms CNN, LSTM, SVM, and traditional vectorizers.</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Focused mainly on structured documents; may not generalize to highly unstructured text documents.</a:t>
                      </a:r>
                    </a:p>
                  </a:txBody>
                  <a:tcPr anchor="ctr"/>
                </a:tc>
                <a:extLst>
                  <a:ext uri="{0D108BD9-81ED-4DB2-BD59-A6C34878D82A}">
                    <a16:rowId xmlns:a16="http://schemas.microsoft.com/office/drawing/2014/main" val="4143172702"/>
                  </a:ext>
                </a:extLst>
              </a:tr>
              <a:tr h="2383576">
                <a:tc>
                  <a:txBody>
                    <a:bodyPr/>
                    <a:lstStyle/>
                    <a:p>
                      <a:pPr algn="ctr">
                        <a:buNone/>
                      </a:pP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2025 </a:t>
                      </a:r>
                    </a:p>
                    <a:p>
                      <a:pPr algn="ctr">
                        <a:buNone/>
                      </a:pPr>
                      <a:r>
                        <a:rPr lang="en-US" sz="1600" b="1" dirty="0">
                          <a:latin typeface="Times New Roman" panose="02020603050405020304" pitchFamily="18" charset="0"/>
                          <a:cs typeface="Times New Roman" panose="02020603050405020304" pitchFamily="18" charset="0"/>
                        </a:rPr>
                        <a:t>Title:</a:t>
                      </a:r>
                      <a:r>
                        <a:rPr lang="en-US" sz="1600" dirty="0">
                          <a:latin typeface="Times New Roman" panose="02020603050405020304" pitchFamily="18" charset="0"/>
                          <a:cs typeface="Times New Roman" panose="02020603050405020304" pitchFamily="18" charset="0"/>
                        </a:rPr>
                        <a:t> M-</a:t>
                      </a:r>
                      <a:r>
                        <a:rPr lang="en-US" sz="1600" dirty="0" err="1">
                          <a:latin typeface="Times New Roman" panose="02020603050405020304" pitchFamily="18" charset="0"/>
                          <a:cs typeface="Times New Roman" panose="02020603050405020304" pitchFamily="18" charset="0"/>
                        </a:rPr>
                        <a:t>DocSum</a:t>
                      </a:r>
                      <a:r>
                        <a:rPr lang="en-US" sz="1600" dirty="0">
                          <a:latin typeface="Times New Roman" panose="02020603050405020304" pitchFamily="18" charset="0"/>
                          <a:cs typeface="Times New Roman" panose="02020603050405020304" pitchFamily="18" charset="0"/>
                        </a:rPr>
                        <a:t>: Do LVLMs Genuinely Comprehend Interleaved Image-Text in Document Summarization?</a:t>
                      </a:r>
                    </a:p>
                  </a:txBody>
                  <a:tcPr anchor="ctr"/>
                </a:tc>
                <a:tc>
                  <a:txBody>
                    <a:bodyPr/>
                    <a:lstStyle/>
                    <a:p>
                      <a:pPr algn="ctr">
                        <a:buNone/>
                      </a:pPr>
                      <a:r>
                        <a:rPr lang="en-US" sz="1600" dirty="0">
                          <a:latin typeface="Times New Roman" panose="02020603050405020304" pitchFamily="18" charset="0"/>
                          <a:cs typeface="Times New Roman" panose="02020603050405020304" pitchFamily="18" charset="0"/>
                        </a:rPr>
                        <a:t>Introduces a multimodal benchmark for long-document summarization with interleaved image-text reasoning. </a:t>
                      </a:r>
                    </a:p>
                  </a:txBody>
                  <a:tcPr anchor="ctr"/>
                </a:tc>
                <a:tc>
                  <a:txBody>
                    <a:bodyPr/>
                    <a:lstStyle/>
                    <a:p>
                      <a:pPr algn="ctr">
                        <a:buNone/>
                      </a:pPr>
                      <a:r>
                        <a:rPr lang="en-IN" sz="1600">
                          <a:latin typeface="Times New Roman" panose="02020603050405020304" pitchFamily="18" charset="0"/>
                          <a:cs typeface="Times New Roman" panose="02020603050405020304" pitchFamily="18" charset="0"/>
                        </a:rPr>
                        <a:t>GPT-4o, Gemini Pro, Claude-3.5-Sonnet, Qwen2.5-VL, M-DocSum-7B</a:t>
                      </a:r>
                    </a:p>
                  </a:txBody>
                  <a:tcPr anchor="ctr"/>
                </a:tc>
                <a:tc>
                  <a:txBody>
                    <a:bodyPr/>
                    <a:lstStyle/>
                    <a:p>
                      <a:pPr algn="ctr">
                        <a:buNone/>
                      </a:pPr>
                      <a:r>
                        <a:rPr lang="en-IN" sz="1600">
                          <a:latin typeface="Times New Roman" panose="02020603050405020304" pitchFamily="18" charset="0"/>
                          <a:cs typeface="Times New Roman" panose="02020603050405020304" pitchFamily="18" charset="0"/>
                        </a:rPr>
                        <a:t>M-DocSum-Bench (500 arXiv multimodal papers)</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M-DocSum-7B achieves strong summarization performance compared to other open-source models.</a:t>
                      </a:r>
                    </a:p>
                  </a:txBody>
                  <a:tcPr anchor="ctr"/>
                </a:tc>
                <a:tc>
                  <a:txBody>
                    <a:bodyPr/>
                    <a:lstStyle/>
                    <a:p>
                      <a:pPr algn="ctr">
                        <a:buNone/>
                      </a:pPr>
                      <a:r>
                        <a:rPr lang="en-US" sz="1600" dirty="0">
                          <a:latin typeface="Times New Roman" panose="02020603050405020304" pitchFamily="18" charset="0"/>
                          <a:cs typeface="Times New Roman" panose="02020603050405020304" pitchFamily="18" charset="0"/>
                        </a:rPr>
                        <a:t>Focuses on multimodal summarization; does not address document classification.</a:t>
                      </a:r>
                    </a:p>
                  </a:txBody>
                  <a:tcPr anchor="ctr"/>
                </a:tc>
                <a:extLst>
                  <a:ext uri="{0D108BD9-81ED-4DB2-BD59-A6C34878D82A}">
                    <a16:rowId xmlns:a16="http://schemas.microsoft.com/office/drawing/2014/main" val="3901034737"/>
                  </a:ext>
                </a:extLst>
              </a:tr>
            </a:tbl>
          </a:graphicData>
        </a:graphic>
      </p:graphicFrame>
    </p:spTree>
    <p:extLst>
      <p:ext uri="{BB962C8B-B14F-4D97-AF65-F5344CB8AC3E}">
        <p14:creationId xmlns:p14="http://schemas.microsoft.com/office/powerpoint/2010/main" val="159056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1E1EB-4A72-59A1-FDF8-8AA5B81F3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07182-31D2-B3A5-BC45-8F37686C1684}"/>
              </a:ext>
            </a:extLst>
          </p:cNvPr>
          <p:cNvSpPr>
            <a:spLocks noGrp="1"/>
          </p:cNvSpPr>
          <p:nvPr>
            <p:ph type="title"/>
          </p:nvPr>
        </p:nvSpPr>
        <p:spPr>
          <a:xfrm>
            <a:off x="4257367" y="0"/>
            <a:ext cx="4709653" cy="568940"/>
          </a:xfrm>
        </p:spPr>
        <p:txBody>
          <a:bodyPr>
            <a:normAutofit/>
          </a:bodyPr>
          <a:lstStyle/>
          <a:p>
            <a:r>
              <a:rPr lang="en-US" sz="2400" b="1" dirty="0">
                <a:latin typeface="Times New Roman" panose="02020603050405020304" pitchFamily="18" charset="0"/>
                <a:cs typeface="Times New Roman" panose="02020603050405020304" pitchFamily="18" charset="0"/>
              </a:rPr>
              <a:t>LITERATURE REVIEW</a:t>
            </a:r>
            <a:endParaRPr lang="en-IN" sz="24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545022B-4E1C-F129-C421-84CBF26B204E}"/>
              </a:ext>
            </a:extLst>
          </p:cNvPr>
          <p:cNvGraphicFramePr>
            <a:graphicFrameLocks noGrp="1"/>
          </p:cNvGraphicFramePr>
          <p:nvPr>
            <p:extLst>
              <p:ext uri="{D42A27DB-BD31-4B8C-83A1-F6EECF244321}">
                <p14:modId xmlns:p14="http://schemas.microsoft.com/office/powerpoint/2010/main" val="440140247"/>
              </p:ext>
            </p:extLst>
          </p:nvPr>
        </p:nvGraphicFramePr>
        <p:xfrm>
          <a:off x="176981" y="557777"/>
          <a:ext cx="11838038" cy="5963246"/>
        </p:xfrm>
        <a:graphic>
          <a:graphicData uri="http://schemas.openxmlformats.org/drawingml/2006/table">
            <a:tbl>
              <a:tblPr firstRow="1" bandRow="1">
                <a:tableStyleId>{5C22544A-7EE6-4342-B048-85BDC9FD1C3A}</a:tableStyleId>
              </a:tblPr>
              <a:tblGrid>
                <a:gridCol w="1929680">
                  <a:extLst>
                    <a:ext uri="{9D8B030D-6E8A-4147-A177-3AD203B41FA5}">
                      <a16:colId xmlns:a16="http://schemas.microsoft.com/office/drawing/2014/main" val="170278110"/>
                    </a:ext>
                  </a:extLst>
                </a:gridCol>
                <a:gridCol w="2160539">
                  <a:extLst>
                    <a:ext uri="{9D8B030D-6E8A-4147-A177-3AD203B41FA5}">
                      <a16:colId xmlns:a16="http://schemas.microsoft.com/office/drawing/2014/main" val="4242753251"/>
                    </a:ext>
                  </a:extLst>
                </a:gridCol>
                <a:gridCol w="1799303">
                  <a:extLst>
                    <a:ext uri="{9D8B030D-6E8A-4147-A177-3AD203B41FA5}">
                      <a16:colId xmlns:a16="http://schemas.microsoft.com/office/drawing/2014/main" val="4046381350"/>
                    </a:ext>
                  </a:extLst>
                </a:gridCol>
                <a:gridCol w="1641987">
                  <a:extLst>
                    <a:ext uri="{9D8B030D-6E8A-4147-A177-3AD203B41FA5}">
                      <a16:colId xmlns:a16="http://schemas.microsoft.com/office/drawing/2014/main" val="3575263854"/>
                    </a:ext>
                  </a:extLst>
                </a:gridCol>
                <a:gridCol w="2045111">
                  <a:extLst>
                    <a:ext uri="{9D8B030D-6E8A-4147-A177-3AD203B41FA5}">
                      <a16:colId xmlns:a16="http://schemas.microsoft.com/office/drawing/2014/main" val="1473965973"/>
                    </a:ext>
                  </a:extLst>
                </a:gridCol>
                <a:gridCol w="2261418">
                  <a:extLst>
                    <a:ext uri="{9D8B030D-6E8A-4147-A177-3AD203B41FA5}">
                      <a16:colId xmlns:a16="http://schemas.microsoft.com/office/drawing/2014/main" val="1049858605"/>
                    </a:ext>
                  </a:extLst>
                </a:gridCol>
              </a:tblGrid>
              <a:tr h="1516213">
                <a:tc>
                  <a:txBody>
                    <a:bodyPr/>
                    <a:lstStyle/>
                    <a:p>
                      <a:pPr algn="ctr">
                        <a:buNone/>
                      </a:pPr>
                      <a:r>
                        <a:rPr lang="en-IN" sz="1600" b="1">
                          <a:latin typeface="Times New Roman" panose="02020603050405020304" pitchFamily="18" charset="0"/>
                          <a:cs typeface="Times New Roman" panose="02020603050405020304" pitchFamily="18" charset="0"/>
                        </a:rPr>
                        <a:t>Publication Details</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latin typeface="Times New Roman" panose="02020603050405020304" pitchFamily="18" charset="0"/>
                          <a:cs typeface="Times New Roman" panose="02020603050405020304" pitchFamily="18" charset="0"/>
                        </a:rPr>
                        <a:t>Description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a:latin typeface="Times New Roman" panose="02020603050405020304" pitchFamily="18" charset="0"/>
                          <a:cs typeface="Times New Roman" panose="02020603050405020304" pitchFamily="18" charset="0"/>
                        </a:rPr>
                        <a:t>Models Used</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a:latin typeface="Times New Roman" panose="02020603050405020304" pitchFamily="18" charset="0"/>
                          <a:cs typeface="Times New Roman" panose="02020603050405020304" pitchFamily="18" charset="0"/>
                        </a:rPr>
                        <a:t>Dataset</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a:latin typeface="Times New Roman" panose="02020603050405020304" pitchFamily="18" charset="0"/>
                          <a:cs typeface="Times New Roman" panose="02020603050405020304" pitchFamily="18" charset="0"/>
                        </a:rPr>
                        <a:t>Result</a:t>
                      </a:r>
                      <a:endParaRPr lang="en-IN" sz="16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latin typeface="Times New Roman" panose="02020603050405020304" pitchFamily="18" charset="0"/>
                          <a:cs typeface="Times New Roman" panose="02020603050405020304" pitchFamily="18" charset="0"/>
                        </a:rPr>
                        <a:t>Limitation</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14383283"/>
                  </a:ext>
                </a:extLst>
              </a:tr>
              <a:tr h="2063457">
                <a:tc>
                  <a:txBody>
                    <a:bodyPr/>
                    <a:lstStyle/>
                    <a:p>
                      <a:pPr algn="ctr">
                        <a:buNone/>
                      </a:pP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2025 </a:t>
                      </a:r>
                    </a:p>
                    <a:p>
                      <a:pPr algn="ctr">
                        <a:buNone/>
                      </a:pPr>
                      <a:r>
                        <a:rPr lang="en-US" sz="1600" b="1" dirty="0">
                          <a:latin typeface="Times New Roman" panose="02020603050405020304" pitchFamily="18" charset="0"/>
                          <a:cs typeface="Times New Roman" panose="02020603050405020304" pitchFamily="18" charset="0"/>
                        </a:rPr>
                        <a:t>Title:</a:t>
                      </a:r>
                      <a:r>
                        <a:rPr lang="en-US" sz="1600" dirty="0">
                          <a:latin typeface="Times New Roman" panose="02020603050405020304" pitchFamily="18" charset="0"/>
                          <a:cs typeface="Times New Roman" panose="02020603050405020304" pitchFamily="18" charset="0"/>
                        </a:rPr>
                        <a:t> DocRefine: An Intelligent Framework for Scientific Document Understanding and Content Optimization</a:t>
                      </a:r>
                    </a:p>
                  </a:txBody>
                  <a:tcPr anchor="ctr"/>
                </a:tc>
                <a:tc>
                  <a:txBody>
                    <a:bodyPr/>
                    <a:lstStyle/>
                    <a:p>
                      <a:pPr algn="ctr">
                        <a:buNone/>
                      </a:pPr>
                      <a:r>
                        <a:rPr lang="en-US" sz="1600" dirty="0">
                          <a:latin typeface="Times New Roman" panose="02020603050405020304" pitchFamily="18" charset="0"/>
                          <a:cs typeface="Times New Roman" panose="02020603050405020304" pitchFamily="18" charset="0"/>
                        </a:rPr>
                        <a:t>Proposes a multi-agent LVLM framework for PDF understanding, content refinement, and automated summarization.</a:t>
                      </a:r>
                    </a:p>
                  </a:txBody>
                  <a:tcPr anchor="ctr"/>
                </a:tc>
                <a:tc>
                  <a:txBody>
                    <a:bodyPr/>
                    <a:lstStyle/>
                    <a:p>
                      <a:pPr algn="ctr">
                        <a:buNone/>
                      </a:pPr>
                      <a:r>
                        <a:rPr lang="en-IN" sz="1600">
                          <a:latin typeface="Times New Roman" panose="02020603050405020304" pitchFamily="18" charset="0"/>
                          <a:cs typeface="Times New Roman" panose="02020603050405020304" pitchFamily="18" charset="0"/>
                        </a:rPr>
                        <a:t>GPT-4o (LVLM-based multi-agent system)</a:t>
                      </a:r>
                    </a:p>
                  </a:txBody>
                  <a:tcPr anchor="ctr"/>
                </a:tc>
                <a:tc>
                  <a:txBody>
                    <a:bodyPr/>
                    <a:lstStyle/>
                    <a:p>
                      <a:pPr algn="ctr">
                        <a:buNone/>
                      </a:pPr>
                      <a:r>
                        <a:rPr lang="en-IN" sz="1600">
                          <a:latin typeface="Times New Roman" panose="02020603050405020304" pitchFamily="18" charset="0"/>
                          <a:cs typeface="Times New Roman" panose="02020603050405020304" pitchFamily="18" charset="0"/>
                        </a:rPr>
                        <a:t>DocEditBench</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Achieves 86.7% Semantic Consistency, 93.9% Layout Fidelity, 85.0% Instruction Adherence.</a:t>
                      </a:r>
                    </a:p>
                  </a:txBody>
                  <a:tcPr anchor="ctr"/>
                </a:tc>
                <a:tc>
                  <a:txBody>
                    <a:bodyPr/>
                    <a:lstStyle/>
                    <a:p>
                      <a:pPr algn="ctr">
                        <a:buNone/>
                      </a:pPr>
                      <a:r>
                        <a:rPr lang="en-US" sz="1600" dirty="0">
                          <a:latin typeface="Times New Roman" panose="02020603050405020304" pitchFamily="18" charset="0"/>
                          <a:cs typeface="Times New Roman" panose="02020603050405020304" pitchFamily="18" charset="0"/>
                        </a:rPr>
                        <a:t>Focuses on document editing and refinement rather than classification.</a:t>
                      </a:r>
                    </a:p>
                  </a:txBody>
                  <a:tcPr anchor="ctr"/>
                </a:tc>
                <a:extLst>
                  <a:ext uri="{0D108BD9-81ED-4DB2-BD59-A6C34878D82A}">
                    <a16:rowId xmlns:a16="http://schemas.microsoft.com/office/drawing/2014/main" val="4143172702"/>
                  </a:ext>
                </a:extLst>
              </a:tr>
              <a:tr h="2383576">
                <a:tc>
                  <a:txBody>
                    <a:bodyPr/>
                    <a:lstStyle/>
                    <a:p>
                      <a:pPr algn="ctr">
                        <a:buNone/>
                      </a:pP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2025 </a:t>
                      </a:r>
                    </a:p>
                    <a:p>
                      <a:pPr algn="ctr">
                        <a:buNone/>
                      </a:pPr>
                      <a:r>
                        <a:rPr lang="en-US" sz="1600" b="1" dirty="0">
                          <a:latin typeface="Times New Roman" panose="02020603050405020304" pitchFamily="18" charset="0"/>
                          <a:cs typeface="Times New Roman" panose="02020603050405020304" pitchFamily="18" charset="0"/>
                        </a:rPr>
                        <a:t>Title:</a:t>
                      </a:r>
                      <a:r>
                        <a:rPr lang="en-US" sz="1600" dirty="0">
                          <a:latin typeface="Times New Roman" panose="02020603050405020304" pitchFamily="18" charset="0"/>
                          <a:cs typeface="Times New Roman" panose="02020603050405020304" pitchFamily="18" charset="0"/>
                        </a:rPr>
                        <a:t> DocETL: Agentic Query Rewriting and Evaluation for Complex Document Processing</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Introduces an LLM-based pipeline for structured document processing using agent-based query optimization.</a:t>
                      </a:r>
                    </a:p>
                  </a:txBody>
                  <a:tcPr anchor="ctr"/>
                </a:tc>
                <a:tc>
                  <a:txBody>
                    <a:bodyPr/>
                    <a:lstStyle/>
                    <a:p>
                      <a:pPr algn="ctr">
                        <a:buNone/>
                      </a:pPr>
                      <a:r>
                        <a:rPr lang="en-IN" sz="1600">
                          <a:latin typeface="Times New Roman" panose="02020603050405020304" pitchFamily="18" charset="0"/>
                          <a:cs typeface="Times New Roman" panose="02020603050405020304" pitchFamily="18" charset="0"/>
                        </a:rPr>
                        <a:t>LLM-driven agent framework</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Police Records Dataset, Legal Contract Dataset</a:t>
                      </a:r>
                    </a:p>
                  </a:txBody>
                  <a:tcPr anchor="ctr"/>
                </a:tc>
                <a:tc>
                  <a:txBody>
                    <a:bodyPr/>
                    <a:lstStyle/>
                    <a:p>
                      <a:pPr algn="ctr">
                        <a:buNone/>
                      </a:pPr>
                      <a:r>
                        <a:rPr lang="en-US" sz="1600">
                          <a:latin typeface="Times New Roman" panose="02020603050405020304" pitchFamily="18" charset="0"/>
                          <a:cs typeface="Times New Roman" panose="02020603050405020304" pitchFamily="18" charset="0"/>
                        </a:rPr>
                        <a:t>Shows improved accuracy via pipeline optimization and structured rewriting.</a:t>
                      </a:r>
                    </a:p>
                  </a:txBody>
                  <a:tcPr anchor="ctr"/>
                </a:tc>
                <a:tc>
                  <a:txBody>
                    <a:bodyPr/>
                    <a:lstStyle/>
                    <a:p>
                      <a:pPr algn="ctr">
                        <a:buNone/>
                      </a:pPr>
                      <a:r>
                        <a:rPr lang="en-US" sz="1600" dirty="0">
                          <a:latin typeface="Times New Roman" panose="02020603050405020304" pitchFamily="18" charset="0"/>
                          <a:cs typeface="Times New Roman" panose="02020603050405020304" pitchFamily="18" charset="0"/>
                        </a:rPr>
                        <a:t>Focused on query rewriting and structured processing, not summarization or classification.</a:t>
                      </a:r>
                    </a:p>
                  </a:txBody>
                  <a:tcPr anchor="ctr"/>
                </a:tc>
                <a:extLst>
                  <a:ext uri="{0D108BD9-81ED-4DB2-BD59-A6C34878D82A}">
                    <a16:rowId xmlns:a16="http://schemas.microsoft.com/office/drawing/2014/main" val="3901034737"/>
                  </a:ext>
                </a:extLst>
              </a:tr>
            </a:tbl>
          </a:graphicData>
        </a:graphic>
      </p:graphicFrame>
    </p:spTree>
    <p:extLst>
      <p:ext uri="{BB962C8B-B14F-4D97-AF65-F5344CB8AC3E}">
        <p14:creationId xmlns:p14="http://schemas.microsoft.com/office/powerpoint/2010/main" val="536992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DCB66-3859-39A9-8941-318DCB54F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F11C9-DA20-7605-FA62-E5E464AA6C10}"/>
              </a:ext>
            </a:extLst>
          </p:cNvPr>
          <p:cNvSpPr>
            <a:spLocks noGrp="1"/>
          </p:cNvSpPr>
          <p:nvPr>
            <p:ph type="title"/>
          </p:nvPr>
        </p:nvSpPr>
        <p:spPr>
          <a:xfrm>
            <a:off x="4041058" y="560439"/>
            <a:ext cx="4709653" cy="568940"/>
          </a:xfrm>
        </p:spPr>
        <p:txBody>
          <a:bodyPr>
            <a:normAutofit/>
          </a:bodyPr>
          <a:lstStyle/>
          <a:p>
            <a:r>
              <a:rPr lang="en-US" sz="2400" b="1" dirty="0">
                <a:latin typeface="Times New Roman" panose="02020603050405020304" pitchFamily="18" charset="0"/>
                <a:cs typeface="Times New Roman" panose="02020603050405020304" pitchFamily="18" charset="0"/>
              </a:rPr>
              <a:t>LITERATURE REVIEW</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953C880-463B-1BA6-33AD-6A8E01DBBAD1}"/>
              </a:ext>
            </a:extLst>
          </p:cNvPr>
          <p:cNvSpPr txBox="1"/>
          <p:nvPr/>
        </p:nvSpPr>
        <p:spPr>
          <a:xfrm>
            <a:off x="825909" y="1307799"/>
            <a:ext cx="10559845" cy="4439933"/>
          </a:xfrm>
          <a:prstGeom prst="rect">
            <a:avLst/>
          </a:prstGeom>
          <a:noFill/>
        </p:spPr>
        <p:txBody>
          <a:bodyPr wrap="square">
            <a:spAutoFit/>
          </a:bodyPr>
          <a:lstStyle/>
          <a:p>
            <a:pPr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Recent research (2025–2026) highlights the growing use of LLMs and LVLMs in document understanding, with multi-agent and multimodal frameworks improving automation and reasoning. </a:t>
            </a:r>
          </a:p>
          <a:p>
            <a:pPr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Approaches are evolving from text-only methods to incorporating structure and layout, as well as interleaved image-text information for better processing of complex documents. </a:t>
            </a:r>
          </a:p>
          <a:p>
            <a:pPr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Significant performance gains are observed, including high semantic consistency, layout fidelity, and even near-perfect accuracy in structured document classification tasks. </a:t>
            </a:r>
          </a:p>
          <a:p>
            <a:pPr algn="just">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However, most methods remain task-specific, focusing on areas like summarization, query rewriting, or structured classification, with limited ability to generalize across all document types.</a:t>
            </a:r>
          </a:p>
        </p:txBody>
      </p:sp>
    </p:spTree>
    <p:extLst>
      <p:ext uri="{BB962C8B-B14F-4D97-AF65-F5344CB8AC3E}">
        <p14:creationId xmlns:p14="http://schemas.microsoft.com/office/powerpoint/2010/main" val="3328964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CAC99-DEAF-28C3-2F2A-5C29134AD4F5}"/>
              </a:ext>
            </a:extLst>
          </p:cNvPr>
          <p:cNvSpPr>
            <a:spLocks noGrp="1"/>
          </p:cNvSpPr>
          <p:nvPr>
            <p:ph type="title"/>
          </p:nvPr>
        </p:nvSpPr>
        <p:spPr>
          <a:xfrm>
            <a:off x="838200" y="365126"/>
            <a:ext cx="10515600" cy="686926"/>
          </a:xfrm>
        </p:spPr>
        <p:txBody>
          <a:bodyPr>
            <a:noAutofit/>
          </a:bodyPr>
          <a:lstStyle/>
          <a:p>
            <a:pPr algn="ctr"/>
            <a:r>
              <a:rPr lang="en-US" sz="2400" b="1" dirty="0">
                <a:latin typeface="Times New Roman" panose="02020603050405020304" pitchFamily="18" charset="0"/>
                <a:cs typeface="Times New Roman" panose="02020603050405020304" pitchFamily="18" charset="0"/>
              </a:rPr>
              <a:t>DATASETS</a:t>
            </a:r>
            <a:br>
              <a:rPr lang="en-US" sz="2400" b="1" dirty="0">
                <a:latin typeface="Times New Roman" panose="02020603050405020304" pitchFamily="18" charset="0"/>
                <a:cs typeface="Times New Roman" panose="02020603050405020304" pitchFamily="18" charset="0"/>
              </a:rPr>
            </a:br>
            <a:endParaRPr lang="en-IN" sz="2400" dirty="0"/>
          </a:p>
        </p:txBody>
      </p:sp>
      <p:sp>
        <p:nvSpPr>
          <p:cNvPr id="3" name="Content Placeholder 2">
            <a:extLst>
              <a:ext uri="{FF2B5EF4-FFF2-40B4-BE49-F238E27FC236}">
                <a16:creationId xmlns:a16="http://schemas.microsoft.com/office/drawing/2014/main" id="{70BC6884-6B83-C7DB-9973-0A8BA50A5145}"/>
              </a:ext>
            </a:extLst>
          </p:cNvPr>
          <p:cNvSpPr>
            <a:spLocks noGrp="1"/>
          </p:cNvSpPr>
          <p:nvPr>
            <p:ph idx="1"/>
          </p:nvPr>
        </p:nvSpPr>
        <p:spPr>
          <a:xfrm>
            <a:off x="838200" y="806244"/>
            <a:ext cx="10515600" cy="5686629"/>
          </a:xfrm>
        </p:spPr>
        <p:txBody>
          <a:bodyPr>
            <a:normAutofit/>
          </a:bodyPr>
          <a:lstStyle/>
          <a:p>
            <a:pPr marL="0" indent="0" algn="just">
              <a:lnSpc>
                <a:spcPct val="150000"/>
              </a:lnSpc>
              <a:buNone/>
            </a:pPr>
            <a:r>
              <a:rPr lang="en-IN" sz="1600" b="1" dirty="0">
                <a:latin typeface="Times New Roman" panose="02020603050405020304" pitchFamily="18" charset="0"/>
                <a:cs typeface="Times New Roman" panose="02020603050405020304" pitchFamily="18" charset="0"/>
              </a:rPr>
              <a:t>Document Classification – </a:t>
            </a:r>
            <a:r>
              <a:rPr lang="en-IN" sz="1600" dirty="0">
                <a:latin typeface="Times New Roman" panose="02020603050405020304" pitchFamily="18" charset="0"/>
                <a:cs typeface="Times New Roman" panose="02020603050405020304" pitchFamily="18" charset="0"/>
              </a:rPr>
              <a:t>RVL-CDIP dataset</a:t>
            </a:r>
          </a:p>
          <a:p>
            <a:pPr marL="0" indent="0" algn="just">
              <a:lnSpc>
                <a:spcPct val="150000"/>
              </a:lnSpc>
              <a:buNone/>
            </a:pPr>
            <a:r>
              <a:rPr lang="en-IN" sz="1600" dirty="0">
                <a:latin typeface="Times New Roman" panose="02020603050405020304" pitchFamily="18" charset="0"/>
                <a:cs typeface="Times New Roman" panose="02020603050405020304" pitchFamily="18" charset="0"/>
                <a:hlinkClick r:id="rId2"/>
              </a:rPr>
              <a:t>https://www.kaggle.com/datasets/abdellatifsassioui/rvlcdip</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Total samples used: 2997 document images (nearly 600 images for each class)</a:t>
            </a:r>
          </a:p>
          <a:p>
            <a:pPr>
              <a:lnSpc>
                <a:spcPct val="150000"/>
              </a:lnSpc>
            </a:pPr>
            <a:r>
              <a:rPr lang="en-IN" sz="1600" dirty="0">
                <a:latin typeface="Times New Roman" panose="02020603050405020304" pitchFamily="18" charset="0"/>
                <a:cs typeface="Times New Roman" panose="02020603050405020304" pitchFamily="18" charset="0"/>
              </a:rPr>
              <a:t>Total Labels: 5 document types</a:t>
            </a:r>
          </a:p>
          <a:p>
            <a:pPr>
              <a:lnSpc>
                <a:spcPct val="150000"/>
              </a:lnSpc>
            </a:pPr>
            <a:r>
              <a:rPr lang="en-IN" sz="1600" dirty="0">
                <a:latin typeface="Times New Roman" panose="02020603050405020304" pitchFamily="18" charset="0"/>
                <a:cs typeface="Times New Roman" panose="02020603050405020304" pitchFamily="18" charset="0"/>
              </a:rPr>
              <a:t>Labels: Advertisement, Invoice, Scientific Publication, News Article, Resume</a:t>
            </a:r>
          </a:p>
          <a:p>
            <a:pPr marL="0" indent="0">
              <a:lnSpc>
                <a:spcPct val="150000"/>
              </a:lnSpc>
              <a:buNone/>
            </a:pPr>
            <a:r>
              <a:rPr lang="en-IN" sz="1600" b="1" dirty="0">
                <a:latin typeface="Times New Roman" panose="02020603050405020304" pitchFamily="18" charset="0"/>
                <a:cs typeface="Times New Roman" panose="02020603050405020304" pitchFamily="18" charset="0"/>
              </a:rPr>
              <a:t>Document Summarisation </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-summarization</a:t>
            </a:r>
          </a:p>
          <a:p>
            <a:pPr marL="0" indent="0" algn="just">
              <a:lnSpc>
                <a:spcPct val="150000"/>
              </a:lnSpc>
              <a:buNone/>
            </a:pPr>
            <a:r>
              <a:rPr lang="en-IN" sz="1600" dirty="0">
                <a:latin typeface="Times New Roman" panose="02020603050405020304" pitchFamily="18" charset="0"/>
                <a:cs typeface="Times New Roman" panose="02020603050405020304" pitchFamily="18" charset="0"/>
                <a:hlinkClick r:id="rId3"/>
              </a:rPr>
              <a:t>https://huggingface.co/datasets/ccdv/arxiv-summarization</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It contains research papers collected from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a:t>
            </a:r>
          </a:p>
          <a:p>
            <a:pPr>
              <a:lnSpc>
                <a:spcPct val="150000"/>
              </a:lnSpc>
            </a:pPr>
            <a:r>
              <a:rPr lang="en-US" sz="1600" dirty="0">
                <a:latin typeface="Times New Roman" panose="02020603050405020304" pitchFamily="18" charset="0"/>
                <a:cs typeface="Times New Roman" panose="02020603050405020304" pitchFamily="18" charset="0"/>
              </a:rPr>
              <a:t>Each sample includes two parts:</a:t>
            </a:r>
          </a:p>
          <a:p>
            <a:pPr lvl="1">
              <a:lnSpc>
                <a:spcPct val="150000"/>
              </a:lnSpc>
            </a:pPr>
            <a:r>
              <a:rPr lang="en-US" sz="1600" dirty="0">
                <a:latin typeface="Times New Roman" panose="02020603050405020304" pitchFamily="18" charset="0"/>
                <a:cs typeface="Times New Roman" panose="02020603050405020304" pitchFamily="18" charset="0"/>
              </a:rPr>
              <a:t>Article  – containing multiple sections and detailed explanations.</a:t>
            </a:r>
          </a:p>
          <a:p>
            <a:pPr lvl="1">
              <a:lnSpc>
                <a:spcPct val="150000"/>
              </a:lnSpc>
            </a:pPr>
            <a:r>
              <a:rPr lang="en-US" sz="1600" dirty="0">
                <a:latin typeface="Times New Roman" panose="02020603050405020304" pitchFamily="18" charset="0"/>
                <a:cs typeface="Times New Roman" panose="02020603050405020304" pitchFamily="18" charset="0"/>
              </a:rPr>
              <a:t>Abstract – a concise summary representing the key ideas of the document.</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186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7DC4B-6956-0541-EA5E-28AD65793913}"/>
              </a:ext>
            </a:extLst>
          </p:cNvPr>
          <p:cNvSpPr>
            <a:spLocks noGrp="1"/>
          </p:cNvSpPr>
          <p:nvPr>
            <p:ph type="title"/>
          </p:nvPr>
        </p:nvSpPr>
        <p:spPr>
          <a:xfrm>
            <a:off x="749710" y="0"/>
            <a:ext cx="10515600" cy="922901"/>
          </a:xfrm>
        </p:spPr>
        <p:txBody>
          <a:bodyPr>
            <a:normAutofit/>
          </a:bodyPr>
          <a:lstStyle/>
          <a:p>
            <a:pPr algn="ctr"/>
            <a:r>
              <a:rPr lang="en-US" sz="2400" b="1" dirty="0">
                <a:latin typeface="Times New Roman" panose="02020603050405020304" pitchFamily="18" charset="0"/>
                <a:cs typeface="Times New Roman" panose="02020603050405020304" pitchFamily="18" charset="0"/>
              </a:rPr>
              <a:t>ARCHITECTURE DIAGRAM</a:t>
            </a:r>
            <a:endParaRPr lang="en-IN" sz="2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0DEB89B-4576-BB1D-E55B-601D015B52E6}"/>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585283" y="1042654"/>
            <a:ext cx="9021434" cy="4772691"/>
          </a:xfrm>
          <a:prstGeom prst="rect">
            <a:avLst/>
          </a:prstGeom>
        </p:spPr>
      </p:pic>
    </p:spTree>
    <p:extLst>
      <p:ext uri="{BB962C8B-B14F-4D97-AF65-F5344CB8AC3E}">
        <p14:creationId xmlns:p14="http://schemas.microsoft.com/office/powerpoint/2010/main" val="714933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35717-906B-95FE-6794-47EDCC10469C}"/>
              </a:ext>
            </a:extLst>
          </p:cNvPr>
          <p:cNvSpPr>
            <a:spLocks noGrp="1"/>
          </p:cNvSpPr>
          <p:nvPr>
            <p:ph type="title"/>
          </p:nvPr>
        </p:nvSpPr>
        <p:spPr>
          <a:xfrm>
            <a:off x="838200" y="168394"/>
            <a:ext cx="10515600" cy="736088"/>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ALGORITHM - </a:t>
            </a:r>
            <a:r>
              <a:rPr lang="en-US" altLang="en-US" sz="2400" dirty="0">
                <a:latin typeface="Times New Roman" panose="02020603050405020304" pitchFamily="18" charset="0"/>
                <a:cs typeface="Times New Roman" panose="02020603050405020304" pitchFamily="18" charset="0"/>
              </a:rPr>
              <a:t>llama-3.3-70b-verstaile</a:t>
            </a:r>
            <a:br>
              <a:rPr lang="en-US" altLang="en-US" sz="2400"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7B00F110-93B7-CAC7-1E07-2414FBD9B004}"/>
              </a:ext>
            </a:extLst>
          </p:cNvPr>
          <p:cNvSpPr>
            <a:spLocks noGrp="1" noChangeArrowheads="1"/>
          </p:cNvSpPr>
          <p:nvPr>
            <p:ph idx="1"/>
          </p:nvPr>
        </p:nvSpPr>
        <p:spPr bwMode="auto">
          <a:xfrm>
            <a:off x="486695" y="447947"/>
            <a:ext cx="11046543" cy="6563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llama-3.3-70b-verstaile</a:t>
            </a:r>
          </a:p>
          <a:p>
            <a:pPr marL="0" lvl="0" indent="0" algn="just" eaLnBrk="0" fontAlgn="base" hangingPunct="0">
              <a:lnSpc>
                <a:spcPct val="150000"/>
              </a:lnSpc>
              <a:spcBef>
                <a:spcPct val="0"/>
              </a:spcBef>
              <a:spcAft>
                <a:spcPct val="0"/>
              </a:spcAft>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source code file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a:t>
            </a:r>
            <a:r>
              <a:rPr lang="en-US" sz="1800" dirty="0">
                <a:latin typeface="Times New Roman" panose="02020603050405020304" pitchFamily="18" charset="0"/>
                <a:cs typeface="Times New Roman" panose="02020603050405020304" pitchFamily="18" charset="0"/>
              </a:rPr>
              <a:t>Corrected code + Debugging Report + Test Cases.</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lang="en-US" sz="1800" b="1" dirty="0">
                <a:latin typeface="Times New Roman" panose="02020603050405020304" pitchFamily="18" charset="0"/>
                <a:cs typeface="Times New Roman" panose="02020603050405020304" pitchFamily="18" charset="0"/>
              </a:rPr>
              <a:t>Step 1: Prompt Construction (</a:t>
            </a:r>
            <a:r>
              <a:rPr lang="en-US" sz="1800" b="1" dirty="0" err="1">
                <a:latin typeface="Times New Roman" panose="02020603050405020304" pitchFamily="18" charset="0"/>
                <a:cs typeface="Times New Roman" panose="02020603050405020304" pitchFamily="18" charset="0"/>
              </a:rPr>
              <a:t>LangChain</a:t>
            </a:r>
            <a:r>
              <a:rPr lang="en-US" sz="1800" b="1"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a:lnSpc>
                <a:spcPct val="100000"/>
              </a:lnSpc>
            </a:pPr>
            <a:r>
              <a:rPr lang="en-US" sz="1800" dirty="0">
                <a:latin typeface="Times New Roman" panose="02020603050405020304" pitchFamily="18" charset="0"/>
                <a:cs typeface="Times New Roman" panose="02020603050405020304" pitchFamily="18" charset="0"/>
              </a:rPr>
              <a:t>The given code snippet is inserted into predefined prompt templates.</a:t>
            </a:r>
          </a:p>
          <a:p>
            <a:pPr>
              <a:lnSpc>
                <a:spcPct val="100000"/>
              </a:lnSpc>
            </a:pPr>
            <a:r>
              <a:rPr lang="en-US" sz="1800" dirty="0">
                <a:latin typeface="Times New Roman" panose="02020603050405020304" pitchFamily="18" charset="0"/>
                <a:cs typeface="Times New Roman" panose="02020603050405020304" pitchFamily="18" charset="0"/>
              </a:rPr>
              <a:t>Example template:</a:t>
            </a:r>
          </a:p>
          <a:p>
            <a:pPr marL="457200" lvl="1" indent="0">
              <a:lnSpc>
                <a:spcPct val="100000"/>
              </a:lnSpc>
              <a:buNone/>
            </a:pPr>
            <a:r>
              <a:rPr lang="en-US" sz="1800" dirty="0">
                <a:latin typeface="Times New Roman" panose="02020603050405020304" pitchFamily="18" charset="0"/>
                <a:cs typeface="Times New Roman" panose="02020603050405020304" pitchFamily="18" charset="0"/>
              </a:rPr>
              <a:t>You are an expert software developer with experience in C, C++, Python, and Java. Identify bugs in the given code and explain them.</a:t>
            </a:r>
          </a:p>
          <a:p>
            <a:pPr>
              <a:lnSpc>
                <a:spcPct val="100000"/>
              </a:lnSpc>
            </a:pPr>
            <a:r>
              <a:rPr lang="en-US" sz="1800" dirty="0">
                <a:latin typeface="Times New Roman" panose="02020603050405020304" pitchFamily="18" charset="0"/>
                <a:cs typeface="Times New Roman" panose="02020603050405020304" pitchFamily="18" charset="0"/>
              </a:rPr>
              <a:t>Prompts guide the LLM (LLaMA-3.3-70B) to focus on specific debugging tasks instead of producing random text.</a:t>
            </a:r>
          </a:p>
          <a:p>
            <a:pPr marL="0" indent="0">
              <a:lnSpc>
                <a:spcPct val="100000"/>
              </a:lnSpc>
              <a:buNone/>
            </a:pPr>
            <a:r>
              <a:rPr lang="en-US" sz="1800" b="1" dirty="0">
                <a:latin typeface="Times New Roman" panose="02020603050405020304" pitchFamily="18" charset="0"/>
                <a:cs typeface="Times New Roman" panose="02020603050405020304" pitchFamily="18" charset="0"/>
              </a:rPr>
              <a:t>Step 2: Tokenization (Input Preparation)</a:t>
            </a:r>
            <a:endParaRPr lang="en-US" sz="1800" dirty="0">
              <a:latin typeface="Times New Roman" panose="02020603050405020304" pitchFamily="18" charset="0"/>
              <a:cs typeface="Times New Roman" panose="02020603050405020304" pitchFamily="18" charset="0"/>
            </a:endParaRPr>
          </a:p>
          <a:p>
            <a:pPr>
              <a:lnSpc>
                <a:spcPct val="100000"/>
              </a:lnSpc>
            </a:pPr>
            <a:r>
              <a:rPr lang="en-US" sz="1800" dirty="0" err="1">
                <a:latin typeface="Times New Roman" panose="02020603050405020304" pitchFamily="18" charset="0"/>
                <a:cs typeface="Times New Roman" panose="02020603050405020304" pitchFamily="18" charset="0"/>
              </a:rPr>
              <a:t>LangChain</a:t>
            </a:r>
            <a:r>
              <a:rPr lang="en-US" sz="1800" dirty="0">
                <a:latin typeface="Times New Roman" panose="02020603050405020304" pitchFamily="18" charset="0"/>
                <a:cs typeface="Times New Roman" panose="02020603050405020304" pitchFamily="18" charset="0"/>
              </a:rPr>
              <a:t> passes the constructed prompt to the </a:t>
            </a:r>
            <a:r>
              <a:rPr lang="en-US" sz="1800" dirty="0" err="1">
                <a:latin typeface="Times New Roman" panose="02020603050405020304" pitchFamily="18" charset="0"/>
                <a:cs typeface="Times New Roman" panose="02020603050405020304" pitchFamily="18" charset="0"/>
              </a:rPr>
              <a:t>LLaMA</a:t>
            </a:r>
            <a:r>
              <a:rPr lang="en-US" sz="1800" dirty="0">
                <a:latin typeface="Times New Roman" panose="02020603050405020304" pitchFamily="18" charset="0"/>
                <a:cs typeface="Times New Roman" panose="02020603050405020304" pitchFamily="18" charset="0"/>
              </a:rPr>
              <a:t> tokenizer.</a:t>
            </a:r>
          </a:p>
          <a:p>
            <a:pPr>
              <a:lnSpc>
                <a:spcPct val="100000"/>
              </a:lnSpc>
            </a:pPr>
            <a:r>
              <a:rPr lang="en-US" sz="1800" dirty="0">
                <a:latin typeface="Times New Roman" panose="02020603050405020304" pitchFamily="18" charset="0"/>
                <a:cs typeface="Times New Roman" panose="02020603050405020304" pitchFamily="18" charset="0"/>
              </a:rPr>
              <a:t>The tokenizer converts text into tokens (numerical IDs).</a:t>
            </a:r>
          </a:p>
          <a:p>
            <a:pPr>
              <a:lnSpc>
                <a:spcPct val="100000"/>
              </a:lnSpc>
            </a:pPr>
            <a:r>
              <a:rPr lang="en-US" sz="1800" dirty="0">
                <a:latin typeface="Times New Roman" panose="02020603050405020304" pitchFamily="18" charset="0"/>
                <a:cs typeface="Times New Roman" panose="02020603050405020304" pitchFamily="18" charset="0"/>
              </a:rPr>
              <a:t>These tokens are embedded into vector representations by the model’s embedding layer.</a:t>
            </a:r>
          </a:p>
          <a:p>
            <a:pPr marL="0" indent="0" algn="just">
              <a:lnSpc>
                <a:spcPct val="100000"/>
              </a:lnSpc>
              <a:buNone/>
            </a:pPr>
            <a:r>
              <a:rPr lang="en-US" sz="1800" b="1" dirty="0">
                <a:latin typeface="Times New Roman" panose="02020603050405020304" pitchFamily="18" charset="0"/>
                <a:cs typeface="Times New Roman" panose="02020603050405020304" pitchFamily="18" charset="0"/>
              </a:rPr>
              <a:t>Step 3: Model Processing (Inside LLaMA-3.3-70B)</a:t>
            </a:r>
            <a:endParaRPr lang="en-US" sz="1800" dirty="0">
              <a:latin typeface="Times New Roman" panose="02020603050405020304" pitchFamily="18" charset="0"/>
              <a:cs typeface="Times New Roman" panose="02020603050405020304" pitchFamily="18" charset="0"/>
            </a:endParaRPr>
          </a:p>
          <a:p>
            <a:pPr algn="just">
              <a:lnSpc>
                <a:spcPct val="100000"/>
              </a:lnSpc>
            </a:pPr>
            <a:r>
              <a:rPr lang="en-US" sz="1800" dirty="0">
                <a:latin typeface="Times New Roman" panose="02020603050405020304" pitchFamily="18" charset="0"/>
                <a:cs typeface="Times New Roman" panose="02020603050405020304" pitchFamily="18" charset="0"/>
              </a:rPr>
              <a:t>The embeddings are processed through ~80 Transformer decoder layers:</a:t>
            </a:r>
          </a:p>
          <a:p>
            <a:pPr marL="0" indent="0">
              <a:lnSpc>
                <a:spcPct val="100000"/>
              </a:lnSpc>
              <a:buNone/>
            </a:pPr>
            <a:endParaRPr lang="en-US" sz="18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539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0D53D7-88B4-C099-2BFC-5B43A7313332}"/>
                  </a:ext>
                </a:extLst>
              </p:cNvPr>
              <p:cNvSpPr>
                <a:spLocks noGrp="1"/>
              </p:cNvSpPr>
              <p:nvPr>
                <p:ph idx="1"/>
              </p:nvPr>
            </p:nvSpPr>
            <p:spPr>
              <a:xfrm>
                <a:off x="422787" y="78659"/>
                <a:ext cx="10901516" cy="5675518"/>
              </a:xfrm>
            </p:spPr>
            <p:txBody>
              <a:bodyPr>
                <a:noAutofit/>
              </a:bodyPr>
              <a:lstStyle/>
              <a:p>
                <a:pPr marL="457200" lvl="1" indent="0" algn="just">
                  <a:lnSpc>
                    <a:spcPct val="100000"/>
                  </a:lnSpc>
                  <a:buNone/>
                </a:pPr>
                <a:r>
                  <a:rPr lang="en-US" sz="1800" b="1" dirty="0">
                    <a:latin typeface="Times New Roman" panose="02020603050405020304" pitchFamily="18" charset="0"/>
                    <a:cs typeface="Times New Roman" panose="02020603050405020304" pitchFamily="18" charset="0"/>
                  </a:rPr>
                  <a:t>Multi-Head Self-Attention:</a:t>
                </a:r>
                <a:r>
                  <a:rPr lang="en-US" sz="1800" dirty="0">
                    <a:latin typeface="Times New Roman" panose="02020603050405020304" pitchFamily="18" charset="0"/>
                    <a:cs typeface="Times New Roman" panose="02020603050405020304" pitchFamily="18" charset="0"/>
                  </a:rPr>
                  <a:t> Helps the model “look at” different parts of the code at once, identifying patterns like </a:t>
                </a:r>
                <a:r>
                  <a:rPr lang="en-US" sz="1800" i="1" dirty="0">
                    <a:latin typeface="Times New Roman" panose="02020603050405020304" pitchFamily="18" charset="0"/>
                    <a:cs typeface="Times New Roman" panose="02020603050405020304" pitchFamily="18" charset="0"/>
                  </a:rPr>
                  <a:t>missing brackets</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wrong indentation</a:t>
                </a:r>
                <a:r>
                  <a:rPr lang="en-US" sz="1800" dirty="0">
                    <a:latin typeface="Times New Roman" panose="02020603050405020304" pitchFamily="18" charset="0"/>
                    <a:cs typeface="Times New Roman" panose="02020603050405020304" pitchFamily="18" charset="0"/>
                  </a:rPr>
                  <a:t>, or </a:t>
                </a:r>
                <a:r>
                  <a:rPr lang="en-US" sz="1800" i="1" dirty="0">
                    <a:latin typeface="Times New Roman" panose="02020603050405020304" pitchFamily="18" charset="0"/>
                    <a:cs typeface="Times New Roman" panose="02020603050405020304" pitchFamily="18" charset="0"/>
                  </a:rPr>
                  <a:t>logic mismatch</a:t>
                </a:r>
                <a:r>
                  <a:rPr lang="en-US" sz="1800" dirty="0">
                    <a:latin typeface="Times New Roman" panose="02020603050405020304" pitchFamily="18" charset="0"/>
                    <a:cs typeface="Times New Roman" panose="02020603050405020304" pitchFamily="18" charset="0"/>
                  </a:rPr>
                  <a:t>.</a:t>
                </a:r>
              </a:p>
              <a:p>
                <a:pPr marL="457200" lvl="1" indent="0" algn="just">
                  <a:lnSpc>
                    <a:spcPct val="100000"/>
                  </a:lnSpc>
                  <a:buNone/>
                </a:pPr>
                <a14:m>
                  <m:oMathPara xmlns:m="http://schemas.openxmlformats.org/officeDocument/2006/math">
                    <m:oMathParaPr>
                      <m:jc m:val="centerGroup"/>
                    </m:oMathParaPr>
                    <m:oMath xmlns:m="http://schemas.openxmlformats.org/officeDocument/2006/math">
                      <m:r>
                        <m:rPr>
                          <m:nor/>
                        </m:rPr>
                        <a:rPr lang="en-IN" sz="1800">
                          <a:latin typeface="Times New Roman" panose="02020603050405020304" pitchFamily="18" charset="0"/>
                          <a:ea typeface="Tahoma" panose="020B0604030504040204" pitchFamily="34" charset="0"/>
                          <a:cs typeface="Times New Roman" panose="02020603050405020304" pitchFamily="18" charset="0"/>
                        </a:rPr>
                        <m:t>Attention</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Q</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K</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V</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softmax</m:t>
                      </m:r>
                      <m:r>
                        <m:rPr>
                          <m:nor/>
                        </m:rPr>
                        <a:rPr lang="en-IN" sz="1800">
                          <a:latin typeface="Times New Roman" panose="02020603050405020304" pitchFamily="18" charset="0"/>
                          <a:cs typeface="Times New Roman" panose="02020603050405020304" pitchFamily="18" charset="0"/>
                        </a:rPr>
                        <m:t>(</m:t>
                      </m:r>
                      <m:f>
                        <m:fPr>
                          <m:ctrlPr>
                            <a:rPr lang="en-IN" sz="1800" i="1" smtClean="0">
                              <a:latin typeface="Cambria Math" panose="02040503050406030204" pitchFamily="18" charset="0"/>
                            </a:rPr>
                          </m:ctrlPr>
                        </m:fPr>
                        <m:num>
                          <m:sSup>
                            <m:sSupPr>
                              <m:ctrlPr>
                                <a:rPr lang="en-IN" sz="1800" i="1" smtClean="0">
                                  <a:latin typeface="Cambria Math" panose="02040503050406030204" pitchFamily="18" charset="0"/>
                                </a:rPr>
                              </m:ctrlPr>
                            </m:sSupPr>
                            <m:e>
                              <m:r>
                                <a:rPr lang="en-US" sz="1800" b="0" i="1" smtClean="0">
                                  <a:latin typeface="Cambria Math" panose="02040503050406030204" pitchFamily="18" charset="0"/>
                                </a:rPr>
                                <m:t>𝑄𝐾</m:t>
                              </m:r>
                            </m:e>
                            <m:sup>
                              <m:r>
                                <a:rPr lang="en-US" sz="1800" b="0" i="1" smtClean="0">
                                  <a:latin typeface="Cambria Math" panose="02040503050406030204" pitchFamily="18" charset="0"/>
                                </a:rPr>
                                <m:t>𝑡</m:t>
                              </m:r>
                            </m:sup>
                          </m:sSup>
                        </m:num>
                        <m:den>
                          <m:rad>
                            <m:radPr>
                              <m:degHide m:val="on"/>
                              <m:ctrlPr>
                                <a:rPr lang="en-IN" sz="1800" i="1" smtClean="0">
                                  <a:latin typeface="Cambria Math" panose="02040503050406030204" pitchFamily="18" charset="0"/>
                                </a:rPr>
                              </m:ctrlPr>
                            </m:radPr>
                            <m:deg/>
                            <m:e>
                              <m:sSub>
                                <m:sSubPr>
                                  <m:ctrlPr>
                                    <a:rPr lang="en-IN" sz="180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𝑘</m:t>
                                  </m:r>
                                </m:sub>
                              </m:sSub>
                            </m:e>
                          </m:rad>
                        </m:den>
                      </m:f>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V</m:t>
                      </m:r>
                    </m:oMath>
                  </m:oMathPara>
                </a14:m>
                <a:endParaRPr lang="en-US" sz="1800" dirty="0">
                  <a:latin typeface="Times New Roman" panose="02020603050405020304" pitchFamily="18" charset="0"/>
                  <a:cs typeface="Times New Roman" panose="02020603050405020304" pitchFamily="18" charset="0"/>
                </a:endParaRPr>
              </a:p>
              <a:p>
                <a:pPr marL="457200" lvl="1" indent="0">
                  <a:buNone/>
                </a:pPr>
                <a:r>
                  <a:rPr lang="en-US" sz="1800" dirty="0">
                    <a:latin typeface="Times New Roman" panose="02020603050405020304" pitchFamily="18" charset="0"/>
                    <a:cs typeface="Times New Roman" panose="02020603050405020304" pitchFamily="18" charset="0"/>
                  </a:rPr>
                  <a:t>Q, K, V = Query, Key, and Value matrices (derived from embeddings).</a:t>
                </a:r>
              </a:p>
              <a:p>
                <a:pPr marL="457200" lvl="1" indent="0">
                  <a:buNone/>
                </a:pP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𝑑</m:t>
                        </m:r>
                      </m:e>
                      <m:sub>
                        <m:r>
                          <a:rPr lang="en-US" sz="1800" b="0" i="1" smtClean="0">
                            <a:latin typeface="Cambria Math" panose="02040503050406030204" pitchFamily="18" charset="0"/>
                            <a:cs typeface="Times New Roman" panose="02020603050405020304" pitchFamily="18" charset="0"/>
                          </a:rPr>
                          <m:t>𝑘</m:t>
                        </m:r>
                      </m:sub>
                    </m:sSub>
                  </m:oMath>
                </a14:m>
                <a:r>
                  <a:rPr lang="en-US" sz="1800" dirty="0">
                    <a:latin typeface="Times New Roman" panose="02020603050405020304" pitchFamily="18" charset="0"/>
                    <a:cs typeface="Times New Roman" panose="02020603050405020304" pitchFamily="18" charset="0"/>
                  </a:rPr>
                  <a:t>​ = dimension of the Key vectors.</a:t>
                </a:r>
              </a:p>
              <a:p>
                <a:pPr lvl="1"/>
                <a:r>
                  <a:rPr lang="en-US" sz="1800" dirty="0">
                    <a:latin typeface="Times New Roman" panose="02020603050405020304" pitchFamily="18" charset="0"/>
                    <a:cs typeface="Times New Roman" panose="02020603050405020304" pitchFamily="18" charset="0"/>
                  </a:rPr>
                  <a:t>This formula determines how much focus (attention) each token should give to others.</a:t>
                </a:r>
              </a:p>
              <a:p>
                <a:pPr marL="0" indent="0" algn="just">
                  <a:lnSpc>
                    <a:spcPct val="100000"/>
                  </a:lnSpc>
                  <a:buNone/>
                </a:pPr>
                <a:r>
                  <a:rPr lang="en-US" sz="1800" b="1" dirty="0">
                    <a:latin typeface="Times New Roman" panose="02020603050405020304" pitchFamily="18" charset="0"/>
                    <a:cs typeface="Times New Roman" panose="02020603050405020304" pitchFamily="18" charset="0"/>
                  </a:rPr>
                  <a:t>Step 4: Output Decoding</a:t>
                </a:r>
                <a:endParaRPr lang="en-US" sz="1800" dirty="0">
                  <a:latin typeface="Times New Roman" panose="02020603050405020304" pitchFamily="18" charset="0"/>
                  <a:cs typeface="Times New Roman" panose="02020603050405020304" pitchFamily="18" charset="0"/>
                </a:endParaRPr>
              </a:p>
              <a:p>
                <a:pPr algn="just">
                  <a:lnSpc>
                    <a:spcPct val="100000"/>
                  </a:lnSpc>
                </a:pPr>
                <a:r>
                  <a:rPr lang="en-US" sz="1800" dirty="0">
                    <a:latin typeface="Times New Roman" panose="02020603050405020304" pitchFamily="18" charset="0"/>
                    <a:cs typeface="Times New Roman" panose="02020603050405020304" pitchFamily="18" charset="0"/>
                  </a:rPr>
                  <a:t>The model’s predicted tokens are converted back into natural text/code</a:t>
                </a:r>
                <a:r>
                  <a:rPr lang="en-US" dirty="0"/>
                  <a:t>.</a:t>
                </a:r>
              </a:p>
              <a:p>
                <a:pPr marL="0" indent="0" algn="just">
                  <a:lnSpc>
                    <a:spcPct val="100000"/>
                  </a:lnSpc>
                  <a:buNone/>
                </a:pPr>
                <a:r>
                  <a:rPr lang="en-US" dirty="0"/>
                  <a:t>	</a:t>
                </a:r>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b="0" i="1" smtClean="0">
                        <a:latin typeface="Cambria Math" panose="02040503050406030204" pitchFamily="18" charset="0"/>
                        <a:cs typeface="Times New Roman" panose="02020603050405020304" pitchFamily="18" charset="0"/>
                      </a:rPr>
                      <m:t>𝑃</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𝑦</m:t>
                        </m:r>
                      </m:e>
                      <m:sub>
                        <m:r>
                          <a:rPr lang="en-US" sz="1800" b="0" i="1" smtClean="0">
                            <a:latin typeface="Cambria Math" panose="02040503050406030204" pitchFamily="18" charset="0"/>
                            <a:cs typeface="Times New Roman" panose="02020603050405020304" pitchFamily="18" charset="0"/>
                          </a:rPr>
                          <m:t>𝑡</m:t>
                        </m:r>
                      </m:sub>
                    </m:sSub>
                    <m:d>
                      <m:dPr>
                        <m:begChr m:val="|"/>
                        <m:ctrlPr>
                          <a:rPr lang="en-US" sz="1800" b="0" i="1" smtClean="0">
                            <a:latin typeface="Cambria Math" panose="02040503050406030204" pitchFamily="18" charset="0"/>
                            <a:cs typeface="Times New Roman" panose="02020603050405020304" pitchFamily="18" charset="0"/>
                          </a:rPr>
                        </m:ctrlPr>
                      </m:dPr>
                      <m:e>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𝑦</m:t>
                            </m:r>
                          </m:e>
                          <m:sub>
                            <m:r>
                              <a:rPr lang="en-US" sz="1800" b="0" i="1" smtClean="0">
                                <a:latin typeface="Cambria Math" panose="02040503050406030204" pitchFamily="18" charset="0"/>
                                <a:cs typeface="Times New Roman" panose="02020603050405020304" pitchFamily="18" charset="0"/>
                              </a:rPr>
                              <m:t>&lt;</m:t>
                            </m:r>
                            <m:r>
                              <a:rPr lang="en-US" sz="1800" b="0" i="1" smtClean="0">
                                <a:latin typeface="Cambria Math" panose="02040503050406030204" pitchFamily="18" charset="0"/>
                                <a:cs typeface="Times New Roman" panose="02020603050405020304" pitchFamily="18" charset="0"/>
                              </a:rPr>
                              <m:t>𝑡</m:t>
                            </m:r>
                            <m:r>
                              <a:rPr lang="en-US" sz="1800" b="0" i="1" smtClean="0">
                                <a:latin typeface="Cambria Math" panose="02040503050406030204" pitchFamily="18" charset="0"/>
                                <a:cs typeface="Times New Roman" panose="02020603050405020304" pitchFamily="18" charset="0"/>
                              </a:rPr>
                              <m:t>,</m:t>
                            </m:r>
                          </m:sub>
                        </m:sSub>
                        <m:r>
                          <a:rPr lang="en-US" sz="1800" b="0" i="1" smtClean="0">
                            <a:latin typeface="Cambria Math" panose="02040503050406030204" pitchFamily="18" charset="0"/>
                            <a:cs typeface="Times New Roman" panose="02020603050405020304" pitchFamily="18" charset="0"/>
                          </a:rPr>
                          <m:t>𝑥</m:t>
                        </m:r>
                      </m:e>
                    </m:d>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𝑠𝑜𝑓𝑡𝑚𝑎𝑥</m:t>
                    </m:r>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𝑊</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h</m:t>
                            </m:r>
                          </m:e>
                          <m:sub>
                            <m:r>
                              <a:rPr lang="en-US" sz="1800" b="0" i="1" smtClean="0">
                                <a:latin typeface="Cambria Math" panose="02040503050406030204" pitchFamily="18" charset="0"/>
                                <a:cs typeface="Times New Roman" panose="02020603050405020304" pitchFamily="18" charset="0"/>
                              </a:rPr>
                              <m:t>𝑡</m:t>
                            </m:r>
                          </m:sub>
                        </m:sSub>
                      </m:e>
                    </m:d>
                  </m:oMath>
                </a14:m>
                <a:endParaRPr lang="en-US" sz="1800" b="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𝑦</m:t>
                        </m:r>
                      </m:e>
                      <m:sub>
                        <m:r>
                          <a:rPr lang="en-US" sz="1800" b="0" i="1" smtClean="0">
                            <a:latin typeface="Cambria Math" panose="02040503050406030204" pitchFamily="18" charset="0"/>
                            <a:cs typeface="Times New Roman" panose="02020603050405020304" pitchFamily="18" charset="0"/>
                          </a:rPr>
                          <m:t>𝑡</m:t>
                        </m:r>
                      </m:sub>
                    </m:sSub>
                    <m:r>
                      <a:rPr lang="en-US" sz="1800" b="0" i="1" smtClean="0">
                        <a:latin typeface="Cambria Math" panose="02040503050406030204" pitchFamily="18" charset="0"/>
                        <a:cs typeface="Times New Roman" panose="02020603050405020304" pitchFamily="18" charset="0"/>
                      </a:rPr>
                      <m:t>=</m:t>
                    </m:r>
                  </m:oMath>
                </a14:m>
                <a:r>
                  <a:rPr lang="en-US" sz="1800" b="0" dirty="0">
                    <a:latin typeface="Times New Roman" panose="02020603050405020304" pitchFamily="18" charset="0"/>
                    <a:cs typeface="Times New Roman" panose="02020603050405020304" pitchFamily="18" charset="0"/>
                  </a:rPr>
                  <a:t> </a:t>
                </a:r>
                <a:r>
                  <a:rPr lang="en-US" sz="1800" dirty="0"/>
                  <a:t>predicted token at step t.</a:t>
                </a:r>
                <a:endParaRPr lang="en-US" sz="1800" b="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h</m:t>
                        </m:r>
                      </m:e>
                      <m:sub>
                        <m:r>
                          <a:rPr lang="en-US" sz="1800" b="0" i="1" smtClean="0">
                            <a:latin typeface="Cambria Math" panose="02040503050406030204" pitchFamily="18" charset="0"/>
                            <a:cs typeface="Times New Roman" panose="02020603050405020304" pitchFamily="18" charset="0"/>
                          </a:rPr>
                          <m:t>𝑡</m:t>
                        </m:r>
                      </m:sub>
                    </m:sSub>
                    <m:r>
                      <a:rPr lang="en-US" sz="1800" b="0" i="1" smtClean="0">
                        <a:latin typeface="Cambria Math" panose="02040503050406030204" pitchFamily="18" charset="0"/>
                        <a:cs typeface="Times New Roman" panose="02020603050405020304" pitchFamily="18" charset="0"/>
                      </a:rPr>
                      <m:t>=</m:t>
                    </m:r>
                    <m:r>
                      <m:rPr>
                        <m:nor/>
                      </m:rPr>
                      <a:rPr lang="en-US" sz="1800"/>
                      <m:t>hidden</m:t>
                    </m:r>
                    <m:r>
                      <m:rPr>
                        <m:nor/>
                      </m:rPr>
                      <a:rPr lang="en-US" sz="1800"/>
                      <m:t> </m:t>
                    </m:r>
                    <m:r>
                      <m:rPr>
                        <m:nor/>
                      </m:rPr>
                      <a:rPr lang="en-US" sz="1800"/>
                      <m:t>state</m:t>
                    </m:r>
                    <m:r>
                      <m:rPr>
                        <m:nor/>
                      </m:rPr>
                      <a:rPr lang="en-US" sz="1800"/>
                      <m:t> </m:t>
                    </m:r>
                    <m:r>
                      <m:rPr>
                        <m:nor/>
                      </m:rPr>
                      <a:rPr lang="en-US" sz="1800"/>
                      <m:t>from</m:t>
                    </m:r>
                    <m:r>
                      <m:rPr>
                        <m:nor/>
                      </m:rPr>
                      <a:rPr lang="en-US" sz="1800"/>
                      <m:t> </m:t>
                    </m:r>
                    <m:r>
                      <m:rPr>
                        <m:nor/>
                      </m:rPr>
                      <a:rPr lang="en-US" sz="1800"/>
                      <m:t>the</m:t>
                    </m:r>
                    <m:r>
                      <m:rPr>
                        <m:nor/>
                      </m:rPr>
                      <a:rPr lang="en-US" sz="1800"/>
                      <m:t> </m:t>
                    </m:r>
                    <m:r>
                      <m:rPr>
                        <m:nor/>
                      </m:rPr>
                      <a:rPr lang="en-US" sz="1800"/>
                      <m:t>last</m:t>
                    </m:r>
                    <m:r>
                      <m:rPr>
                        <m:nor/>
                      </m:rPr>
                      <a:rPr lang="en-US" sz="1800"/>
                      <m:t> </m:t>
                    </m:r>
                    <m:r>
                      <m:rPr>
                        <m:nor/>
                      </m:rPr>
                      <a:rPr lang="en-US" sz="1800"/>
                      <m:t>transformer</m:t>
                    </m:r>
                    <m:r>
                      <m:rPr>
                        <m:nor/>
                      </m:rPr>
                      <a:rPr lang="en-US" sz="1800"/>
                      <m:t> </m:t>
                    </m:r>
                    <m:r>
                      <m:rPr>
                        <m:nor/>
                      </m:rPr>
                      <a:rPr lang="en-US" sz="1800"/>
                      <m:t>layer</m:t>
                    </m:r>
                    <m:r>
                      <m:rPr>
                        <m:nor/>
                      </m:rPr>
                      <a:rPr lang="en-US" sz="1800"/>
                      <m:t>.</m:t>
                    </m:r>
                  </m:oMath>
                </a14:m>
                <a:endParaRPr lang="en-US" sz="1800" b="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W = Output matrix</a:t>
                </a:r>
              </a:p>
              <a:p>
                <a:pPr marL="0" indent="0" algn="just">
                  <a:lnSpc>
                    <a:spcPct val="100000"/>
                  </a:lnSpc>
                  <a:buNone/>
                </a:pPr>
                <a:r>
                  <a:rPr lang="en-US" sz="1800" b="1" dirty="0">
                    <a:latin typeface="Times New Roman" panose="02020603050405020304" pitchFamily="18" charset="0"/>
                    <a:cs typeface="Times New Roman" panose="02020603050405020304" pitchFamily="18" charset="0"/>
                  </a:rPr>
                  <a:t>Step 5: Workflow (LangGraph)</a:t>
                </a:r>
                <a:endParaRPr lang="en-US" sz="1800" dirty="0">
                  <a:latin typeface="Times New Roman" panose="02020603050405020304" pitchFamily="18" charset="0"/>
                  <a:cs typeface="Times New Roman" panose="02020603050405020304" pitchFamily="18" charset="0"/>
                </a:endParaRPr>
              </a:p>
              <a:p>
                <a:pPr algn="just">
                  <a:lnSpc>
                    <a:spcPct val="100000"/>
                  </a:lnSpc>
                </a:pPr>
                <a:r>
                  <a:rPr lang="en-US" sz="1800" dirty="0">
                    <a:latin typeface="Times New Roman" panose="02020603050405020304" pitchFamily="18" charset="0"/>
                    <a:cs typeface="Times New Roman" panose="02020603050405020304" pitchFamily="18" charset="0"/>
                  </a:rPr>
                  <a:t>LangGraph organizes the debugging process into connected nodes:</a:t>
                </a:r>
              </a:p>
              <a:p>
                <a:pPr lvl="1" algn="just">
                  <a:lnSpc>
                    <a:spcPct val="100000"/>
                  </a:lnSpc>
                </a:pPr>
                <a:r>
                  <a:rPr lang="en-US" sz="1800" dirty="0">
                    <a:latin typeface="Times New Roman" panose="02020603050405020304" pitchFamily="18" charset="0"/>
                    <a:cs typeface="Times New Roman" panose="02020603050405020304" pitchFamily="18" charset="0"/>
                  </a:rPr>
                  <a:t>Bug Detection Node → Fix Suggestion Node →Corrected Code Node → Report Generation Node → Test Case Node .</a:t>
                </a:r>
              </a:p>
              <a:p>
                <a:pPr algn="just">
                  <a:lnSpc>
                    <a:spcPct val="100000"/>
                  </a:lnSpc>
                </a:pPr>
                <a:r>
                  <a:rPr lang="en-US" sz="1800" dirty="0">
                    <a:latin typeface="Times New Roman" panose="02020603050405020304" pitchFamily="18" charset="0"/>
                    <a:cs typeface="Times New Roman" panose="02020603050405020304" pitchFamily="18" charset="0"/>
                  </a:rPr>
                  <a:t>The output of each node automatically becomes the input for the next node.</a:t>
                </a:r>
              </a:p>
              <a:p>
                <a:pPr marL="0" indent="0" algn="just">
                  <a:lnSpc>
                    <a:spcPct val="100000"/>
                  </a:lnSpc>
                  <a:buNone/>
                </a:pPr>
                <a:endParaRPr lang="en-US" b="1" dirty="0"/>
              </a:p>
              <a:p>
                <a:pPr marL="457200" lvl="1" indent="0" algn="just">
                  <a:lnSpc>
                    <a:spcPct val="100000"/>
                  </a:lnSpc>
                  <a:buNone/>
                </a:pPr>
                <a:endParaRPr lang="en-US" sz="18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C0D53D7-88B4-C099-2BFC-5B43A7313332}"/>
                  </a:ext>
                </a:extLst>
              </p:cNvPr>
              <p:cNvSpPr>
                <a:spLocks noGrp="1" noRot="1" noChangeAspect="1" noMove="1" noResize="1" noEditPoints="1" noAdjustHandles="1" noChangeArrowheads="1" noChangeShapeType="1" noTextEdit="1"/>
              </p:cNvSpPr>
              <p:nvPr>
                <p:ph idx="1"/>
              </p:nvPr>
            </p:nvSpPr>
            <p:spPr>
              <a:xfrm>
                <a:off x="422787" y="78659"/>
                <a:ext cx="10901516" cy="5675518"/>
              </a:xfrm>
              <a:blipFill>
                <a:blip r:embed="rId2"/>
                <a:stretch>
                  <a:fillRect l="-447" t="-644" r="-447" b="-20945"/>
                </a:stretch>
              </a:blipFill>
            </p:spPr>
            <p:txBody>
              <a:bodyPr/>
              <a:lstStyle/>
              <a:p>
                <a:r>
                  <a:rPr lang="en-IN">
                    <a:noFill/>
                  </a:rPr>
                  <a:t> </a:t>
                </a:r>
              </a:p>
            </p:txBody>
          </p:sp>
        </mc:Fallback>
      </mc:AlternateContent>
    </p:spTree>
    <p:extLst>
      <p:ext uri="{BB962C8B-B14F-4D97-AF65-F5344CB8AC3E}">
        <p14:creationId xmlns:p14="http://schemas.microsoft.com/office/powerpoint/2010/main" val="1045679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E43F-8D05-0718-5899-448175EF3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27A6A-0EC4-BAB9-312B-6BC37E6D178B}"/>
              </a:ext>
            </a:extLst>
          </p:cNvPr>
          <p:cNvSpPr>
            <a:spLocks noGrp="1"/>
          </p:cNvSpPr>
          <p:nvPr>
            <p:ph type="title"/>
          </p:nvPr>
        </p:nvSpPr>
        <p:spPr>
          <a:xfrm>
            <a:off x="838200" y="-103070"/>
            <a:ext cx="10515600" cy="736088"/>
          </a:xfrm>
        </p:spPr>
        <p:txBody>
          <a:bodyPr>
            <a:normAutofit/>
          </a:bodyPr>
          <a:lstStyle/>
          <a:p>
            <a:pPr algn="ctr"/>
            <a:r>
              <a:rPr lang="en-US" sz="2400" b="1" dirty="0">
                <a:latin typeface="Times New Roman" panose="02020603050405020304" pitchFamily="18" charset="0"/>
                <a:cs typeface="Times New Roman" panose="02020603050405020304" pitchFamily="18" charset="0"/>
              </a:rPr>
              <a:t>ALGORITHM – </a:t>
            </a:r>
            <a:r>
              <a:rPr lang="en-US" sz="2400" dirty="0">
                <a:latin typeface="Times New Roman" panose="02020603050405020304" pitchFamily="18" charset="0"/>
                <a:cs typeface="Times New Roman" panose="02020603050405020304" pitchFamily="18" charset="0"/>
              </a:rPr>
              <a:t>Qwen/Qwen3-Next-80B-A3B-Instruct</a:t>
            </a:r>
            <a:endParaRPr lang="en-IN"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2">
                <a:extLst>
                  <a:ext uri="{FF2B5EF4-FFF2-40B4-BE49-F238E27FC236}">
                    <a16:creationId xmlns:a16="http://schemas.microsoft.com/office/drawing/2014/main" id="{BAF77A38-C315-DF6A-01A7-44C5E604CB11}"/>
                  </a:ext>
                </a:extLst>
              </p:cNvPr>
              <p:cNvSpPr>
                <a:spLocks noGrp="1" noChangeArrowheads="1"/>
              </p:cNvSpPr>
              <p:nvPr>
                <p:ph idx="1"/>
              </p:nvPr>
            </p:nvSpPr>
            <p:spPr bwMode="auto">
              <a:xfrm>
                <a:off x="486695" y="408579"/>
                <a:ext cx="11046543" cy="66420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IN" sz="1800" b="1" dirty="0">
                    <a:latin typeface="Times New Roman" panose="02020603050405020304" pitchFamily="18" charset="0"/>
                    <a:cs typeface="Times New Roman" panose="02020603050405020304" pitchFamily="18" charset="0"/>
                  </a:rPr>
                  <a:t>Algorithm: </a:t>
                </a:r>
                <a:r>
                  <a:rPr lang="en-IN" sz="1800" dirty="0">
                    <a:latin typeface="Times New Roman" panose="02020603050405020304" pitchFamily="18" charset="0"/>
                    <a:cs typeface="Times New Roman" panose="02020603050405020304" pitchFamily="18" charset="0"/>
                  </a:rPr>
                  <a:t>Qwen/Qwen3-Next-80B-A3B-Instruct</a:t>
                </a:r>
                <a:r>
                  <a:rPr lang="en-IN" sz="1800" b="1" dirty="0">
                    <a:latin typeface="Times New Roman" panose="02020603050405020304" pitchFamily="18" charset="0"/>
                    <a:cs typeface="Times New Roman" panose="02020603050405020304" pitchFamily="18" charset="0"/>
                  </a:rPr>
                  <a:t> </a:t>
                </a:r>
              </a:p>
              <a:p>
                <a:pPr marL="0" indent="0">
                  <a:lnSpc>
                    <a:spcPct val="150000"/>
                  </a:lnSpc>
                  <a:buNone/>
                </a:pPr>
                <a:r>
                  <a:rPr lang="en-IN" sz="1800" b="1" dirty="0">
                    <a:latin typeface="Times New Roman" panose="02020603050405020304" pitchFamily="18" charset="0"/>
                    <a:cs typeface="Times New Roman" panose="02020603050405020304" pitchFamily="18" charset="0"/>
                  </a:rPr>
                  <a:t>Input:</a:t>
                </a:r>
                <a:r>
                  <a:rPr lang="en-IN" sz="1800" dirty="0">
                    <a:latin typeface="Times New Roman" panose="02020603050405020304" pitchFamily="18" charset="0"/>
                    <a:cs typeface="Times New Roman" panose="02020603050405020304" pitchFamily="18" charset="0"/>
                  </a:rPr>
                  <a:t> Source code file + Structured Prompts</a:t>
                </a:r>
              </a:p>
              <a:p>
                <a:pPr marL="0" indent="0">
                  <a:lnSpc>
                    <a:spcPct val="150000"/>
                  </a:lnSpc>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Corrected Code + Debugging Report + Test Cases</a:t>
                </a:r>
              </a:p>
              <a:p>
                <a:pPr marL="0" indent="0">
                  <a:lnSpc>
                    <a:spcPct val="150000"/>
                  </a:lnSpc>
                  <a:buNone/>
                </a:pPr>
                <a:r>
                  <a:rPr lang="en-US" sz="1800" b="1" dirty="0">
                    <a:latin typeface="Times New Roman" panose="02020603050405020304" pitchFamily="18" charset="0"/>
                    <a:cs typeface="Times New Roman" panose="02020603050405020304" pitchFamily="18" charset="0"/>
                  </a:rPr>
                  <a:t>Step 1: Input Encoding (Tokenizer &amp; Embedding Layer)</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The source code is first tokenized by the Qwen tokenizer into </a:t>
                </a:r>
                <a:r>
                  <a:rPr lang="en-US" sz="1800" dirty="0" err="1">
                    <a:latin typeface="Times New Roman" panose="02020603050405020304" pitchFamily="18" charset="0"/>
                    <a:cs typeface="Times New Roman" panose="02020603050405020304" pitchFamily="18" charset="0"/>
                  </a:rPr>
                  <a:t>subword</a:t>
                </a:r>
                <a:r>
                  <a:rPr lang="en-US" sz="1800" dirty="0">
                    <a:latin typeface="Times New Roman" panose="02020603050405020304" pitchFamily="18" charset="0"/>
                    <a:cs typeface="Times New Roman" panose="02020603050405020304" pitchFamily="18" charset="0"/>
                  </a:rPr>
                  <a:t> tokens.</a:t>
                </a:r>
              </a:p>
              <a:p>
                <a:pPr>
                  <a:lnSpc>
                    <a:spcPct val="150000"/>
                  </a:lnSpc>
                </a:pPr>
                <a:r>
                  <a:rPr lang="en-US" sz="1800" dirty="0">
                    <a:latin typeface="Times New Roman" panose="02020603050405020304" pitchFamily="18" charset="0"/>
                    <a:cs typeface="Times New Roman" panose="02020603050405020304" pitchFamily="18" charset="0"/>
                  </a:rPr>
                  <a:t>Each token is mapped into a high-dimensional </a:t>
                </a:r>
                <a:r>
                  <a:rPr lang="en-US" sz="1800" b="1" dirty="0">
                    <a:latin typeface="Times New Roman" panose="02020603050405020304" pitchFamily="18" charset="0"/>
                    <a:cs typeface="Times New Roman" panose="02020603050405020304" pitchFamily="18" charset="0"/>
                  </a:rPr>
                  <a:t>embedding vector</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Positional encodings are added so the model knows the order of tokens.</a:t>
                </a:r>
              </a:p>
              <a:p>
                <a:pPr marL="0" indent="0">
                  <a:lnSpc>
                    <a:spcPct val="150000"/>
                  </a:lnSpc>
                  <a:buNone/>
                </a:pPr>
                <a:r>
                  <a:rPr lang="en-US" sz="1800" b="1" dirty="0">
                    <a:latin typeface="Times New Roman" panose="02020603050405020304" pitchFamily="18" charset="0"/>
                    <a:cs typeface="Times New Roman" panose="02020603050405020304" pitchFamily="18" charset="0"/>
                  </a:rPr>
                  <a:t>Step 2:Transformer Backbone (~80 Decoder Layers in Qwen)</a:t>
                </a:r>
              </a:p>
              <a:p>
                <a:pPr>
                  <a:lnSpc>
                    <a:spcPct val="150000"/>
                  </a:lnSpc>
                </a:pPr>
                <a:r>
                  <a:rPr lang="en-US" sz="1800" dirty="0">
                    <a:latin typeface="Times New Roman" panose="02020603050405020304" pitchFamily="18" charset="0"/>
                    <a:cs typeface="Times New Roman" panose="02020603050405020304" pitchFamily="18" charset="0"/>
                  </a:rPr>
                  <a:t>Multi-Head Self-Attention –This mechanism in each layer allows the model to attend to all previous tokens in the sequence.</a:t>
                </a:r>
              </a:p>
              <a:p>
                <a:pPr marL="0" indent="0">
                  <a:lnSpc>
                    <a:spcPct val="150000"/>
                  </a:lnSpc>
                  <a:buNone/>
                </a:pPr>
                <a14:m>
                  <m:oMathPara xmlns:m="http://schemas.openxmlformats.org/officeDocument/2006/math">
                    <m:oMathParaPr>
                      <m:jc m:val="centerGroup"/>
                    </m:oMathParaPr>
                    <m:oMath xmlns:m="http://schemas.openxmlformats.org/officeDocument/2006/math">
                      <m:r>
                        <m:rPr>
                          <m:nor/>
                        </m:rPr>
                        <a:rPr lang="en-IN" sz="1800">
                          <a:latin typeface="Times New Roman" panose="02020603050405020304" pitchFamily="18" charset="0"/>
                          <a:ea typeface="Tahoma" panose="020B0604030504040204" pitchFamily="34" charset="0"/>
                          <a:cs typeface="Times New Roman" panose="02020603050405020304" pitchFamily="18" charset="0"/>
                        </a:rPr>
                        <m:t>Attention</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Q</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K</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V</m:t>
                      </m:r>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softmax</m:t>
                      </m:r>
                      <m:r>
                        <m:rPr>
                          <m:nor/>
                        </m:rPr>
                        <a:rPr lang="en-IN" sz="1800">
                          <a:latin typeface="Times New Roman" panose="02020603050405020304" pitchFamily="18" charset="0"/>
                          <a:cs typeface="Times New Roman" panose="02020603050405020304" pitchFamily="18" charset="0"/>
                        </a:rPr>
                        <m:t>(</m:t>
                      </m:r>
                      <m:f>
                        <m:fPr>
                          <m:ctrlPr>
                            <a:rPr lang="en-IN" sz="1800" i="1">
                              <a:latin typeface="Cambria Math" panose="02040503050406030204" pitchFamily="18" charset="0"/>
                            </a:rPr>
                          </m:ctrlPr>
                        </m:fPr>
                        <m:num>
                          <m:sSup>
                            <m:sSupPr>
                              <m:ctrlPr>
                                <a:rPr lang="en-IN" sz="1800" i="1">
                                  <a:latin typeface="Cambria Math" panose="02040503050406030204" pitchFamily="18" charset="0"/>
                                </a:rPr>
                              </m:ctrlPr>
                            </m:sSupPr>
                            <m:e>
                              <m:r>
                                <a:rPr lang="en-US" sz="1800" i="1">
                                  <a:latin typeface="Cambria Math" panose="02040503050406030204" pitchFamily="18" charset="0"/>
                                </a:rPr>
                                <m:t>𝑄𝐾</m:t>
                              </m:r>
                            </m:e>
                            <m:sup>
                              <m:r>
                                <a:rPr lang="en-US" sz="1800" i="1">
                                  <a:latin typeface="Cambria Math" panose="02040503050406030204" pitchFamily="18" charset="0"/>
                                </a:rPr>
                                <m:t>𝑡</m:t>
                              </m:r>
                            </m:sup>
                          </m:sSup>
                        </m:num>
                        <m:den>
                          <m:rad>
                            <m:radPr>
                              <m:degHide m:val="on"/>
                              <m:ctrlPr>
                                <a:rPr lang="en-IN" sz="1800" i="1">
                                  <a:latin typeface="Cambria Math" panose="02040503050406030204" pitchFamily="18" charset="0"/>
                                </a:rPr>
                              </m:ctrlPr>
                            </m:radPr>
                            <m:deg/>
                            <m:e>
                              <m:sSub>
                                <m:sSubPr>
                                  <m:ctrlPr>
                                    <a:rPr lang="en-IN" sz="1800" i="1">
                                      <a:latin typeface="Cambria Math" panose="02040503050406030204" pitchFamily="18" charset="0"/>
                                    </a:rPr>
                                  </m:ctrlPr>
                                </m:sSubPr>
                                <m:e>
                                  <m:r>
                                    <a:rPr lang="en-US" sz="1800" i="1">
                                      <a:latin typeface="Cambria Math" panose="02040503050406030204" pitchFamily="18" charset="0"/>
                                    </a:rPr>
                                    <m:t>𝑑</m:t>
                                  </m:r>
                                </m:e>
                                <m:sub>
                                  <m:r>
                                    <a:rPr lang="en-US" sz="1800" i="1">
                                      <a:latin typeface="Cambria Math" panose="02040503050406030204" pitchFamily="18" charset="0"/>
                                    </a:rPr>
                                    <m:t>𝑘</m:t>
                                  </m:r>
                                </m:sub>
                              </m:sSub>
                            </m:e>
                          </m:rad>
                        </m:den>
                      </m:f>
                      <m:r>
                        <m:rPr>
                          <m:nor/>
                        </m:rPr>
                        <a:rPr lang="en-IN" sz="1800">
                          <a:latin typeface="Times New Roman" panose="02020603050405020304" pitchFamily="18" charset="0"/>
                          <a:cs typeface="Times New Roman" panose="02020603050405020304" pitchFamily="18" charset="0"/>
                        </a:rPr>
                        <m:t>​)</m:t>
                      </m:r>
                      <m:r>
                        <m:rPr>
                          <m:nor/>
                        </m:rPr>
                        <a:rPr lang="en-IN" sz="1800">
                          <a:latin typeface="Times New Roman" panose="02020603050405020304" pitchFamily="18" charset="0"/>
                          <a:cs typeface="Times New Roman" panose="02020603050405020304" pitchFamily="18" charset="0"/>
                        </a:rPr>
                        <m:t>V</m:t>
                      </m:r>
                    </m:oMath>
                  </m:oMathPara>
                </a14:m>
                <a:endParaRPr lang="en-US" sz="1800"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7" name="Rectangle 2">
                <a:extLst>
                  <a:ext uri="{FF2B5EF4-FFF2-40B4-BE49-F238E27FC236}">
                    <a16:creationId xmlns:a16="http://schemas.microsoft.com/office/drawing/2014/main" id="{BAF77A38-C315-DF6A-01A7-44C5E604CB11}"/>
                  </a:ext>
                </a:extLst>
              </p:cNvPr>
              <p:cNvSpPr>
                <a:spLocks noGrp="1" noRot="1" noChangeAspect="1" noMove="1" noResize="1" noEditPoints="1" noAdjustHandles="1" noChangeArrowheads="1" noChangeShapeType="1" noTextEdit="1"/>
              </p:cNvSpPr>
              <p:nvPr>
                <p:ph idx="1"/>
              </p:nvPr>
            </p:nvSpPr>
            <p:spPr bwMode="auto">
              <a:xfrm>
                <a:off x="486695" y="408579"/>
                <a:ext cx="11046543" cy="6642075"/>
              </a:xfrm>
              <a:prstGeom prst="rect">
                <a:avLst/>
              </a:prstGeom>
              <a:blipFill>
                <a:blip r:embed="rId2"/>
                <a:stretch>
                  <a:fillRect l="-49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1533329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96F3-4F98-2E7E-4302-407F3BC5075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A53F56-0663-D8F0-1D72-6C308FA6403A}"/>
                  </a:ext>
                </a:extLst>
              </p:cNvPr>
              <p:cNvSpPr>
                <a:spLocks noGrp="1"/>
              </p:cNvSpPr>
              <p:nvPr>
                <p:ph idx="1"/>
              </p:nvPr>
            </p:nvSpPr>
            <p:spPr>
              <a:xfrm>
                <a:off x="629264" y="403123"/>
                <a:ext cx="10636045" cy="6204154"/>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Feed-Forward Network (FFN) – applies non-linear transformations to enrich the token representations, enabling the model to learn complex logic and semantic patterns in code.</a:t>
                </a:r>
              </a:p>
              <a:p>
                <a:pPr marL="0" indent="0">
                  <a:lnSpc>
                    <a:spcPct val="150000"/>
                  </a:lnSpc>
                  <a:buNone/>
                </a:pPr>
                <a:r>
                  <a:rPr lang="en-US" sz="1800" b="1" dirty="0">
                    <a:latin typeface="Times New Roman" panose="02020603050405020304" pitchFamily="18" charset="0"/>
                    <a:cs typeface="Times New Roman" panose="02020603050405020304" pitchFamily="18" charset="0"/>
                  </a:rPr>
                  <a:t>Step 3: Instruction-Tuning with Prompts</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Prompts guide the model to perform specific tasks:</a:t>
                </a:r>
              </a:p>
              <a:p>
                <a:pPr lvl="1">
                  <a:lnSpc>
                    <a:spcPct val="150000"/>
                  </a:lnSpc>
                </a:pPr>
                <a:r>
                  <a:rPr lang="en-US" sz="1800" dirty="0">
                    <a:latin typeface="Times New Roman" panose="02020603050405020304" pitchFamily="18" charset="0"/>
                    <a:cs typeface="Times New Roman" panose="02020603050405020304" pitchFamily="18" charset="0"/>
                  </a:rPr>
                  <a:t>System prompt: defines role (expert debugger).</a:t>
                </a:r>
              </a:p>
              <a:p>
                <a:pPr lvl="1">
                  <a:lnSpc>
                    <a:spcPct val="150000"/>
                  </a:lnSpc>
                </a:pPr>
                <a:r>
                  <a:rPr lang="en-US" sz="1800" dirty="0">
                    <a:latin typeface="Times New Roman" panose="02020603050405020304" pitchFamily="18" charset="0"/>
                    <a:cs typeface="Times New Roman" panose="02020603050405020304" pitchFamily="18" charset="0"/>
                  </a:rPr>
                  <a:t>Human prompt: provides the buggy code.</a:t>
                </a:r>
              </a:p>
              <a:p>
                <a:pPr>
                  <a:lnSpc>
                    <a:spcPct val="150000"/>
                  </a:lnSpc>
                </a:pPr>
                <a:r>
                  <a:rPr lang="en-US" sz="1800" dirty="0">
                    <a:latin typeface="Times New Roman" panose="02020603050405020304" pitchFamily="18" charset="0"/>
                    <a:cs typeface="Times New Roman" panose="02020603050405020304" pitchFamily="18" charset="0"/>
                  </a:rPr>
                  <a:t>This modifies how attention weights are distributed, ensuring outputs align with debugging objectives.</a:t>
                </a:r>
              </a:p>
              <a:p>
                <a:pPr marL="0" indent="0">
                  <a:buNone/>
                </a:pPr>
                <a:r>
                  <a:rPr lang="en-US" sz="1800" b="1" dirty="0">
                    <a:latin typeface="Times New Roman" panose="02020603050405020304" pitchFamily="18" charset="0"/>
                    <a:cs typeface="Times New Roman" panose="02020603050405020304" pitchFamily="18" charset="0"/>
                  </a:rPr>
                  <a:t>Step 4: Output Generation (Decoder)</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model predicts the next token using causal masking:</a:t>
                </a:r>
              </a:p>
              <a:p>
                <a:pPr marL="0" indent="0" algn="just">
                  <a:lnSpc>
                    <a:spcPct val="100000"/>
                  </a:lnSpc>
                  <a:buNone/>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cs typeface="Times New Roman" panose="02020603050405020304" pitchFamily="18" charset="0"/>
                        </a:rPr>
                        <m:t>𝑃</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𝑦</m:t>
                          </m:r>
                        </m:e>
                        <m:sub>
                          <m:r>
                            <a:rPr lang="en-US" sz="1800" i="1">
                              <a:latin typeface="Cambria Math" panose="02040503050406030204" pitchFamily="18" charset="0"/>
                              <a:cs typeface="Times New Roman" panose="02020603050405020304" pitchFamily="18" charset="0"/>
                            </a:rPr>
                            <m:t>𝑡</m:t>
                          </m:r>
                        </m:sub>
                      </m:sSub>
                      <m:d>
                        <m:dPr>
                          <m:begChr m:val="|"/>
                          <m:ctrlPr>
                            <a:rPr lang="en-US" sz="1800" i="1">
                              <a:latin typeface="Cambria Math" panose="02040503050406030204" pitchFamily="18" charset="0"/>
                              <a:cs typeface="Times New Roman" panose="02020603050405020304" pitchFamily="18" charset="0"/>
                            </a:rPr>
                          </m:ctrlPr>
                        </m:dPr>
                        <m:e>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𝑦</m:t>
                              </m:r>
                            </m:e>
                            <m:sub>
                              <m:r>
                                <a:rPr lang="en-US" sz="1800" i="1">
                                  <a:latin typeface="Cambria Math" panose="02040503050406030204" pitchFamily="18" charset="0"/>
                                  <a:cs typeface="Times New Roman" panose="02020603050405020304" pitchFamily="18" charset="0"/>
                                </a:rPr>
                                <m:t>&lt;</m:t>
                              </m:r>
                              <m:r>
                                <a:rPr lang="en-US" sz="1800" i="1">
                                  <a:latin typeface="Cambria Math" panose="02040503050406030204" pitchFamily="18" charset="0"/>
                                  <a:cs typeface="Times New Roman" panose="02020603050405020304" pitchFamily="18" charset="0"/>
                                </a:rPr>
                                <m:t>𝑡</m:t>
                              </m:r>
                              <m:r>
                                <a:rPr lang="en-US" sz="1800" i="1">
                                  <a:latin typeface="Cambria Math" panose="02040503050406030204" pitchFamily="18" charset="0"/>
                                  <a:cs typeface="Times New Roman" panose="02020603050405020304" pitchFamily="18" charset="0"/>
                                </a:rPr>
                                <m:t>,</m:t>
                              </m:r>
                            </m:sub>
                          </m:sSub>
                          <m:r>
                            <a:rPr lang="en-US" sz="1800" i="1">
                              <a:latin typeface="Cambria Math" panose="02040503050406030204" pitchFamily="18" charset="0"/>
                              <a:cs typeface="Times New Roman" panose="02020603050405020304" pitchFamily="18" charset="0"/>
                            </a:rPr>
                            <m:t>𝑥</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𝑠𝑜𝑓𝑡𝑚𝑎𝑥</m:t>
                      </m:r>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𝑊</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h</m:t>
                              </m:r>
                            </m:e>
                            <m:sub>
                              <m:r>
                                <a:rPr lang="en-US" sz="1800" i="1">
                                  <a:latin typeface="Cambria Math" panose="02040503050406030204" pitchFamily="18" charset="0"/>
                                  <a:cs typeface="Times New Roman" panose="02020603050405020304" pitchFamily="18" charset="0"/>
                                </a:rPr>
                                <m:t>𝑡</m:t>
                              </m:r>
                            </m:sub>
                          </m:sSub>
                        </m:e>
                      </m:d>
                    </m:oMath>
                  </m:oMathPara>
                </a14:m>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𝑦</m:t>
                        </m:r>
                      </m:e>
                      <m:sub>
                        <m:r>
                          <a:rPr lang="en-US" sz="1800" i="1">
                            <a:latin typeface="Cambria Math" panose="02040503050406030204" pitchFamily="18" charset="0"/>
                            <a:cs typeface="Times New Roman" panose="02020603050405020304" pitchFamily="18" charset="0"/>
                          </a:rPr>
                          <m:t>𝑡</m:t>
                        </m:r>
                      </m:sub>
                    </m:sSub>
                    <m:r>
                      <a:rPr lang="en-US" sz="1800" i="1">
                        <a:latin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predicted token at step t.</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h</m:t>
                        </m:r>
                      </m:e>
                      <m:sub>
                        <m:r>
                          <a:rPr lang="en-US" sz="1800" i="1">
                            <a:latin typeface="Cambria Math" panose="02040503050406030204" pitchFamily="18" charset="0"/>
                            <a:cs typeface="Times New Roman" panose="02020603050405020304" pitchFamily="18" charset="0"/>
                          </a:rPr>
                          <m:t>𝑡</m:t>
                        </m:r>
                      </m:sub>
                    </m:sSub>
                    <m:r>
                      <a:rPr lang="en-US" sz="1800" i="1">
                        <a:latin typeface="Cambria Math" panose="02040503050406030204" pitchFamily="18" charset="0"/>
                        <a:cs typeface="Times New Roman" panose="02020603050405020304" pitchFamily="18" charset="0"/>
                      </a:rPr>
                      <m:t>=</m:t>
                    </m:r>
                    <m:r>
                      <m:rPr>
                        <m:nor/>
                      </m:rPr>
                      <a:rPr lang="en-US" sz="1800">
                        <a:latin typeface="Times New Roman" panose="02020603050405020304" pitchFamily="18" charset="0"/>
                        <a:cs typeface="Times New Roman" panose="02020603050405020304" pitchFamily="18" charset="0"/>
                      </a:rPr>
                      <m:t>hidden</m:t>
                    </m:r>
                    <m:r>
                      <m:rPr>
                        <m:nor/>
                      </m:rPr>
                      <a:rPr lang="en-US" sz="1800">
                        <a:latin typeface="Times New Roman" panose="02020603050405020304" pitchFamily="18" charset="0"/>
                        <a:cs typeface="Times New Roman" panose="02020603050405020304" pitchFamily="18" charset="0"/>
                      </a:rPr>
                      <m:t> </m:t>
                    </m:r>
                    <m:r>
                      <m:rPr>
                        <m:nor/>
                      </m:rPr>
                      <a:rPr lang="en-US" sz="1800">
                        <a:latin typeface="Times New Roman" panose="02020603050405020304" pitchFamily="18" charset="0"/>
                        <a:cs typeface="Times New Roman" panose="02020603050405020304" pitchFamily="18" charset="0"/>
                      </a:rPr>
                      <m:t>state</m:t>
                    </m:r>
                    <m:r>
                      <m:rPr>
                        <m:nor/>
                      </m:rPr>
                      <a:rPr lang="en-US" sz="1800">
                        <a:latin typeface="Times New Roman" panose="02020603050405020304" pitchFamily="18" charset="0"/>
                        <a:cs typeface="Times New Roman" panose="02020603050405020304" pitchFamily="18" charset="0"/>
                      </a:rPr>
                      <m:t> </m:t>
                    </m:r>
                    <m:r>
                      <m:rPr>
                        <m:nor/>
                      </m:rPr>
                      <a:rPr lang="en-US" sz="1800">
                        <a:latin typeface="Times New Roman" panose="02020603050405020304" pitchFamily="18" charset="0"/>
                        <a:cs typeface="Times New Roman" panose="02020603050405020304" pitchFamily="18" charset="0"/>
                      </a:rPr>
                      <m:t>from</m:t>
                    </m:r>
                    <m:r>
                      <m:rPr>
                        <m:nor/>
                      </m:rPr>
                      <a:rPr lang="en-US" sz="1800">
                        <a:latin typeface="Times New Roman" panose="02020603050405020304" pitchFamily="18" charset="0"/>
                        <a:cs typeface="Times New Roman" panose="02020603050405020304" pitchFamily="18" charset="0"/>
                      </a:rPr>
                      <m:t> </m:t>
                    </m:r>
                    <m:r>
                      <m:rPr>
                        <m:nor/>
                      </m:rPr>
                      <a:rPr lang="en-US" sz="1800">
                        <a:latin typeface="Times New Roman" panose="02020603050405020304" pitchFamily="18" charset="0"/>
                        <a:cs typeface="Times New Roman" panose="02020603050405020304" pitchFamily="18" charset="0"/>
                      </a:rPr>
                      <m:t>the</m:t>
                    </m:r>
                    <m:r>
                      <m:rPr>
                        <m:nor/>
                      </m:rPr>
                      <a:rPr lang="en-US" sz="1800">
                        <a:latin typeface="Times New Roman" panose="02020603050405020304" pitchFamily="18" charset="0"/>
                        <a:cs typeface="Times New Roman" panose="02020603050405020304" pitchFamily="18" charset="0"/>
                      </a:rPr>
                      <m:t> </m:t>
                    </m:r>
                    <m:r>
                      <m:rPr>
                        <m:nor/>
                      </m:rPr>
                      <a:rPr lang="en-US" sz="1800">
                        <a:latin typeface="Times New Roman" panose="02020603050405020304" pitchFamily="18" charset="0"/>
                        <a:cs typeface="Times New Roman" panose="02020603050405020304" pitchFamily="18" charset="0"/>
                      </a:rPr>
                      <m:t>last</m:t>
                    </m:r>
                    <m:r>
                      <m:rPr>
                        <m:nor/>
                      </m:rPr>
                      <a:rPr lang="en-US" sz="1800">
                        <a:latin typeface="Times New Roman" panose="02020603050405020304" pitchFamily="18" charset="0"/>
                        <a:cs typeface="Times New Roman" panose="02020603050405020304" pitchFamily="18" charset="0"/>
                      </a:rPr>
                      <m:t> </m:t>
                    </m:r>
                    <m:r>
                      <m:rPr>
                        <m:nor/>
                      </m:rPr>
                      <a:rPr lang="en-US" sz="1800">
                        <a:latin typeface="Times New Roman" panose="02020603050405020304" pitchFamily="18" charset="0"/>
                        <a:cs typeface="Times New Roman" panose="02020603050405020304" pitchFamily="18" charset="0"/>
                      </a:rPr>
                      <m:t>transformer</m:t>
                    </m:r>
                    <m:r>
                      <m:rPr>
                        <m:nor/>
                      </m:rPr>
                      <a:rPr lang="en-US" sz="1800">
                        <a:latin typeface="Times New Roman" panose="02020603050405020304" pitchFamily="18" charset="0"/>
                        <a:cs typeface="Times New Roman" panose="02020603050405020304" pitchFamily="18" charset="0"/>
                      </a:rPr>
                      <m:t> </m:t>
                    </m:r>
                    <m:r>
                      <m:rPr>
                        <m:nor/>
                      </m:rPr>
                      <a:rPr lang="en-US" sz="1800">
                        <a:latin typeface="Times New Roman" panose="02020603050405020304" pitchFamily="18" charset="0"/>
                        <a:cs typeface="Times New Roman" panose="02020603050405020304" pitchFamily="18" charset="0"/>
                      </a:rPr>
                      <m:t>layer</m:t>
                    </m:r>
                    <m:r>
                      <m:rPr>
                        <m:nor/>
                      </m:rPr>
                      <a:rPr lang="en-US" sz="1800">
                        <a:latin typeface="Times New Roman" panose="02020603050405020304" pitchFamily="18" charset="0"/>
                        <a:cs typeface="Times New Roman" panose="02020603050405020304" pitchFamily="18" charset="0"/>
                      </a:rPr>
                      <m:t>.</m:t>
                    </m:r>
                  </m:oMath>
                </a14:m>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W = Output matrix</a:t>
                </a:r>
              </a:p>
              <a:p>
                <a:r>
                  <a:rPr lang="en-US" sz="1800" dirty="0">
                    <a:latin typeface="Times New Roman" panose="02020603050405020304" pitchFamily="18" charset="0"/>
                    <a:cs typeface="Times New Roman" panose="02020603050405020304" pitchFamily="18" charset="0"/>
                  </a:rPr>
                  <a:t>The sequence of tokens forms the </a:t>
                </a:r>
                <a:r>
                  <a:rPr lang="en-US" sz="1800" b="1" dirty="0">
                    <a:latin typeface="Times New Roman" panose="02020603050405020304" pitchFamily="18" charset="0"/>
                    <a:cs typeface="Times New Roman" panose="02020603050405020304" pitchFamily="18" charset="0"/>
                  </a:rPr>
                  <a:t>bug report, fixed code, or test cases</a:t>
                </a:r>
                <a:r>
                  <a:rPr lang="en-US" sz="1800" dirty="0">
                    <a:latin typeface="Times New Roman" panose="02020603050405020304" pitchFamily="18" charset="0"/>
                    <a:cs typeface="Times New Roman" panose="02020603050405020304" pitchFamily="18" charset="0"/>
                  </a:rPr>
                  <a:t>.</a:t>
                </a:r>
              </a:p>
              <a:p>
                <a:pPr marL="0" indent="0">
                  <a:lnSpc>
                    <a:spcPct val="150000"/>
                  </a:lnSpc>
                  <a:buNone/>
                </a:pPr>
                <a:endParaRPr lang="en-IN" sz="1800" b="1" dirty="0">
                  <a:latin typeface="Times New Roman" panose="02020603050405020304" pitchFamily="18" charset="0"/>
                  <a:cs typeface="Times New Roman" panose="02020603050405020304" pitchFamily="18" charset="0"/>
                </a:endParaRPr>
              </a:p>
              <a:p>
                <a:pPr lvl="1" algn="just">
                  <a:lnSpc>
                    <a:spcPct val="150000"/>
                  </a:lnSpc>
                </a:pPr>
                <a:endParaRPr lang="en-US" sz="18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DA53F56-0663-D8F0-1D72-6C308FA6403A}"/>
                  </a:ext>
                </a:extLst>
              </p:cNvPr>
              <p:cNvSpPr>
                <a:spLocks noGrp="1" noRot="1" noChangeAspect="1" noMove="1" noResize="1" noEditPoints="1" noAdjustHandles="1" noChangeArrowheads="1" noChangeShapeType="1" noTextEdit="1"/>
              </p:cNvSpPr>
              <p:nvPr>
                <p:ph idx="1"/>
              </p:nvPr>
            </p:nvSpPr>
            <p:spPr>
              <a:xfrm>
                <a:off x="629264" y="403123"/>
                <a:ext cx="10636045" cy="6204154"/>
              </a:xfrm>
              <a:blipFill>
                <a:blip r:embed="rId2"/>
                <a:stretch>
                  <a:fillRect l="-458" b="-98"/>
                </a:stretch>
              </a:blipFill>
            </p:spPr>
            <p:txBody>
              <a:bodyPr/>
              <a:lstStyle/>
              <a:p>
                <a:r>
                  <a:rPr lang="en-IN">
                    <a:noFill/>
                  </a:rPr>
                  <a:t> </a:t>
                </a:r>
              </a:p>
            </p:txBody>
          </p:sp>
        </mc:Fallback>
      </mc:AlternateContent>
    </p:spTree>
    <p:extLst>
      <p:ext uri="{BB962C8B-B14F-4D97-AF65-F5344CB8AC3E}">
        <p14:creationId xmlns:p14="http://schemas.microsoft.com/office/powerpoint/2010/main" val="3485543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35717-906B-95FE-6794-47EDCC10469C}"/>
              </a:ext>
            </a:extLst>
          </p:cNvPr>
          <p:cNvSpPr>
            <a:spLocks noGrp="1"/>
          </p:cNvSpPr>
          <p:nvPr>
            <p:ph type="title"/>
          </p:nvPr>
        </p:nvSpPr>
        <p:spPr>
          <a:xfrm>
            <a:off x="838200" y="84121"/>
            <a:ext cx="10515600" cy="736088"/>
          </a:xfrm>
        </p:spPr>
        <p:txBody>
          <a:bodyPr>
            <a:normAutofit/>
          </a:bodyPr>
          <a:lstStyle/>
          <a:p>
            <a:pPr algn="ctr"/>
            <a:r>
              <a:rPr lang="en-US" sz="2400" b="1" dirty="0">
                <a:latin typeface="Times New Roman" panose="02020603050405020304" pitchFamily="18" charset="0"/>
                <a:cs typeface="Times New Roman" panose="02020603050405020304" pitchFamily="18" charset="0"/>
              </a:rPr>
              <a:t>ALGORITHM  - </a:t>
            </a:r>
            <a:r>
              <a:rPr lang="en-US" sz="2400" dirty="0">
                <a:latin typeface="Times New Roman" panose="02020603050405020304" pitchFamily="18" charset="0"/>
                <a:cs typeface="Times New Roman" panose="02020603050405020304" pitchFamily="18" charset="0"/>
              </a:rPr>
              <a:t>Document Image Transformer(</a:t>
            </a:r>
            <a:r>
              <a:rPr lang="en-US" sz="2400" dirty="0" err="1">
                <a:latin typeface="Times New Roman" panose="02020603050405020304" pitchFamily="18" charset="0"/>
                <a:cs typeface="Times New Roman" panose="02020603050405020304" pitchFamily="18" charset="0"/>
              </a:rPr>
              <a:t>DiT</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2">
                <a:extLst>
                  <a:ext uri="{FF2B5EF4-FFF2-40B4-BE49-F238E27FC236}">
                    <a16:creationId xmlns:a16="http://schemas.microsoft.com/office/drawing/2014/main" id="{7B00F110-93B7-CAC7-1E07-2414FBD9B004}"/>
                  </a:ext>
                </a:extLst>
              </p:cNvPr>
              <p:cNvSpPr>
                <a:spLocks noGrp="1" noChangeArrowheads="1"/>
              </p:cNvSpPr>
              <p:nvPr>
                <p:ph idx="1"/>
              </p:nvPr>
            </p:nvSpPr>
            <p:spPr bwMode="auto">
              <a:xfrm>
                <a:off x="572728" y="834658"/>
                <a:ext cx="11046543" cy="53573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r>
                  <a:rPr lang="fr-FR" sz="1600" b="1" dirty="0">
                    <a:latin typeface="Times New Roman" panose="02020603050405020304" pitchFamily="18" charset="0"/>
                    <a:cs typeface="Times New Roman" panose="02020603050405020304" pitchFamily="18" charset="0"/>
                  </a:rPr>
                  <a:t>Algorithm</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DiT</a:t>
                </a:r>
                <a:r>
                  <a:rPr lang="fr-FR" sz="1600" dirty="0">
                    <a:latin typeface="Times New Roman" panose="02020603050405020304" pitchFamily="18" charset="0"/>
                    <a:cs typeface="Times New Roman" panose="02020603050405020304" pitchFamily="18" charset="0"/>
                  </a:rPr>
                  <a:t>-Base for Document Classification</a:t>
                </a:r>
              </a:p>
              <a:p>
                <a:pPr marL="0" lvl="0" indent="0" algn="just" eaLnBrk="0" fontAlgn="base" hangingPunct="0">
                  <a:lnSpc>
                    <a:spcPct val="150000"/>
                  </a:lnSpc>
                  <a:spcBef>
                    <a:spcPct val="0"/>
                  </a:spcBef>
                  <a:spcAft>
                    <a:spcPct val="0"/>
                  </a:spcAft>
                  <a:buNone/>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 like </a:t>
                </a:r>
                <a:r>
                  <a:rPr lang="en-IN" sz="1600" dirty="0">
                    <a:latin typeface="Times New Roman" panose="02020603050405020304" pitchFamily="18" charset="0"/>
                    <a:cs typeface="Times New Roman" panose="02020603050405020304" pitchFamily="18" charset="0"/>
                  </a:rPr>
                  <a:t>Advertisement, Invoice, Scientific Publication, News Article, Resume</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None/>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a:t>
                </a:r>
                <a:r>
                  <a:rPr lang="en-US" altLang="en-US" sz="1600" dirty="0">
                    <a:latin typeface="Times New Roman" panose="02020603050405020304" pitchFamily="18" charset="0"/>
                    <a:cs typeface="Times New Roman" panose="02020603050405020304" pitchFamily="18" charset="0"/>
                  </a:rPr>
                  <a:t>Predicted Class label</a:t>
                </a: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lnSpc>
                    <a:spcPct val="100000"/>
                  </a:lnSpc>
                  <a:buNone/>
                </a:pPr>
                <a:r>
                  <a:rPr lang="en-US" sz="1600" b="1" dirty="0">
                    <a:latin typeface="Times New Roman" panose="02020603050405020304" pitchFamily="18" charset="0"/>
                    <a:cs typeface="Times New Roman" panose="02020603050405020304" pitchFamily="18" charset="0"/>
                  </a:rPr>
                  <a:t>Step 1: Image Preprocessing</a:t>
                </a:r>
              </a:p>
              <a:p>
                <a:pPr algn="just">
                  <a:lnSpc>
                    <a:spcPct val="100000"/>
                  </a:lnSpc>
                </a:pPr>
                <a:r>
                  <a:rPr lang="en-US" sz="1600" dirty="0">
                    <a:latin typeface="Times New Roman" panose="02020603050405020304" pitchFamily="18" charset="0"/>
                    <a:cs typeface="Times New Roman" panose="02020603050405020304" pitchFamily="18" charset="0"/>
                  </a:rPr>
                  <a:t>The input document image is resized to a fixed resolution (e.g., 224×224) and normalized so that it can be properly processed by the transformer model</a:t>
                </a:r>
              </a:p>
              <a:p>
                <a:pPr marL="0" indent="0" algn="just">
                  <a:lnSpc>
                    <a:spcPct val="100000"/>
                  </a:lnSpc>
                  <a:buNone/>
                </a:pPr>
                <a:r>
                  <a:rPr lang="en-US" sz="1600" b="1" dirty="0">
                    <a:latin typeface="Times New Roman" panose="02020603050405020304" pitchFamily="18" charset="0"/>
                    <a:cs typeface="Times New Roman" panose="02020603050405020304" pitchFamily="18" charset="0"/>
                  </a:rPr>
                  <a:t>Step 2: </a:t>
                </a:r>
                <a:r>
                  <a:rPr lang="en-IN" sz="1600" b="1" dirty="0">
                    <a:latin typeface="Times New Roman" panose="02020603050405020304" pitchFamily="18" charset="0"/>
                    <a:cs typeface="Times New Roman" panose="02020603050405020304" pitchFamily="18" charset="0"/>
                  </a:rPr>
                  <a:t>Patch Tokenisation</a:t>
                </a:r>
              </a:p>
              <a:p>
                <a:pPr algn="just">
                  <a:lnSpc>
                    <a:spcPct val="100000"/>
                  </a:lnSpc>
                </a:pPr>
                <a:r>
                  <a:rPr lang="en-IN" sz="1600" dirty="0">
                    <a:latin typeface="Times New Roman" panose="02020603050405020304" pitchFamily="18" charset="0"/>
                    <a:cs typeface="Times New Roman" panose="02020603050405020304" pitchFamily="18" charset="0"/>
                  </a:rPr>
                  <a:t>The image is divided into small fixed-size patches, converting the 2D image into a sequence of smaller image regions.</a:t>
                </a:r>
              </a:p>
              <a:p>
                <a:pPr marL="0" indent="0" algn="just">
                  <a:lnSpc>
                    <a:spcPct val="100000"/>
                  </a:lnSpc>
                  <a:buNone/>
                </a:pPr>
                <a:r>
                  <a:rPr lang="en-IN" sz="1600" dirty="0">
                    <a:latin typeface="Times New Roman" panose="02020603050405020304" pitchFamily="18" charset="0"/>
                    <a:cs typeface="Times New Roman" panose="02020603050405020304" pitchFamily="18" charset="0"/>
                  </a:rPr>
                  <a:t>                                                                                               </a:t>
                </a:r>
                <a14:m>
                  <m:oMath xmlns:m="http://schemas.openxmlformats.org/officeDocument/2006/math">
                    <m:r>
                      <a:rPr lang="en-IN" sz="1900" i="1">
                        <a:latin typeface="Cambria Math" panose="02040503050406030204" pitchFamily="18" charset="0"/>
                      </a:rPr>
                      <m:t>𝑁</m:t>
                    </m:r>
                    <m:r>
                      <a:rPr lang="en-IN" sz="1900">
                        <a:latin typeface="Cambria Math" panose="02040503050406030204" pitchFamily="18" charset="0"/>
                      </a:rPr>
                      <m:t>=</m:t>
                    </m:r>
                    <m:f>
                      <m:fPr>
                        <m:ctrlPr>
                          <a:rPr lang="ar-AE" sz="1900" i="1">
                            <a:latin typeface="Cambria Math" panose="02040503050406030204" pitchFamily="18" charset="0"/>
                          </a:rPr>
                        </m:ctrlPr>
                      </m:fPr>
                      <m:num>
                        <m:r>
                          <a:rPr lang="ar-AE" sz="1900" i="1">
                            <a:latin typeface="Cambria Math" panose="02040503050406030204" pitchFamily="18" charset="0"/>
                          </a:rPr>
                          <m:t>𝐻</m:t>
                        </m:r>
                        <m:r>
                          <a:rPr lang="ar-AE" sz="1900">
                            <a:latin typeface="Cambria Math" panose="02040503050406030204" pitchFamily="18" charset="0"/>
                          </a:rPr>
                          <m:t>×</m:t>
                        </m:r>
                        <m:r>
                          <a:rPr lang="ar-AE" sz="1900" i="1">
                            <a:latin typeface="Cambria Math" panose="02040503050406030204" pitchFamily="18" charset="0"/>
                          </a:rPr>
                          <m:t>𝑊</m:t>
                        </m:r>
                      </m:num>
                      <m:den>
                        <m:sSup>
                          <m:sSupPr>
                            <m:ctrlPr>
                              <a:rPr lang="ar-AE" sz="1900" i="1">
                                <a:latin typeface="Cambria Math" panose="02040503050406030204" pitchFamily="18" charset="0"/>
                              </a:rPr>
                            </m:ctrlPr>
                          </m:sSupPr>
                          <m:e>
                            <m:r>
                              <a:rPr lang="ar-AE" sz="1900" i="1">
                                <a:latin typeface="Cambria Math" panose="02040503050406030204" pitchFamily="18" charset="0"/>
                              </a:rPr>
                              <m:t>𝑃</m:t>
                            </m:r>
                          </m:e>
                          <m:sup>
                            <m:r>
                              <a:rPr lang="ar-AE" sz="1900">
                                <a:latin typeface="Cambria Math" panose="02040503050406030204" pitchFamily="18" charset="0"/>
                              </a:rPr>
                              <m:t>2</m:t>
                            </m:r>
                          </m:sup>
                        </m:sSup>
                      </m:den>
                    </m:f>
                  </m:oMath>
                </a14:m>
                <a:r>
                  <a:rPr lang="en-US" sz="1900" dirty="0">
                    <a:latin typeface="Times New Roman" panose="02020603050405020304" pitchFamily="18" charset="0"/>
                    <a:cs typeface="Times New Roman" panose="02020603050405020304" pitchFamily="18" charset="0"/>
                  </a:rPr>
                  <a:t>                                                        </a:t>
                </a:r>
              </a:p>
              <a:p>
                <a:pPr lvl="1" algn="just">
                  <a:lnSpc>
                    <a:spcPct val="100000"/>
                  </a:lnSpc>
                </a:pPr>
                <a14:m>
                  <m:oMath xmlns:m="http://schemas.openxmlformats.org/officeDocument/2006/math">
                    <m:r>
                      <a:rPr lang="en-US" sz="1600" i="1">
                        <a:latin typeface="Cambria Math" panose="02040503050406030204" pitchFamily="18" charset="0"/>
                      </a:rPr>
                      <m:t>𝑃</m:t>
                    </m:r>
                  </m:oMath>
                </a14:m>
                <a:r>
                  <a:rPr lang="en-US" sz="1600" dirty="0">
                    <a:latin typeface="Times New Roman" panose="02020603050405020304" pitchFamily="18" charset="0"/>
                    <a:cs typeface="Times New Roman" panose="02020603050405020304" pitchFamily="18" charset="0"/>
                  </a:rPr>
                  <a:t>= patch size</a:t>
                </a:r>
              </a:p>
              <a:p>
                <a:pPr lvl="1" algn="just">
                  <a:lnSpc>
                    <a:spcPct val="100000"/>
                  </a:lnSpc>
                </a:pPr>
                <a14:m>
                  <m:oMath xmlns:m="http://schemas.openxmlformats.org/officeDocument/2006/math">
                    <m:r>
                      <a:rPr lang="en-US" sz="1600" i="1">
                        <a:latin typeface="Cambria Math" panose="02040503050406030204" pitchFamily="18" charset="0"/>
                      </a:rPr>
                      <m:t>𝑁</m:t>
                    </m:r>
                  </m:oMath>
                </a14:m>
                <a:r>
                  <a:rPr lang="en-US" sz="1600" dirty="0">
                    <a:latin typeface="Times New Roman" panose="02020603050405020304" pitchFamily="18" charset="0"/>
                    <a:cs typeface="Times New Roman" panose="02020603050405020304" pitchFamily="18" charset="0"/>
                  </a:rPr>
                  <a:t>= total number of patches.</a:t>
                </a:r>
                <a:endParaRPr lang="en-IN" sz="1600" dirty="0">
                  <a:latin typeface="Times New Roman" panose="02020603050405020304" pitchFamily="18" charset="0"/>
                  <a:cs typeface="Times New Roman" panose="02020603050405020304" pitchFamily="18" charset="0"/>
                </a:endParaRPr>
              </a:p>
              <a:p>
                <a:pPr marL="0" indent="0" algn="just">
                  <a:lnSpc>
                    <a:spcPct val="100000"/>
                  </a:lnSpc>
                  <a:buNone/>
                </a:pPr>
                <a:r>
                  <a:rPr lang="en-US" sz="1600" b="1" dirty="0">
                    <a:latin typeface="Times New Roman" panose="02020603050405020304" pitchFamily="18" charset="0"/>
                    <a:cs typeface="Times New Roman" panose="02020603050405020304" pitchFamily="18" charset="0"/>
                  </a:rPr>
                  <a:t>Step 3: Patch Embedding with Positional Encoding </a:t>
                </a:r>
              </a:p>
              <a:p>
                <a:pPr>
                  <a:lnSpc>
                    <a:spcPct val="100000"/>
                  </a:lnSpc>
                </a:pPr>
                <a:r>
                  <a:rPr lang="en-IN" sz="1600" dirty="0">
                    <a:latin typeface="Times New Roman" panose="02020603050405020304" pitchFamily="18" charset="0"/>
                    <a:cs typeface="Times New Roman" panose="02020603050405020304" pitchFamily="18" charset="0"/>
                  </a:rPr>
                  <a:t>Each patch is flattened and projected into a dense vector representation (embedding) using a learnable linear layer, converting image patches into tokens.</a:t>
                </a:r>
                <a:endParaRPr lang="en-IN" sz="1800" dirty="0">
                  <a:latin typeface="Times New Roman" panose="02020603050405020304" pitchFamily="18" charset="0"/>
                  <a:cs typeface="Times New Roman" panose="020206030504050203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𝑧</m:t>
                          </m:r>
                        </m:e>
                        <m:sub>
                          <m:r>
                            <a:rPr lang="ar-AE" sz="1900" i="1">
                              <a:latin typeface="Cambria Math" panose="02040503050406030204" pitchFamily="18" charset="0"/>
                            </a:rPr>
                            <m:t>𝑖</m:t>
                          </m:r>
                        </m:sub>
                      </m:sSub>
                      <m:r>
                        <a:rPr lang="ar-AE"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𝑊</m:t>
                          </m:r>
                        </m:e>
                        <m:sub>
                          <m:r>
                            <a:rPr lang="ar-AE" sz="1900" i="1">
                              <a:latin typeface="Cambria Math" panose="02040503050406030204" pitchFamily="18" charset="0"/>
                            </a:rPr>
                            <m:t>𝑒</m:t>
                          </m:r>
                        </m:sub>
                      </m:sSub>
                      <m:sSub>
                        <m:sSubPr>
                          <m:ctrlPr>
                            <a:rPr lang="ar-AE" sz="1900" i="1">
                              <a:latin typeface="Cambria Math" panose="02040503050406030204" pitchFamily="18" charset="0"/>
                            </a:rPr>
                          </m:ctrlPr>
                        </m:sSubPr>
                        <m:e>
                          <m:r>
                            <a:rPr lang="ar-AE" sz="1900" i="1">
                              <a:latin typeface="Cambria Math" panose="02040503050406030204" pitchFamily="18" charset="0"/>
                            </a:rPr>
                            <m:t>𝑥</m:t>
                          </m:r>
                        </m:e>
                        <m:sub>
                          <m:r>
                            <a:rPr lang="ar-AE" sz="1900" i="1">
                              <a:latin typeface="Cambria Math" panose="02040503050406030204" pitchFamily="18" charset="0"/>
                            </a:rPr>
                            <m:t>𝑖</m:t>
                          </m:r>
                        </m:sub>
                      </m:sSub>
                    </m:oMath>
                  </m:oMathPara>
                </a14:m>
                <a:endParaRPr lang="ar-AE" sz="1900" dirty="0">
                  <a:latin typeface="Times New Roman" panose="02020603050405020304" pitchFamily="18" charset="0"/>
                  <a:cs typeface="Times New Roman" panose="02020603050405020304" pitchFamily="18" charset="0"/>
                </a:endParaRPr>
              </a:p>
            </p:txBody>
          </p:sp>
        </mc:Choice>
        <mc:Fallback xmlns="">
          <p:sp>
            <p:nvSpPr>
              <p:cNvPr id="7" name="Rectangle 2">
                <a:extLst>
                  <a:ext uri="{FF2B5EF4-FFF2-40B4-BE49-F238E27FC236}">
                    <a16:creationId xmlns:a16="http://schemas.microsoft.com/office/drawing/2014/main" id="{7B00F110-93B7-CAC7-1E07-2414FBD9B004}"/>
                  </a:ext>
                </a:extLst>
              </p:cNvPr>
              <p:cNvSpPr>
                <a:spLocks noGrp="1" noRot="1" noChangeAspect="1" noMove="1" noResize="1" noEditPoints="1" noAdjustHandles="1" noChangeArrowheads="1" noChangeShapeType="1" noTextEdit="1"/>
              </p:cNvSpPr>
              <p:nvPr>
                <p:ph idx="1"/>
              </p:nvPr>
            </p:nvSpPr>
            <p:spPr bwMode="auto">
              <a:xfrm>
                <a:off x="572728" y="834658"/>
                <a:ext cx="11046543" cy="5357300"/>
              </a:xfrm>
              <a:prstGeom prst="rect">
                <a:avLst/>
              </a:prstGeom>
              <a:blipFill>
                <a:blip r:embed="rId2"/>
                <a:stretch>
                  <a:fillRect l="-331" r="-27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1401429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0D53D7-88B4-C099-2BFC-5B43A7313332}"/>
                  </a:ext>
                </a:extLst>
              </p:cNvPr>
              <p:cNvSpPr>
                <a:spLocks noGrp="1"/>
              </p:cNvSpPr>
              <p:nvPr>
                <p:ph idx="1"/>
              </p:nvPr>
            </p:nvSpPr>
            <p:spPr>
              <a:xfrm>
                <a:off x="609600" y="383458"/>
                <a:ext cx="10805652" cy="6086167"/>
              </a:xfrm>
            </p:spPr>
            <p:txBody>
              <a:bodyPr>
                <a:noAutofit/>
              </a:bodyPr>
              <a:lstStyle/>
              <a:p>
                <a:pPr algn="just">
                  <a:lnSpc>
                    <a:spcPct val="100000"/>
                  </a:lnSpc>
                </a:pPr>
                <a:r>
                  <a:rPr lang="en-US" sz="1600" dirty="0">
                    <a:latin typeface="Times New Roman" panose="02020603050405020304" pitchFamily="18" charset="0"/>
                    <a:cs typeface="Times New Roman" panose="02020603050405020304" pitchFamily="18" charset="0"/>
                  </a:rPr>
                  <a:t>Positional embeddings are added to each patch embedding to preserve spatial layout information of the document. </a:t>
                </a:r>
              </a:p>
              <a:p>
                <a:pPr marL="0" indent="0" algn="just">
                  <a:lnSpc>
                    <a:spcPct val="100000"/>
                  </a:lnSpc>
                  <a:buNone/>
                </a:pPr>
                <a:r>
                  <a:rPr lang="en-IN" sz="1600" dirty="0">
                    <a:latin typeface="Times New Roman" panose="02020603050405020304" pitchFamily="18" charset="0"/>
                    <a:cs typeface="Times New Roman" panose="02020603050405020304" pitchFamily="18" charset="0"/>
                  </a:rPr>
                  <a:t>		                                      Z=[</a:t>
                </a:r>
                <a14:m>
                  <m:oMath xmlns:m="http://schemas.openxmlformats.org/officeDocument/2006/math">
                    <m:sSub>
                      <m:sSubPr>
                        <m:ctrlPr>
                          <a:rPr lang="en-IN" sz="1600" b="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𝑍</m:t>
                        </m:r>
                      </m:e>
                      <m:sub>
                        <m:r>
                          <a:rPr lang="en-IN" sz="1600" b="0" i="1" smtClean="0">
                            <a:latin typeface="Cambria Math" panose="02040503050406030204" pitchFamily="18" charset="0"/>
                            <a:cs typeface="Times New Roman" panose="02020603050405020304" pitchFamily="18" charset="0"/>
                          </a:rPr>
                          <m:t>1</m:t>
                        </m:r>
                      </m:sub>
                    </m:sSub>
                    <m:r>
                      <a:rPr lang="en-IN" sz="1600" b="0" i="1" smtClean="0">
                        <a:latin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𝑍</m:t>
                        </m:r>
                      </m:e>
                      <m:sub>
                        <m:r>
                          <a:rPr lang="en-IN" sz="1600" b="0" i="1" smtClean="0">
                            <a:latin typeface="Cambria Math" panose="02040503050406030204" pitchFamily="18" charset="0"/>
                            <a:cs typeface="Times New Roman" panose="02020603050405020304" pitchFamily="18" charset="0"/>
                          </a:rPr>
                          <m:t>2</m:t>
                        </m:r>
                      </m:sub>
                    </m:sSub>
                    <m:r>
                      <a:rPr lang="en-IN" sz="1600" b="0" i="1" smtClean="0">
                        <a:latin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𝑍</m:t>
                        </m:r>
                      </m:e>
                      <m:sub>
                        <m:r>
                          <a:rPr lang="en-IN" sz="1600" b="0" i="1" smtClean="0">
                            <a:latin typeface="Cambria Math" panose="02040503050406030204" pitchFamily="18" charset="0"/>
                            <a:cs typeface="Times New Roman" panose="02020603050405020304" pitchFamily="18" charset="0"/>
                          </a:rPr>
                          <m:t>𝑁</m:t>
                        </m:r>
                      </m:sub>
                    </m:sSub>
                  </m:oMath>
                </a14:m>
                <a:r>
                  <a:rPr lang="en-I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𝐸</m:t>
                        </m:r>
                      </m:e>
                      <m:sub>
                        <m:r>
                          <a:rPr lang="en-IN" sz="1600" b="0" i="1" smtClean="0">
                            <a:latin typeface="Cambria Math" panose="02040503050406030204" pitchFamily="18" charset="0"/>
                            <a:cs typeface="Times New Roman" panose="02020603050405020304" pitchFamily="18" charset="0"/>
                          </a:rPr>
                          <m:t>𝑝𝑜𝑠</m:t>
                        </m:r>
                      </m:sub>
                    </m:sSub>
                  </m:oMath>
                </a14:m>
                <a:r>
                  <a:rPr lang="en-IN" sz="1600" dirty="0">
                    <a:latin typeface="Times New Roman" panose="02020603050405020304" pitchFamily="18" charset="0"/>
                    <a:cs typeface="Times New Roman" panose="02020603050405020304" pitchFamily="18" charset="0"/>
                  </a:rPr>
                  <a:t>                                                       </a:t>
                </a:r>
              </a:p>
              <a:p>
                <a:pPr lvl="1" algn="just">
                  <a:lnSpc>
                    <a:spcPct val="100000"/>
                  </a:lnSpc>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𝑥</m:t>
                        </m:r>
                      </m:e>
                      <m:sub>
                        <m:r>
                          <a:rPr lang="ar-AE" sz="1600" i="1">
                            <a:latin typeface="Cambria Math" panose="02040503050406030204" pitchFamily="18" charset="0"/>
                          </a:rPr>
                          <m:t>𝑖</m:t>
                        </m:r>
                      </m:sub>
                    </m:sSub>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flattened patch</a:t>
                </a:r>
              </a:p>
              <a:p>
                <a:pPr lvl="1" algn="just">
                  <a:lnSpc>
                    <a:spcPct val="100000"/>
                  </a:lnSpc>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𝑊</m:t>
                        </m:r>
                      </m:e>
                      <m:sub>
                        <m:r>
                          <a:rPr lang="ar-AE" sz="1600" i="1">
                            <a:latin typeface="Cambria Math" panose="02040503050406030204" pitchFamily="18" charset="0"/>
                          </a:rPr>
                          <m:t>𝑒</m:t>
                        </m:r>
                      </m:sub>
                    </m:sSub>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learnable projection matrix</a:t>
                </a:r>
                <a:endParaRPr lang="ar-AE" sz="1600" dirty="0">
                  <a:latin typeface="Times New Roman" panose="02020603050405020304" pitchFamily="18" charset="0"/>
                  <a:cs typeface="Times New Roman" panose="02020603050405020304" pitchFamily="18" charset="0"/>
                </a:endParaRPr>
              </a:p>
              <a:p>
                <a:pPr lvl="1" algn="just">
                  <a:lnSpc>
                    <a:spcPct val="100000"/>
                  </a:lnSpc>
                </a:pPr>
                <a14:m>
                  <m:oMath xmlns:m="http://schemas.openxmlformats.org/officeDocument/2006/math">
                    <m:r>
                      <a:rPr lang="ar-AE" sz="1600" i="1">
                        <a:latin typeface="Cambria Math" panose="02040503050406030204" pitchFamily="18" charset="0"/>
                      </a:rPr>
                      <m:t>𝐷</m:t>
                    </m:r>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embedding dimension</a:t>
                </a:r>
              </a:p>
              <a:p>
                <a:pPr lvl="1" algn="just">
                  <a:lnSpc>
                    <a:spcPct val="100000"/>
                  </a:lnSpc>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𝐸</m:t>
                        </m:r>
                      </m:e>
                      <m:sub>
                        <m:r>
                          <a:rPr lang="ar-AE" sz="1600" i="1">
                            <a:latin typeface="Cambria Math" panose="02040503050406030204" pitchFamily="18" charset="0"/>
                          </a:rPr>
                          <m:t>𝑝𝑜𝑠</m:t>
                        </m:r>
                      </m:sub>
                    </m:sSub>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positional embeddings</a:t>
                </a:r>
              </a:p>
              <a:p>
                <a:pPr marL="0" indent="0" algn="just">
                  <a:lnSpc>
                    <a:spcPct val="100000"/>
                  </a:lnSpc>
                  <a:buNone/>
                </a:pPr>
                <a:r>
                  <a:rPr lang="en-IN" sz="1600" b="1" dirty="0">
                    <a:latin typeface="Times New Roman" panose="02020603050405020304" pitchFamily="18" charset="0"/>
                    <a:cs typeface="Times New Roman" panose="02020603050405020304" pitchFamily="18" charset="0"/>
                  </a:rPr>
                  <a:t>Step 4: Transformer Encoder</a:t>
                </a:r>
              </a:p>
              <a:p>
                <a:pPr algn="just">
                  <a:lnSpc>
                    <a:spcPct val="100000"/>
                  </a:lnSpc>
                </a:pPr>
                <a:r>
                  <a:rPr lang="en-IN" sz="1600" dirty="0">
                    <a:latin typeface="Times New Roman" panose="02020603050405020304" pitchFamily="18" charset="0"/>
                    <a:cs typeface="Times New Roman" panose="02020603050405020304" pitchFamily="18" charset="0"/>
                  </a:rPr>
                  <a:t>The embedded patches pass through multiple transformer layers where self-attention captures relationships between different document regions. The [CLS] token output is used as the global representation of the entire document image.</a:t>
                </a:r>
              </a:p>
              <a:p>
                <a:pPr marL="0" indent="0" algn="just">
                  <a:lnSpc>
                    <a:spcPct val="100000"/>
                  </a:lnSpc>
                  <a:buNone/>
                </a:pPr>
                <a:r>
                  <a:rPr lang="en-IN" sz="1600" b="0" dirty="0">
                    <a:cs typeface="Times New Roman" panose="02020603050405020304" pitchFamily="18" charset="0"/>
                  </a:rPr>
                  <a:t>                                                                                 </a:t>
                </a:r>
                <a14:m>
                  <m:oMath xmlns:m="http://schemas.openxmlformats.org/officeDocument/2006/math">
                    <m:r>
                      <m:rPr>
                        <m:nor/>
                      </m:rPr>
                      <a:rPr lang="en-IN" sz="1600" b="0">
                        <a:latin typeface="Times New Roman" panose="02020603050405020304" pitchFamily="18" charset="0"/>
                        <a:cs typeface="Times New Roman" panose="02020603050405020304" pitchFamily="18" charset="0"/>
                      </a:rPr>
                      <m:t>Attention</m:t>
                    </m:r>
                    <m:d>
                      <m:dPr>
                        <m:sepChr m:val=","/>
                        <m:ctrlPr>
                          <a:rPr lang="ar-AE" sz="1600" i="1">
                            <a:latin typeface="Cambria Math" panose="02040503050406030204" pitchFamily="18" charset="0"/>
                          </a:rPr>
                        </m:ctrlPr>
                      </m:dPr>
                      <m:e>
                        <m:r>
                          <a:rPr lang="ar-AE" sz="1600" b="0" i="1">
                            <a:latin typeface="Cambria Math" panose="02040503050406030204" pitchFamily="18" charset="0"/>
                          </a:rPr>
                          <m:t>𝑄</m:t>
                        </m:r>
                      </m:e>
                      <m:e>
                        <m:r>
                          <a:rPr lang="ar-AE" sz="1600" b="0" i="1">
                            <a:latin typeface="Cambria Math" panose="02040503050406030204" pitchFamily="18" charset="0"/>
                          </a:rPr>
                          <m:t>𝐾</m:t>
                        </m:r>
                      </m:e>
                      <m:e>
                        <m:r>
                          <a:rPr lang="ar-AE" sz="1600" b="0" i="1">
                            <a:latin typeface="Cambria Math" panose="02040503050406030204" pitchFamily="18" charset="0"/>
                          </a:rPr>
                          <m:t>𝑉</m:t>
                        </m:r>
                      </m:e>
                    </m:d>
                    <m:r>
                      <a:rPr lang="ar-AE" sz="1600">
                        <a:latin typeface="Cambria Math" panose="02040503050406030204" pitchFamily="18" charset="0"/>
                      </a:rPr>
                      <m:t>=</m:t>
                    </m:r>
                    <m:r>
                      <m:rPr>
                        <m:nor/>
                      </m:rPr>
                      <a:rPr lang="en-IN" sz="1600" i="1">
                        <a:latin typeface="Times New Roman" panose="02020603050405020304" pitchFamily="18" charset="0"/>
                        <a:cs typeface="Times New Roman" panose="02020603050405020304" pitchFamily="18" charset="0"/>
                      </a:rPr>
                      <m:t>Softmax</m:t>
                    </m:r>
                    <m:d>
                      <m:dPr>
                        <m:ctrlPr>
                          <a:rPr lang="ar-AE" sz="1600" i="1">
                            <a:latin typeface="Cambria Math" panose="02040503050406030204" pitchFamily="18" charset="0"/>
                          </a:rPr>
                        </m:ctrlPr>
                      </m:dPr>
                      <m:e>
                        <m:f>
                          <m:fPr>
                            <m:ctrlPr>
                              <a:rPr lang="ar-AE" sz="1600" i="1">
                                <a:latin typeface="Cambria Math" panose="02040503050406030204" pitchFamily="18" charset="0"/>
                              </a:rPr>
                            </m:ctrlPr>
                          </m:fPr>
                          <m:num>
                            <m:r>
                              <a:rPr lang="ar-AE" sz="1600" i="1">
                                <a:latin typeface="Cambria Math" panose="02040503050406030204" pitchFamily="18" charset="0"/>
                              </a:rPr>
                              <m:t>𝑄</m:t>
                            </m:r>
                            <m:sSup>
                              <m:sSupPr>
                                <m:ctrlPr>
                                  <a:rPr lang="ar-AE" sz="1600" i="1">
                                    <a:latin typeface="Cambria Math" panose="02040503050406030204" pitchFamily="18" charset="0"/>
                                  </a:rPr>
                                </m:ctrlPr>
                              </m:sSupPr>
                              <m:e>
                                <m:r>
                                  <a:rPr lang="ar-AE" sz="1600" i="1">
                                    <a:latin typeface="Cambria Math" panose="02040503050406030204" pitchFamily="18" charset="0"/>
                                  </a:rPr>
                                  <m:t>𝐾</m:t>
                                </m:r>
                              </m:e>
                              <m:sup>
                                <m:r>
                                  <a:rPr lang="ar-AE" sz="1600" i="1">
                                    <a:latin typeface="Cambria Math" panose="02040503050406030204" pitchFamily="18" charset="0"/>
                                  </a:rPr>
                                  <m:t>𝑇</m:t>
                                </m:r>
                              </m:sup>
                            </m:sSup>
                          </m:num>
                          <m:den>
                            <m:rad>
                              <m:radPr>
                                <m:degHide m:val="on"/>
                                <m:ctrlPr>
                                  <a:rPr lang="ar-AE" sz="1600" i="1">
                                    <a:latin typeface="Cambria Math" panose="02040503050406030204" pitchFamily="18" charset="0"/>
                                  </a:rPr>
                                </m:ctrlPr>
                              </m:radPr>
                              <m:deg/>
                              <m:e>
                                <m:sSub>
                                  <m:sSubPr>
                                    <m:ctrlPr>
                                      <a:rPr lang="ar-AE" sz="1600" i="1">
                                        <a:latin typeface="Cambria Math" panose="02040503050406030204" pitchFamily="18" charset="0"/>
                                      </a:rPr>
                                    </m:ctrlPr>
                                  </m:sSubPr>
                                  <m:e>
                                    <m:r>
                                      <a:rPr lang="ar-AE" sz="1600" i="1">
                                        <a:latin typeface="Cambria Math" panose="02040503050406030204" pitchFamily="18" charset="0"/>
                                      </a:rPr>
                                      <m:t>𝑑</m:t>
                                    </m:r>
                                  </m:e>
                                  <m:sub>
                                    <m:r>
                                      <a:rPr lang="ar-AE" sz="1600" i="1">
                                        <a:latin typeface="Cambria Math" panose="02040503050406030204" pitchFamily="18" charset="0"/>
                                      </a:rPr>
                                      <m:t>𝑘</m:t>
                                    </m:r>
                                  </m:sub>
                                </m:sSub>
                              </m:e>
                            </m:rad>
                          </m:den>
                        </m:f>
                      </m:e>
                    </m:d>
                    <m:r>
                      <a:rPr lang="ar-AE" sz="1600" i="1">
                        <a:latin typeface="Cambria Math" panose="02040503050406030204" pitchFamily="18" charset="0"/>
                      </a:rPr>
                      <m:t>𝑉</m:t>
                    </m:r>
                  </m:oMath>
                </a14:m>
                <a:r>
                  <a:rPr lang="en-US" sz="1600" b="0" dirty="0">
                    <a:latin typeface="Times New Roman" panose="02020603050405020304" pitchFamily="18" charset="0"/>
                    <a:cs typeface="Times New Roman" panose="02020603050405020304" pitchFamily="18" charset="0"/>
                  </a:rPr>
                  <a:t>                                    </a:t>
                </a:r>
                <a:endParaRPr lang="ar-AE" sz="1600" b="0" dirty="0">
                  <a:latin typeface="Times New Roman" panose="02020603050405020304" pitchFamily="18" charset="0"/>
                  <a:cs typeface="Times New Roman" panose="02020603050405020304" pitchFamily="18" charset="0"/>
                </a:endParaRPr>
              </a:p>
              <a:p>
                <a:pPr lvl="1" algn="just">
                  <a:lnSpc>
                    <a:spcPct val="100000"/>
                  </a:lnSpc>
                </a:pPr>
                <a14:m>
                  <m:oMath xmlns:m="http://schemas.openxmlformats.org/officeDocument/2006/math">
                    <m:r>
                      <a:rPr lang="en-IN" sz="1600" i="1">
                        <a:latin typeface="Cambria Math" panose="02040503050406030204" pitchFamily="18" charset="0"/>
                      </a:rPr>
                      <m:t>𝑄</m:t>
                    </m:r>
                    <m:r>
                      <a:rPr lang="en-IN" sz="1600">
                        <a:latin typeface="Cambria Math" panose="02040503050406030204" pitchFamily="18" charset="0"/>
                      </a:rPr>
                      <m:t>,</m:t>
                    </m:r>
                    <m:r>
                      <a:rPr lang="en-IN" sz="1600" i="1">
                        <a:latin typeface="Cambria Math" panose="02040503050406030204" pitchFamily="18" charset="0"/>
                      </a:rPr>
                      <m:t>𝐾</m:t>
                    </m:r>
                    <m:r>
                      <a:rPr lang="en-IN" sz="1600">
                        <a:latin typeface="Cambria Math" panose="02040503050406030204" pitchFamily="18" charset="0"/>
                      </a:rPr>
                      <m:t>,</m:t>
                    </m:r>
                    <m:r>
                      <a:rPr lang="en-IN" sz="1600" i="1">
                        <a:latin typeface="Cambria Math" panose="02040503050406030204" pitchFamily="18" charset="0"/>
                      </a:rPr>
                      <m:t>𝑉</m:t>
                    </m:r>
                  </m:oMath>
                </a14:m>
                <a:r>
                  <a:rPr lang="en-IN" sz="1600" dirty="0">
                    <a:latin typeface="Times New Roman" panose="02020603050405020304" pitchFamily="18" charset="0"/>
                    <a:cs typeface="Times New Roman" panose="02020603050405020304" pitchFamily="18" charset="0"/>
                  </a:rPr>
                  <a:t>= Query, Key, Value matrices</a:t>
                </a:r>
              </a:p>
              <a:p>
                <a:pPr lvl="1" algn="just">
                  <a:lnSpc>
                    <a:spcPct val="100000"/>
                  </a:lnSpc>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𝑑</m:t>
                        </m:r>
                      </m:e>
                      <m:sub>
                        <m:r>
                          <a:rPr lang="ar-AE" sz="1600" i="1">
                            <a:latin typeface="Cambria Math" panose="02040503050406030204" pitchFamily="18" charset="0"/>
                          </a:rPr>
                          <m:t>𝑘</m:t>
                        </m:r>
                      </m:sub>
                    </m:sSub>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dimension of key vectors</a:t>
                </a:r>
              </a:p>
              <a:p>
                <a:pPr marL="0" indent="0">
                  <a:buNone/>
                </a:pPr>
                <a:r>
                  <a:rPr lang="en-IN" sz="1600" b="1" dirty="0">
                    <a:latin typeface="Times New Roman" panose="02020603050405020304" pitchFamily="18" charset="0"/>
                    <a:cs typeface="Times New Roman" panose="02020603050405020304" pitchFamily="18" charset="0"/>
                  </a:rPr>
                  <a:t>Step 5: Classification</a:t>
                </a:r>
              </a:p>
              <a:p>
                <a:pPr>
                  <a:lnSpc>
                    <a:spcPct val="100000"/>
                  </a:lnSpc>
                </a:pPr>
                <a:r>
                  <a:rPr lang="en-IN" sz="1600" dirty="0">
                    <a:latin typeface="Times New Roman" panose="02020603050405020304" pitchFamily="18" charset="0"/>
                    <a:cs typeface="Times New Roman" panose="02020603050405020304" pitchFamily="18" charset="0"/>
                  </a:rPr>
                  <a:t>The global representation is passed through a linear layer followed by </a:t>
                </a:r>
                <a:r>
                  <a:rPr lang="en-IN" sz="1600" dirty="0" err="1">
                    <a:latin typeface="Times New Roman" panose="02020603050405020304" pitchFamily="18" charset="0"/>
                    <a:cs typeface="Times New Roman" panose="02020603050405020304" pitchFamily="18" charset="0"/>
                  </a:rPr>
                  <a:t>Softmax</a:t>
                </a:r>
                <a:r>
                  <a:rPr lang="en-IN" sz="1600" dirty="0">
                    <a:latin typeface="Times New Roman" panose="02020603050405020304" pitchFamily="18" charset="0"/>
                    <a:cs typeface="Times New Roman" panose="02020603050405020304" pitchFamily="18" charset="0"/>
                  </a:rPr>
                  <a:t> to predict the document class.</a:t>
                </a:r>
              </a:p>
              <a:p>
                <a:pPr marL="0" indent="0">
                  <a:lnSpc>
                    <a:spcPct val="150000"/>
                  </a:lnSpc>
                  <a:buNone/>
                </a:pPr>
                <a:r>
                  <a:rPr lang="en-US" sz="1600" dirty="0"/>
                  <a:t>                                                                                        </a:t>
                </a:r>
                <a14:m>
                  <m:oMath xmlns:m="http://schemas.openxmlformats.org/officeDocument/2006/math">
                    <m:acc>
                      <m:accPr>
                        <m:chr m:val="̂"/>
                        <m:ctrlPr>
                          <a:rPr lang="ar-AE" sz="1600" i="1">
                            <a:latin typeface="Cambria Math" panose="02040503050406030204" pitchFamily="18" charset="0"/>
                          </a:rPr>
                        </m:ctrlPr>
                      </m:accPr>
                      <m:e>
                        <m:r>
                          <a:rPr lang="ar-AE" sz="1600" i="1">
                            <a:latin typeface="Cambria Math" panose="02040503050406030204" pitchFamily="18" charset="0"/>
                          </a:rPr>
                          <m:t>𝑦</m:t>
                        </m:r>
                      </m:e>
                    </m:acc>
                    <m:r>
                      <a:rPr lang="ar-AE" sz="1600">
                        <a:latin typeface="Cambria Math" panose="02040503050406030204" pitchFamily="18" charset="0"/>
                      </a:rPr>
                      <m:t>=</m:t>
                    </m:r>
                    <m:r>
                      <m:rPr>
                        <m:nor/>
                      </m:rPr>
                      <a:rPr lang="en-IN" sz="1600" i="1">
                        <a:latin typeface="Times New Roman" panose="02020603050405020304" pitchFamily="18" charset="0"/>
                        <a:cs typeface="Times New Roman" panose="02020603050405020304" pitchFamily="18" charset="0"/>
                      </a:rPr>
                      <m:t>Softmax</m:t>
                    </m:r>
                    <m:d>
                      <m:dPr>
                        <m:ctrlPr>
                          <a:rPr lang="ar-AE" sz="1600" i="1">
                            <a:latin typeface="Cambria Math" panose="02040503050406030204" pitchFamily="18" charset="0"/>
                          </a:rPr>
                        </m:ctrlPr>
                      </m:dPr>
                      <m:e>
                        <m:r>
                          <a:rPr lang="ar-AE" sz="1600" i="1">
                            <a:latin typeface="Cambria Math" panose="02040503050406030204" pitchFamily="18" charset="0"/>
                          </a:rPr>
                          <m:t>𝑊𝑧</m:t>
                        </m:r>
                        <m:r>
                          <a:rPr lang="ar-AE" sz="1600">
                            <a:latin typeface="Cambria Math" panose="02040503050406030204" pitchFamily="18" charset="0"/>
                          </a:rPr>
                          <m:t>+</m:t>
                        </m:r>
                        <m:r>
                          <a:rPr lang="ar-AE" sz="1600" i="1">
                            <a:latin typeface="Cambria Math" panose="02040503050406030204" pitchFamily="18" charset="0"/>
                          </a:rPr>
                          <m:t>𝑏</m:t>
                        </m:r>
                      </m:e>
                    </m:d>
                  </m:oMath>
                </a14:m>
                <a:r>
                  <a:rPr lang="en-US" sz="1600" b="0" dirty="0">
                    <a:latin typeface="Times New Roman" panose="02020603050405020304" pitchFamily="18" charset="0"/>
                    <a:cs typeface="Times New Roman" panose="02020603050405020304" pitchFamily="18" charset="0"/>
                  </a:rPr>
                  <a:t>                                                     </a:t>
                </a:r>
                <a:endParaRPr lang="ar-AE" sz="1600" b="0" dirty="0">
                  <a:latin typeface="Times New Roman" panose="02020603050405020304" pitchFamily="18" charset="0"/>
                  <a:cs typeface="Times New Roman" panose="02020603050405020304" pitchFamily="18" charset="0"/>
                </a:endParaRPr>
              </a:p>
              <a:p>
                <a:pPr lvl="1"/>
                <a14:m>
                  <m:oMath xmlns:m="http://schemas.openxmlformats.org/officeDocument/2006/math">
                    <m:r>
                      <a:rPr lang="en-IN" sz="1600" i="1">
                        <a:latin typeface="Cambria Math" panose="02040503050406030204" pitchFamily="18" charset="0"/>
                      </a:rPr>
                      <m:t>𝑊</m:t>
                    </m:r>
                  </m:oMath>
                </a14:m>
                <a:r>
                  <a:rPr lang="en-IN" sz="1600" dirty="0">
                    <a:latin typeface="Times New Roman" panose="02020603050405020304" pitchFamily="18" charset="0"/>
                    <a:cs typeface="Times New Roman" panose="02020603050405020304" pitchFamily="18" charset="0"/>
                  </a:rPr>
                  <a:t>= classification weight matrix</a:t>
                </a:r>
              </a:p>
              <a:p>
                <a:pPr lvl="1"/>
                <a14:m>
                  <m:oMath xmlns:m="http://schemas.openxmlformats.org/officeDocument/2006/math">
                    <m:r>
                      <a:rPr lang="en-IN" sz="1600" i="1">
                        <a:latin typeface="Cambria Math" panose="02040503050406030204" pitchFamily="18" charset="0"/>
                      </a:rPr>
                      <m:t>𝑏</m:t>
                    </m:r>
                  </m:oMath>
                </a14:m>
                <a:r>
                  <a:rPr lang="en-IN" sz="1600" dirty="0">
                    <a:latin typeface="Times New Roman" panose="02020603050405020304" pitchFamily="18" charset="0"/>
                    <a:cs typeface="Times New Roman" panose="02020603050405020304" pitchFamily="18" charset="0"/>
                  </a:rPr>
                  <a:t>= bias</a:t>
                </a:r>
              </a:p>
              <a:p>
                <a:pPr lvl="1"/>
                <a14:m>
                  <m:oMath xmlns:m="http://schemas.openxmlformats.org/officeDocument/2006/math">
                    <m:acc>
                      <m:accPr>
                        <m:chr m:val="̂"/>
                        <m:ctrlPr>
                          <a:rPr lang="ar-AE" sz="1600" i="1">
                            <a:latin typeface="Cambria Math" panose="02040503050406030204" pitchFamily="18" charset="0"/>
                          </a:rPr>
                        </m:ctrlPr>
                      </m:accPr>
                      <m:e>
                        <m:r>
                          <a:rPr lang="ar-AE" sz="1600" i="1">
                            <a:latin typeface="Cambria Math" panose="02040503050406030204" pitchFamily="18" charset="0"/>
                          </a:rPr>
                          <m:t>𝑦</m:t>
                        </m:r>
                      </m:e>
                    </m:acc>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predicted probability</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C0D53D7-88B4-C099-2BFC-5B43A7313332}"/>
                  </a:ext>
                </a:extLst>
              </p:cNvPr>
              <p:cNvSpPr>
                <a:spLocks noGrp="1" noRot="1" noChangeAspect="1" noMove="1" noResize="1" noEditPoints="1" noAdjustHandles="1" noChangeArrowheads="1" noChangeShapeType="1" noTextEdit="1"/>
              </p:cNvSpPr>
              <p:nvPr>
                <p:ph idx="1"/>
              </p:nvPr>
            </p:nvSpPr>
            <p:spPr>
              <a:xfrm>
                <a:off x="609600" y="383458"/>
                <a:ext cx="10805652" cy="6086167"/>
              </a:xfrm>
              <a:blipFill>
                <a:blip r:embed="rId2"/>
                <a:stretch>
                  <a:fillRect l="-282" t="-301" r="-226" b="-3307"/>
                </a:stretch>
              </a:blipFill>
            </p:spPr>
            <p:txBody>
              <a:bodyPr/>
              <a:lstStyle/>
              <a:p>
                <a:r>
                  <a:rPr lang="en-IN">
                    <a:noFill/>
                  </a:rPr>
                  <a:t> </a:t>
                </a:r>
              </a:p>
            </p:txBody>
          </p:sp>
        </mc:Fallback>
      </mc:AlternateContent>
    </p:spTree>
    <p:extLst>
      <p:ext uri="{BB962C8B-B14F-4D97-AF65-F5344CB8AC3E}">
        <p14:creationId xmlns:p14="http://schemas.microsoft.com/office/powerpoint/2010/main" val="1590556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E43F-8D05-0718-5899-448175EF3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27A6A-0EC4-BAB9-312B-6BC37E6D178B}"/>
              </a:ext>
            </a:extLst>
          </p:cNvPr>
          <p:cNvSpPr>
            <a:spLocks noGrp="1"/>
          </p:cNvSpPr>
          <p:nvPr>
            <p:ph type="title"/>
          </p:nvPr>
        </p:nvSpPr>
        <p:spPr>
          <a:xfrm>
            <a:off x="838199" y="47668"/>
            <a:ext cx="10515600" cy="736088"/>
          </a:xfrm>
        </p:spPr>
        <p:txBody>
          <a:bodyPr>
            <a:normAutofit/>
          </a:bodyPr>
          <a:lstStyle/>
          <a:p>
            <a:pPr algn="ctr"/>
            <a:r>
              <a:rPr lang="en-US" sz="2400" b="1" dirty="0">
                <a:latin typeface="Times New Roman" panose="02020603050405020304" pitchFamily="18" charset="0"/>
                <a:cs typeface="Times New Roman" panose="02020603050405020304" pitchFamily="18" charset="0"/>
              </a:rPr>
              <a:t>ALGORITHM – </a:t>
            </a:r>
            <a:r>
              <a:rPr lang="en-US" sz="2400" dirty="0">
                <a:latin typeface="Times New Roman" panose="02020603050405020304" pitchFamily="18" charset="0"/>
                <a:cs typeface="Times New Roman" panose="02020603050405020304" pitchFamily="18" charset="0"/>
              </a:rPr>
              <a:t>BART and LED</a:t>
            </a:r>
            <a:endParaRPr lang="en-IN"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2">
                <a:extLst>
                  <a:ext uri="{FF2B5EF4-FFF2-40B4-BE49-F238E27FC236}">
                    <a16:creationId xmlns:a16="http://schemas.microsoft.com/office/drawing/2014/main" id="{BAF77A38-C315-DF6A-01A7-44C5E604CB11}"/>
                  </a:ext>
                </a:extLst>
              </p:cNvPr>
              <p:cNvSpPr>
                <a:spLocks noGrp="1" noChangeArrowheads="1"/>
              </p:cNvSpPr>
              <p:nvPr>
                <p:ph idx="1"/>
              </p:nvPr>
            </p:nvSpPr>
            <p:spPr bwMode="auto">
              <a:xfrm>
                <a:off x="572727" y="370053"/>
                <a:ext cx="11046543" cy="65505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00000"/>
                  </a:lnSpc>
                  <a:buNone/>
                </a:pPr>
                <a:r>
                  <a:rPr lang="en-IN" sz="1600" b="1" dirty="0">
                    <a:latin typeface="Times New Roman" panose="02020603050405020304" pitchFamily="18" charset="0"/>
                    <a:cs typeface="Times New Roman" panose="02020603050405020304" pitchFamily="18" charset="0"/>
                  </a:rPr>
                  <a:t>Algorithm: </a:t>
                </a:r>
                <a:r>
                  <a:rPr lang="en-US" sz="1600" dirty="0">
                    <a:latin typeface="Times New Roman" panose="02020603050405020304" pitchFamily="18" charset="0"/>
                    <a:cs typeface="Times New Roman" panose="02020603050405020304" pitchFamily="18" charset="0"/>
                  </a:rPr>
                  <a:t>Document Summarization</a:t>
                </a:r>
                <a:endParaRPr lang="en-IN" sz="1600" b="1" dirty="0">
                  <a:latin typeface="Times New Roman" panose="02020603050405020304" pitchFamily="18" charset="0"/>
                  <a:cs typeface="Times New Roman" panose="02020603050405020304" pitchFamily="18" charset="0"/>
                </a:endParaRPr>
              </a:p>
              <a:p>
                <a:pPr marL="0" indent="0">
                  <a:lnSpc>
                    <a:spcPct val="100000"/>
                  </a:lnSpc>
                  <a:buNone/>
                </a:pPr>
                <a:r>
                  <a:rPr lang="en-IN" sz="1600" b="1" dirty="0">
                    <a:latin typeface="Times New Roman" panose="02020603050405020304" pitchFamily="18" charset="0"/>
                    <a:cs typeface="Times New Roman" panose="02020603050405020304" pitchFamily="18" charset="0"/>
                  </a:rPr>
                  <a:t>Input:</a:t>
                </a:r>
                <a:r>
                  <a:rPr lang="en-IN" sz="1600" dirty="0">
                    <a:latin typeface="Times New Roman" panose="02020603050405020304" pitchFamily="18" charset="0"/>
                    <a:cs typeface="Times New Roman" panose="02020603050405020304" pitchFamily="18" charset="0"/>
                  </a:rPr>
                  <a:t> Documents</a:t>
                </a:r>
              </a:p>
              <a:p>
                <a:pPr marL="0" indent="0">
                  <a:lnSpc>
                    <a:spcPct val="100000"/>
                  </a:lnSpc>
                  <a:buNone/>
                </a:pPr>
                <a:r>
                  <a:rPr lang="en-IN" sz="1600" b="1" dirty="0">
                    <a:latin typeface="Times New Roman" panose="02020603050405020304" pitchFamily="18" charset="0"/>
                    <a:cs typeface="Times New Roman" panose="02020603050405020304" pitchFamily="18" charset="0"/>
                  </a:rPr>
                  <a:t>Output:</a:t>
                </a:r>
                <a:r>
                  <a:rPr lang="en-IN" sz="1600" dirty="0">
                    <a:latin typeface="Times New Roman" panose="02020603050405020304" pitchFamily="18" charset="0"/>
                    <a:cs typeface="Times New Roman" panose="02020603050405020304" pitchFamily="18" charset="0"/>
                  </a:rPr>
                  <a:t> Summary of the document</a:t>
                </a:r>
              </a:p>
              <a:p>
                <a:pPr marL="0" indent="0">
                  <a:lnSpc>
                    <a:spcPct val="100000"/>
                  </a:lnSpc>
                  <a:buNone/>
                </a:pPr>
                <a:r>
                  <a:rPr lang="en-US" sz="1600" b="1" dirty="0">
                    <a:latin typeface="Times New Roman" panose="02020603050405020304" pitchFamily="18" charset="0"/>
                    <a:cs typeface="Times New Roman" panose="02020603050405020304" pitchFamily="18" charset="0"/>
                  </a:rPr>
                  <a:t>Step 1: </a:t>
                </a:r>
                <a:r>
                  <a:rPr lang="en-IN" sz="1600" b="1" dirty="0">
                    <a:latin typeface="Times New Roman" panose="02020603050405020304" pitchFamily="18" charset="0"/>
                    <a:cs typeface="Times New Roman" panose="02020603050405020304" pitchFamily="18" charset="0"/>
                  </a:rPr>
                  <a:t>Document Chunking</a:t>
                </a:r>
              </a:p>
              <a:p>
                <a:pPr>
                  <a:lnSpc>
                    <a:spcPct val="150000"/>
                  </a:lnSpc>
                </a:pPr>
                <a:r>
                  <a:rPr lang="en-IN" sz="1600" dirty="0">
                    <a:latin typeface="Times New Roman" panose="02020603050405020304" pitchFamily="18" charset="0"/>
                    <a:cs typeface="Times New Roman" panose="02020603050405020304" pitchFamily="18" charset="0"/>
                  </a:rPr>
                  <a:t>The long input document is divided into smaller chunks to handle large text efficiently.</a:t>
                </a:r>
              </a:p>
              <a:p>
                <a:pPr marL="0" indent="0">
                  <a:lnSpc>
                    <a:spcPct val="100000"/>
                  </a:lnSpc>
                  <a:buNone/>
                </a:pPr>
                <a:r>
                  <a:rPr lang="en-IN" sz="1600" dirty="0"/>
                  <a:t>                                                                                    </a:t>
                </a:r>
                <a14:m>
                  <m:oMath xmlns:m="http://schemas.openxmlformats.org/officeDocument/2006/math">
                    <m:r>
                      <a:rPr lang="en-IN" sz="1600" i="1">
                        <a:latin typeface="Cambria Math" panose="02040503050406030204" pitchFamily="18" charset="0"/>
                      </a:rPr>
                      <m:t>𝐷</m:t>
                    </m:r>
                    <m:r>
                      <a:rPr lang="en-IN" sz="1600">
                        <a:latin typeface="Cambria Math" panose="02040503050406030204" pitchFamily="18" charset="0"/>
                      </a:rPr>
                      <m:t>=</m:t>
                    </m:r>
                    <m:d>
                      <m:dPr>
                        <m:begChr m:val="{"/>
                        <m:endChr m:val="}"/>
                        <m:sepChr m:val=","/>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𝐶</m:t>
                            </m:r>
                          </m:e>
                          <m:sub>
                            <m:r>
                              <a:rPr lang="ar-AE" sz="1600">
                                <a:latin typeface="Cambria Math" panose="02040503050406030204" pitchFamily="18" charset="0"/>
                              </a:rPr>
                              <m:t>1</m:t>
                            </m:r>
                          </m:sub>
                        </m:sSub>
                      </m:e>
                      <m:e>
                        <m:sSub>
                          <m:sSubPr>
                            <m:ctrlPr>
                              <a:rPr lang="ar-AE" sz="1600" i="1">
                                <a:latin typeface="Cambria Math" panose="02040503050406030204" pitchFamily="18" charset="0"/>
                              </a:rPr>
                            </m:ctrlPr>
                          </m:sSubPr>
                          <m:e>
                            <m:r>
                              <a:rPr lang="ar-AE" sz="1600" i="1">
                                <a:latin typeface="Cambria Math" panose="02040503050406030204" pitchFamily="18" charset="0"/>
                              </a:rPr>
                              <m:t>𝐶</m:t>
                            </m:r>
                          </m:e>
                          <m:sub>
                            <m:r>
                              <a:rPr lang="ar-AE" sz="1600">
                                <a:latin typeface="Cambria Math" panose="02040503050406030204" pitchFamily="18" charset="0"/>
                              </a:rPr>
                              <m:t>2</m:t>
                            </m:r>
                          </m:sub>
                        </m:sSub>
                      </m:e>
                      <m:e>
                        <m:r>
                          <a:rPr lang="ar-AE" sz="1600">
                            <a:latin typeface="Cambria Math" panose="02040503050406030204" pitchFamily="18" charset="0"/>
                          </a:rPr>
                          <m:t>.</m:t>
                        </m:r>
                      </m:e>
                      <m:e>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𝐶</m:t>
                            </m:r>
                          </m:e>
                          <m:sub>
                            <m:r>
                              <a:rPr lang="ar-AE" sz="1600" i="1">
                                <a:latin typeface="Cambria Math" panose="02040503050406030204" pitchFamily="18" charset="0"/>
                              </a:rPr>
                              <m:t>𝑛</m:t>
                            </m:r>
                          </m:sub>
                        </m:sSub>
                      </m:e>
                    </m:d>
                  </m:oMath>
                </a14:m>
                <a:r>
                  <a:rPr lang="en-US" sz="1600" dirty="0">
                    <a:latin typeface="Times New Roman" panose="02020603050405020304" pitchFamily="18" charset="0"/>
                    <a:cs typeface="Times New Roman" panose="02020603050405020304" pitchFamily="18" charset="0"/>
                  </a:rPr>
                  <a:t>                                                              </a:t>
                </a:r>
                <a:endParaRPr lang="ar-AE" sz="1600" dirty="0">
                  <a:latin typeface="Times New Roman" panose="02020603050405020304" pitchFamily="18" charset="0"/>
                  <a:cs typeface="Times New Roman" panose="02020603050405020304" pitchFamily="18" charset="0"/>
                </a:endParaRPr>
              </a:p>
              <a:p>
                <a:pPr lvl="1">
                  <a:lnSpc>
                    <a:spcPct val="100000"/>
                  </a:lnSpc>
                </a:pPr>
                <a14:m>
                  <m:oMath xmlns:m="http://schemas.openxmlformats.org/officeDocument/2006/math">
                    <m:r>
                      <a:rPr lang="en-IN" sz="1600" i="1">
                        <a:latin typeface="Cambria Math" panose="02040503050406030204" pitchFamily="18" charset="0"/>
                      </a:rPr>
                      <m:t>𝐷</m:t>
                    </m:r>
                  </m:oMath>
                </a14:m>
                <a:r>
                  <a:rPr lang="en-IN" sz="1600" dirty="0">
                    <a:latin typeface="Times New Roman" panose="02020603050405020304" pitchFamily="18" charset="0"/>
                    <a:cs typeface="Times New Roman" panose="02020603050405020304" pitchFamily="18" charset="0"/>
                  </a:rPr>
                  <a:t>= input document</a:t>
                </a:r>
              </a:p>
              <a:p>
                <a:pPr lvl="1">
                  <a:lnSpc>
                    <a:spcPct val="100000"/>
                  </a:lnSpc>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𝐶</m:t>
                        </m:r>
                      </m:e>
                      <m:sub>
                        <m:r>
                          <a:rPr lang="ar-AE" sz="1600" i="1">
                            <a:latin typeface="Cambria Math" panose="02040503050406030204" pitchFamily="18" charset="0"/>
                          </a:rPr>
                          <m:t>𝑖</m:t>
                        </m:r>
                      </m:sub>
                    </m:sSub>
                  </m:oMath>
                </a14:m>
                <a:r>
                  <a:rPr lang="ar-AE"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i-th</a:t>
                </a:r>
                <a:r>
                  <a:rPr lang="en-IN" sz="1600" dirty="0">
                    <a:latin typeface="Times New Roman" panose="02020603050405020304" pitchFamily="18" charset="0"/>
                    <a:cs typeface="Times New Roman" panose="02020603050405020304" pitchFamily="18" charset="0"/>
                  </a:rPr>
                  <a:t> chunk</a:t>
                </a:r>
              </a:p>
              <a:p>
                <a:pPr lvl="1">
                  <a:lnSpc>
                    <a:spcPct val="100000"/>
                  </a:lnSpc>
                </a:pPr>
                <a14:m>
                  <m:oMath xmlns:m="http://schemas.openxmlformats.org/officeDocument/2006/math">
                    <m:r>
                      <a:rPr lang="en-IN" sz="1600" i="1">
                        <a:latin typeface="Cambria Math" panose="02040503050406030204" pitchFamily="18" charset="0"/>
                      </a:rPr>
                      <m:t>𝑛</m:t>
                    </m:r>
                  </m:oMath>
                </a14:m>
                <a:r>
                  <a:rPr lang="en-IN" sz="1600" dirty="0">
                    <a:latin typeface="Times New Roman" panose="02020603050405020304" pitchFamily="18" charset="0"/>
                    <a:cs typeface="Times New Roman" panose="02020603050405020304" pitchFamily="18" charset="0"/>
                  </a:rPr>
                  <a:t>= total number of chunks</a:t>
                </a:r>
              </a:p>
              <a:p>
                <a:pPr marL="0" indent="0">
                  <a:lnSpc>
                    <a:spcPct val="100000"/>
                  </a:lnSpc>
                  <a:buNone/>
                </a:pPr>
                <a:r>
                  <a:rPr lang="en-US" sz="1600" b="1" dirty="0">
                    <a:latin typeface="Times New Roman" panose="02020603050405020304" pitchFamily="18" charset="0"/>
                    <a:cs typeface="Times New Roman" panose="02020603050405020304" pitchFamily="18" charset="0"/>
                  </a:rPr>
                  <a:t>Step 2:</a:t>
                </a:r>
                <a:r>
                  <a:rPr lang="en-IN" sz="1600" b="1" dirty="0">
                    <a:latin typeface="Times New Roman" panose="02020603050405020304" pitchFamily="18" charset="0"/>
                    <a:cs typeface="Times New Roman" panose="02020603050405020304" pitchFamily="18" charset="0"/>
                  </a:rPr>
                  <a:t>Chunk Encoding</a:t>
                </a:r>
              </a:p>
              <a:p>
                <a:pPr algn="just">
                  <a:lnSpc>
                    <a:spcPct val="150000"/>
                  </a:lnSpc>
                </a:pPr>
                <a:r>
                  <a:rPr lang="en-IN" sz="1600" dirty="0">
                    <a:latin typeface="Times New Roman" panose="02020603050405020304" pitchFamily="18" charset="0"/>
                    <a:cs typeface="Times New Roman" panose="02020603050405020304" pitchFamily="18" charset="0"/>
                  </a:rPr>
                  <a:t>During chunk encoding, each segmented part of the document is converted into dense vector representations using </a:t>
                </a:r>
                <a:r>
                  <a:rPr lang="en-IN" sz="1600" dirty="0" err="1">
                    <a:latin typeface="Times New Roman" panose="02020603050405020304" pitchFamily="18" charset="0"/>
                    <a:cs typeface="Times New Roman" panose="02020603050405020304" pitchFamily="18" charset="0"/>
                  </a:rPr>
                  <a:t>SentenceTransformer</a:t>
                </a:r>
                <a:r>
                  <a:rPr lang="en-IN" sz="1600" dirty="0">
                    <a:latin typeface="Times New Roman" panose="02020603050405020304" pitchFamily="18" charset="0"/>
                    <a:cs typeface="Times New Roman" panose="02020603050405020304" pitchFamily="18" charset="0"/>
                  </a:rPr>
                  <a:t> (BAAI/bge-large-en-v1.5) to capture semantic meaning effectively.</a:t>
                </a:r>
              </a:p>
              <a:p>
                <a:pPr algn="just">
                  <a:lnSpc>
                    <a:spcPct val="150000"/>
                  </a:lnSpc>
                </a:pPr>
                <a:r>
                  <a:rPr lang="en-IN" sz="1600" dirty="0">
                    <a:latin typeface="Times New Roman" panose="02020603050405020304" pitchFamily="18" charset="0"/>
                    <a:cs typeface="Times New Roman" panose="02020603050405020304" pitchFamily="18" charset="0"/>
                  </a:rPr>
                  <a:t>Additionally, </a:t>
                </a:r>
                <a:r>
                  <a:rPr lang="en-IN" sz="1600" dirty="0" err="1">
                    <a:latin typeface="Times New Roman" panose="02020603050405020304" pitchFamily="18" charset="0"/>
                    <a:cs typeface="Times New Roman" panose="02020603050405020304" pitchFamily="18" charset="0"/>
                  </a:rPr>
                  <a:t>SentenceTransformer</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intfloat</a:t>
                </a:r>
                <a:r>
                  <a:rPr lang="en-IN" sz="1600" dirty="0">
                    <a:latin typeface="Times New Roman" panose="02020603050405020304" pitchFamily="18" charset="0"/>
                    <a:cs typeface="Times New Roman" panose="02020603050405020304" pitchFamily="18" charset="0"/>
                  </a:rPr>
                  <a:t>/e5-large-v2) is used to generate embeddings for relevance scoring, enabling better selection of important and non-redundant content during MMR optimization.</a:t>
                </a:r>
              </a:p>
              <a:p>
                <a:pPr marL="0" indent="0">
                  <a:buNone/>
                </a:pPr>
                <a:r>
                  <a:rPr lang="en-IN" sz="1600" b="1" dirty="0">
                    <a:latin typeface="Times New Roman" panose="02020603050405020304" pitchFamily="18" charset="0"/>
                    <a:cs typeface="Times New Roman" panose="02020603050405020304" pitchFamily="18" charset="0"/>
                  </a:rPr>
                  <a:t>Step 3: Interaction Matrix Creation</a:t>
                </a:r>
              </a:p>
              <a:p>
                <a:pPr algn="just">
                  <a:lnSpc>
                    <a:spcPct val="150000"/>
                  </a:lnSpc>
                </a:pPr>
                <a:r>
                  <a:rPr lang="en-US" sz="1600" dirty="0">
                    <a:latin typeface="Times New Roman" panose="02020603050405020304" pitchFamily="18" charset="0"/>
                    <a:cs typeface="Times New Roman" panose="02020603050405020304" pitchFamily="18" charset="0"/>
                  </a:rPr>
                  <a:t>To model relationships between different document chunks, pairwise similarity scores are computed using cosine similarity on their embeddings, capturing semantic connections across the entire document.</a:t>
                </a:r>
                <a:endParaRPr lang="en-IN" sz="1600" dirty="0">
                  <a:latin typeface="Times New Roman" panose="02020603050405020304" pitchFamily="18" charset="0"/>
                  <a:cs typeface="Times New Roman" panose="02020603050405020304" pitchFamily="18" charset="0"/>
                </a:endParaRPr>
              </a:p>
            </p:txBody>
          </p:sp>
        </mc:Choice>
        <mc:Fallback xmlns="">
          <p:sp>
            <p:nvSpPr>
              <p:cNvPr id="7" name="Rectangle 2">
                <a:extLst>
                  <a:ext uri="{FF2B5EF4-FFF2-40B4-BE49-F238E27FC236}">
                    <a16:creationId xmlns:a16="http://schemas.microsoft.com/office/drawing/2014/main" id="{BAF77A38-C315-DF6A-01A7-44C5E604CB11}"/>
                  </a:ext>
                </a:extLst>
              </p:cNvPr>
              <p:cNvSpPr>
                <a:spLocks noGrp="1" noRot="1" noChangeAspect="1" noMove="1" noResize="1" noEditPoints="1" noAdjustHandles="1" noChangeArrowheads="1" noChangeShapeType="1" noTextEdit="1"/>
              </p:cNvSpPr>
              <p:nvPr>
                <p:ph idx="1"/>
              </p:nvPr>
            </p:nvSpPr>
            <p:spPr bwMode="auto">
              <a:xfrm>
                <a:off x="572727" y="370053"/>
                <a:ext cx="11046543" cy="6550511"/>
              </a:xfrm>
              <a:prstGeom prst="rect">
                <a:avLst/>
              </a:prstGeom>
              <a:blipFill>
                <a:blip r:embed="rId2"/>
                <a:stretch>
                  <a:fillRect l="-331" r="-276" b="-74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3814748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96F3-4F98-2E7E-4302-407F3BC5075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A53F56-0663-D8F0-1D72-6C308FA6403A}"/>
                  </a:ext>
                </a:extLst>
              </p:cNvPr>
              <p:cNvSpPr>
                <a:spLocks noGrp="1"/>
              </p:cNvSpPr>
              <p:nvPr>
                <p:ph idx="1"/>
              </p:nvPr>
            </p:nvSpPr>
            <p:spPr>
              <a:xfrm>
                <a:off x="609600" y="216310"/>
                <a:ext cx="10636045" cy="6204154"/>
              </a:xfrm>
            </p:spPr>
            <p:txBody>
              <a:bodyPr>
                <a:noAutofit/>
              </a:bodyPr>
              <a:lstStyle/>
              <a:p>
                <a:pPr marL="0" indent="0" algn="ctr">
                  <a:buNone/>
                </a:pPr>
                <a:r>
                  <a:rPr lang="en-US"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𝑀</m:t>
                        </m:r>
                      </m:e>
                      <m:sub>
                        <m:r>
                          <a:rPr lang="ar-AE" sz="1600" i="1">
                            <a:latin typeface="Cambria Math" panose="02040503050406030204" pitchFamily="18" charset="0"/>
                          </a:rPr>
                          <m:t>𝑖𝑗</m:t>
                        </m:r>
                      </m:sub>
                    </m:sSub>
                    <m:r>
                      <a:rPr lang="ar-AE" sz="1600">
                        <a:latin typeface="Cambria Math" panose="02040503050406030204" pitchFamily="18" charset="0"/>
                      </a:rPr>
                      <m:t>=</m:t>
                    </m:r>
                    <m:r>
                      <m:rPr>
                        <m:nor/>
                      </m:rPr>
                      <a:rPr lang="en-IN" sz="1600" i="1">
                        <a:latin typeface="Times New Roman" panose="02020603050405020304" pitchFamily="18" charset="0"/>
                        <a:cs typeface="Times New Roman" panose="02020603050405020304" pitchFamily="18" charset="0"/>
                      </a:rPr>
                      <m:t>sim</m:t>
                    </m:r>
                    <m:d>
                      <m:dPr>
                        <m:sepChr m:val=","/>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h</m:t>
                            </m:r>
                          </m:e>
                          <m:sub>
                            <m:r>
                              <a:rPr lang="ar-AE" sz="1600" i="1">
                                <a:latin typeface="Cambria Math" panose="02040503050406030204" pitchFamily="18" charset="0"/>
                              </a:rPr>
                              <m:t>𝑖</m:t>
                            </m:r>
                          </m:sub>
                        </m:sSub>
                      </m:e>
                      <m:e>
                        <m:sSub>
                          <m:sSubPr>
                            <m:ctrlPr>
                              <a:rPr lang="ar-AE" sz="1600" i="1">
                                <a:latin typeface="Cambria Math" panose="02040503050406030204" pitchFamily="18" charset="0"/>
                              </a:rPr>
                            </m:ctrlPr>
                          </m:sSubPr>
                          <m:e>
                            <m:r>
                              <a:rPr lang="ar-AE" sz="1600" i="1">
                                <a:latin typeface="Cambria Math" panose="02040503050406030204" pitchFamily="18" charset="0"/>
                              </a:rPr>
                              <m:t>h</m:t>
                            </m:r>
                          </m:e>
                          <m:sub>
                            <m:r>
                              <a:rPr lang="ar-AE" sz="1600" i="1">
                                <a:latin typeface="Cambria Math" panose="02040503050406030204" pitchFamily="18" charset="0"/>
                              </a:rPr>
                              <m:t>𝑗</m:t>
                            </m:r>
                          </m:sub>
                        </m:sSub>
                      </m:e>
                    </m:d>
                  </m:oMath>
                </a14:m>
                <a:r>
                  <a:rPr lang="en-US" sz="1600" dirty="0">
                    <a:latin typeface="Times New Roman" panose="02020603050405020304" pitchFamily="18" charset="0"/>
                    <a:cs typeface="Times New Roman" panose="02020603050405020304" pitchFamily="18" charset="0"/>
                  </a:rPr>
                  <a:t>                                                                       </a:t>
                </a:r>
                <a:endParaRPr lang="ar-AE" sz="1600" dirty="0">
                  <a:latin typeface="Times New Roman" panose="02020603050405020304" pitchFamily="18" charset="0"/>
                  <a:cs typeface="Times New Roman" panose="02020603050405020304" pitchFamily="18" charset="0"/>
                </a:endParaRPr>
              </a:p>
              <a:p>
                <a:pPr lvl="1"/>
                <a14:m>
                  <m:oMath xmlns:m="http://schemas.openxmlformats.org/officeDocument/2006/math">
                    <m:r>
                      <a:rPr lang="en-IN" sz="1600" i="1">
                        <a:latin typeface="Cambria Math" panose="02040503050406030204" pitchFamily="18" charset="0"/>
                      </a:rPr>
                      <m:t>𝑀</m:t>
                    </m:r>
                  </m:oMath>
                </a14:m>
                <a:r>
                  <a:rPr lang="en-IN" sz="1600" dirty="0">
                    <a:latin typeface="Times New Roman" panose="02020603050405020304" pitchFamily="18" charset="0"/>
                    <a:cs typeface="Times New Roman" panose="02020603050405020304" pitchFamily="18" charset="0"/>
                  </a:rPr>
                  <a:t>= interaction matrix</a:t>
                </a:r>
              </a:p>
              <a:p>
                <a:pPr lvl="1"/>
                <a14:m>
                  <m:oMath xmlns:m="http://schemas.openxmlformats.org/officeDocument/2006/math">
                    <m:r>
                      <m:rPr>
                        <m:nor/>
                      </m:rPr>
                      <a:rPr lang="en-IN" sz="1600">
                        <a:latin typeface="Times New Roman" panose="02020603050405020304" pitchFamily="18" charset="0"/>
                        <a:cs typeface="Times New Roman" panose="02020603050405020304" pitchFamily="18" charset="0"/>
                      </a:rPr>
                      <m:t>sim</m:t>
                    </m:r>
                  </m:oMath>
                </a14:m>
                <a:r>
                  <a:rPr lang="en-IN" sz="1600" dirty="0">
                    <a:latin typeface="Times New Roman" panose="02020603050405020304" pitchFamily="18" charset="0"/>
                    <a:cs typeface="Times New Roman" panose="02020603050405020304" pitchFamily="18" charset="0"/>
                  </a:rPr>
                  <a:t>= cosine similarity</a:t>
                </a:r>
                <a:endParaRPr lang="en-IN" sz="1600" b="1" dirty="0">
                  <a:latin typeface="Times New Roman" panose="02020603050405020304" pitchFamily="18" charset="0"/>
                  <a:cs typeface="Times New Roman" panose="02020603050405020304" pitchFamily="18" charset="0"/>
                </a:endParaRPr>
              </a:p>
              <a:p>
                <a:pPr marL="0" indent="0" algn="just">
                  <a:lnSpc>
                    <a:spcPct val="100000"/>
                  </a:lnSpc>
                  <a:buNone/>
                </a:pPr>
                <a:r>
                  <a:rPr lang="en-IN" sz="1600" b="1" dirty="0">
                    <a:latin typeface="Times New Roman" panose="02020603050405020304" pitchFamily="18" charset="0"/>
                    <a:cs typeface="Times New Roman" panose="02020603050405020304" pitchFamily="18" charset="0"/>
                  </a:rPr>
                  <a:t>Step 4: Consensus Score Computation</a:t>
                </a:r>
              </a:p>
              <a:p>
                <a:pPr algn="just">
                  <a:lnSpc>
                    <a:spcPct val="100000"/>
                  </a:lnSpc>
                </a:pPr>
                <a:r>
                  <a:rPr lang="en-IN" sz="1600" dirty="0">
                    <a:latin typeface="Times New Roman" panose="02020603050405020304" pitchFamily="18" charset="0"/>
                    <a:cs typeface="Times New Roman" panose="02020603050405020304" pitchFamily="18" charset="0"/>
                  </a:rPr>
                  <a:t>Each chunk is assigned a consensus score based on its overall interaction:</a:t>
                </a:r>
              </a:p>
              <a:p>
                <a:pPr marL="0" indent="0" algn="just">
                  <a:lnSpc>
                    <a:spcPct val="100000"/>
                  </a:lnSpc>
                  <a:buNone/>
                </a:pPr>
                <a:r>
                  <a:rPr lang="en-US" sz="1500" dirty="0"/>
                  <a:t>                                                                                                        </a:t>
                </a:r>
                <a14:m>
                  <m:oMath xmlns:m="http://schemas.openxmlformats.org/officeDocument/2006/math">
                    <m:sSub>
                      <m:sSubPr>
                        <m:ctrlPr>
                          <a:rPr lang="ar-AE" sz="1500" i="1">
                            <a:latin typeface="Cambria Math" panose="02040503050406030204" pitchFamily="18" charset="0"/>
                          </a:rPr>
                        </m:ctrlPr>
                      </m:sSubPr>
                      <m:e>
                        <m:r>
                          <a:rPr lang="ar-AE" sz="1500" i="1">
                            <a:latin typeface="Cambria Math" panose="02040503050406030204" pitchFamily="18" charset="0"/>
                          </a:rPr>
                          <m:t>𝑆</m:t>
                        </m:r>
                      </m:e>
                      <m:sub>
                        <m:r>
                          <a:rPr lang="ar-AE" sz="1500" i="1">
                            <a:latin typeface="Cambria Math" panose="02040503050406030204" pitchFamily="18" charset="0"/>
                          </a:rPr>
                          <m:t>𝑖</m:t>
                        </m:r>
                      </m:sub>
                    </m:sSub>
                    <m:r>
                      <a:rPr lang="ar-AE" sz="1500">
                        <a:latin typeface="Cambria Math" panose="02040503050406030204" pitchFamily="18" charset="0"/>
                      </a:rPr>
                      <m:t>=</m:t>
                    </m:r>
                    <m:nary>
                      <m:naryPr>
                        <m:chr m:val="∑"/>
                        <m:grow m:val="on"/>
                        <m:ctrlPr>
                          <a:rPr lang="ar-AE" sz="1500" i="1">
                            <a:latin typeface="Cambria Math" panose="02040503050406030204" pitchFamily="18" charset="0"/>
                          </a:rPr>
                        </m:ctrlPr>
                      </m:naryPr>
                      <m:sub>
                        <m:r>
                          <a:rPr lang="ar-AE" sz="1500" i="1">
                            <a:latin typeface="Cambria Math" panose="02040503050406030204" pitchFamily="18" charset="0"/>
                          </a:rPr>
                          <m:t>𝑗</m:t>
                        </m:r>
                        <m:r>
                          <a:rPr lang="ar-AE" sz="1500">
                            <a:latin typeface="Cambria Math" panose="02040503050406030204" pitchFamily="18" charset="0"/>
                          </a:rPr>
                          <m:t>=</m:t>
                        </m:r>
                        <m:r>
                          <a:rPr lang="ar-AE" sz="1500">
                            <a:latin typeface="Cambria Math" panose="02040503050406030204" pitchFamily="18" charset="0"/>
                          </a:rPr>
                          <m:t>1</m:t>
                        </m:r>
                      </m:sub>
                      <m:sup>
                        <m:r>
                          <a:rPr lang="ar-AE" sz="1500" i="1">
                            <a:latin typeface="Cambria Math" panose="02040503050406030204" pitchFamily="18" charset="0"/>
                          </a:rPr>
                          <m:t>𝑛</m:t>
                        </m:r>
                      </m:sup>
                      <m:e>
                        <m:sSub>
                          <m:sSubPr>
                            <m:ctrlPr>
                              <a:rPr lang="ar-AE" sz="1500" i="1">
                                <a:latin typeface="Cambria Math" panose="02040503050406030204" pitchFamily="18" charset="0"/>
                              </a:rPr>
                            </m:ctrlPr>
                          </m:sSubPr>
                          <m:e>
                            <m:r>
                              <a:rPr lang="ar-AE" sz="1500" i="1">
                                <a:latin typeface="Cambria Math" panose="02040503050406030204" pitchFamily="18" charset="0"/>
                              </a:rPr>
                              <m:t>𝑀</m:t>
                            </m:r>
                          </m:e>
                          <m:sub>
                            <m:r>
                              <a:rPr lang="ar-AE" sz="1500" i="1">
                                <a:latin typeface="Cambria Math" panose="02040503050406030204" pitchFamily="18" charset="0"/>
                              </a:rPr>
                              <m:t>𝑖𝑗</m:t>
                            </m:r>
                          </m:sub>
                        </m:sSub>
                      </m:e>
                    </m:nary>
                  </m:oMath>
                </a14:m>
                <a:r>
                  <a:rPr lang="en-US" sz="1500" dirty="0">
                    <a:latin typeface="Times New Roman" panose="02020603050405020304" pitchFamily="18" charset="0"/>
                    <a:cs typeface="Times New Roman" panose="02020603050405020304" pitchFamily="18" charset="0"/>
                  </a:rPr>
                  <a:t>                                                                                       </a:t>
                </a:r>
                <a:endParaRPr lang="ar-AE" sz="1600" dirty="0">
                  <a:latin typeface="Times New Roman" panose="02020603050405020304" pitchFamily="18" charset="0"/>
                  <a:cs typeface="Times New Roman" panose="02020603050405020304" pitchFamily="18" charset="0"/>
                </a:endParaRPr>
              </a:p>
              <a:p>
                <a:pPr lvl="1" algn="just">
                  <a:lnSpc>
                    <a:spcPct val="100000"/>
                  </a:lnSpc>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𝑆</m:t>
                        </m:r>
                      </m:e>
                      <m:sub>
                        <m:r>
                          <a:rPr lang="ar-AE" sz="1600" i="1">
                            <a:latin typeface="Cambria Math" panose="02040503050406030204" pitchFamily="18" charset="0"/>
                          </a:rPr>
                          <m:t>𝑖</m:t>
                        </m:r>
                      </m:sub>
                    </m:sSub>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importance score of chunk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𝐶</m:t>
                        </m:r>
                      </m:e>
                      <m:sub>
                        <m:r>
                          <a:rPr lang="ar-AE" sz="1600" i="1">
                            <a:latin typeface="Cambria Math" panose="02040503050406030204" pitchFamily="18" charset="0"/>
                          </a:rPr>
                          <m:t>𝑖</m:t>
                        </m:r>
                      </m:sub>
                    </m:sSub>
                  </m:oMath>
                </a14:m>
                <a:endParaRPr lang="ar-AE" sz="1600" dirty="0">
                  <a:latin typeface="Times New Roman" panose="02020603050405020304" pitchFamily="18" charset="0"/>
                  <a:cs typeface="Times New Roman" panose="02020603050405020304" pitchFamily="18" charset="0"/>
                </a:endParaRPr>
              </a:p>
              <a:p>
                <a:pPr lvl="1" algn="just">
                  <a:lnSpc>
                    <a:spcPct val="100000"/>
                  </a:lnSpc>
                </a:pPr>
                <a:r>
                  <a:rPr lang="en-IN" sz="1600" dirty="0">
                    <a:latin typeface="Times New Roman" panose="02020603050405020304" pitchFamily="18" charset="0"/>
                    <a:cs typeface="Times New Roman" panose="02020603050405020304" pitchFamily="18" charset="0"/>
                  </a:rPr>
                  <a:t>Higher score → more important chunk.</a:t>
                </a:r>
              </a:p>
              <a:p>
                <a:pPr marL="0" indent="0" algn="just">
                  <a:lnSpc>
                    <a:spcPct val="100000"/>
                  </a:lnSpc>
                  <a:buNone/>
                </a:pPr>
                <a:r>
                  <a:rPr lang="en-IN" sz="1600" b="1" dirty="0">
                    <a:latin typeface="Times New Roman" panose="02020603050405020304" pitchFamily="18" charset="0"/>
                    <a:cs typeface="Times New Roman" panose="02020603050405020304" pitchFamily="18" charset="0"/>
                  </a:rPr>
                  <a:t>Step 5: Key Sentence Selection (MMR Optimization)</a:t>
                </a:r>
              </a:p>
              <a:p>
                <a:pPr algn="just">
                  <a:lnSpc>
                    <a:spcPct val="100000"/>
                  </a:lnSpc>
                </a:pPr>
                <a:r>
                  <a:rPr lang="en-IN" sz="1600" dirty="0">
                    <a:latin typeface="Times New Roman" panose="02020603050405020304" pitchFamily="18" charset="0"/>
                    <a:cs typeface="Times New Roman" panose="02020603050405020304" pitchFamily="18" charset="0"/>
                  </a:rPr>
                  <a:t>Maximum Marginal Relevance (MMR) selects important yet non-redundant sentences. This ensures High </a:t>
                </a:r>
                <a:r>
                  <a:rPr lang="en-IN" sz="1600" dirty="0" err="1">
                    <a:latin typeface="Times New Roman" panose="02020603050405020304" pitchFamily="18" charset="0"/>
                    <a:cs typeface="Times New Roman" panose="02020603050405020304" pitchFamily="18" charset="0"/>
                  </a:rPr>
                  <a:t>relevance,Low</a:t>
                </a:r>
                <a:r>
                  <a:rPr lang="en-IN" sz="1600" dirty="0">
                    <a:latin typeface="Times New Roman" panose="02020603050405020304" pitchFamily="18" charset="0"/>
                    <a:cs typeface="Times New Roman" panose="02020603050405020304" pitchFamily="18" charset="0"/>
                  </a:rPr>
                  <a:t> duplication</a:t>
                </a:r>
              </a:p>
              <a:p>
                <a:pPr marL="0" indent="0" algn="just">
                  <a:lnSpc>
                    <a:spcPct val="100000"/>
                  </a:lnSpc>
                  <a:buNone/>
                </a:pPr>
                <a:r>
                  <a:rPr lang="en-IN" sz="1600" b="0" dirty="0">
                    <a:cs typeface="Times New Roman" panose="02020603050405020304" pitchFamily="18" charset="0"/>
                  </a:rPr>
                  <a:t>                                                                     </a:t>
                </a:r>
                <a14:m>
                  <m:oMath xmlns:m="http://schemas.openxmlformats.org/officeDocument/2006/math">
                    <m:r>
                      <m:rPr>
                        <m:nor/>
                      </m:rPr>
                      <a:rPr lang="en-IN" sz="1600" b="0" smtClean="0">
                        <a:latin typeface="Times New Roman" panose="02020603050405020304" pitchFamily="18" charset="0"/>
                        <a:cs typeface="Times New Roman" panose="02020603050405020304" pitchFamily="18" charset="0"/>
                      </a:rPr>
                      <m:t>MMR</m:t>
                    </m:r>
                    <m:r>
                      <a:rPr lang="en-IN" sz="1600">
                        <a:latin typeface="Cambria Math" panose="02040503050406030204" pitchFamily="18" charset="0"/>
                      </a:rPr>
                      <m:t>=</m:t>
                    </m:r>
                    <m:r>
                      <a:rPr lang="en-IN" sz="1600" i="1">
                        <a:latin typeface="Cambria Math" panose="02040503050406030204" pitchFamily="18" charset="0"/>
                      </a:rPr>
                      <m:t>𝜆</m:t>
                    </m:r>
                    <m:r>
                      <a:rPr lang="en-IN" sz="1600">
                        <a:latin typeface="Cambria Math" panose="02040503050406030204" pitchFamily="18" charset="0"/>
                      </a:rPr>
                      <m:t>⋅</m:t>
                    </m:r>
                    <m:r>
                      <m:rPr>
                        <m:nor/>
                      </m:rPr>
                      <a:rPr lang="en-IN" sz="1600" i="1">
                        <a:latin typeface="Times New Roman" panose="02020603050405020304" pitchFamily="18" charset="0"/>
                        <a:cs typeface="Times New Roman" panose="02020603050405020304" pitchFamily="18" charset="0"/>
                      </a:rPr>
                      <m:t>Relevance</m:t>
                    </m:r>
                    <m:r>
                      <a:rPr lang="en-IN" sz="1600">
                        <a:latin typeface="Cambria Math" panose="02040503050406030204" pitchFamily="18" charset="0"/>
                      </a:rPr>
                      <m:t>−</m:t>
                    </m:r>
                    <m:d>
                      <m:dPr>
                        <m:ctrlPr>
                          <a:rPr lang="ar-AE" sz="1600" i="1">
                            <a:latin typeface="Cambria Math" panose="02040503050406030204" pitchFamily="18" charset="0"/>
                          </a:rPr>
                        </m:ctrlPr>
                      </m:dPr>
                      <m:e>
                        <m:r>
                          <a:rPr lang="ar-AE" sz="1600">
                            <a:latin typeface="Cambria Math" panose="02040503050406030204" pitchFamily="18" charset="0"/>
                          </a:rPr>
                          <m:t>1</m:t>
                        </m:r>
                        <m:r>
                          <a:rPr lang="ar-AE" sz="1600">
                            <a:latin typeface="Cambria Math" panose="02040503050406030204" pitchFamily="18" charset="0"/>
                          </a:rPr>
                          <m:t>−</m:t>
                        </m:r>
                        <m:r>
                          <a:rPr lang="ar-AE" sz="1600" i="1">
                            <a:latin typeface="Cambria Math" panose="02040503050406030204" pitchFamily="18" charset="0"/>
                          </a:rPr>
                          <m:t>𝜆</m:t>
                        </m:r>
                      </m:e>
                    </m:d>
                    <m:r>
                      <a:rPr lang="ar-AE" sz="1600">
                        <a:latin typeface="Cambria Math" panose="02040503050406030204" pitchFamily="18" charset="0"/>
                      </a:rPr>
                      <m:t>⋅</m:t>
                    </m:r>
                    <m:r>
                      <m:rPr>
                        <m:nor/>
                      </m:rPr>
                      <a:rPr lang="en-IN" sz="1600" i="1">
                        <a:latin typeface="Times New Roman" panose="02020603050405020304" pitchFamily="18" charset="0"/>
                        <a:cs typeface="Times New Roman" panose="02020603050405020304" pitchFamily="18" charset="0"/>
                      </a:rPr>
                      <m:t>Redundancy</m:t>
                    </m:r>
                  </m:oMath>
                </a14:m>
                <a:r>
                  <a:rPr lang="en-IN" sz="1600" b="0" dirty="0">
                    <a:latin typeface="Times New Roman" panose="02020603050405020304" pitchFamily="18" charset="0"/>
                    <a:cs typeface="Times New Roman" panose="02020603050405020304" pitchFamily="18" charset="0"/>
                  </a:rPr>
                  <a:t>                               </a:t>
                </a:r>
              </a:p>
              <a:p>
                <a:pPr lvl="1" algn="just">
                  <a:lnSpc>
                    <a:spcPct val="100000"/>
                  </a:lnSpc>
                </a:pPr>
                <a:r>
                  <a:rPr lang="en-IN" sz="1600" b="0" dirty="0">
                    <a:latin typeface="Times New Roman" panose="02020603050405020304" pitchFamily="18" charset="0"/>
                    <a:cs typeface="Times New Roman" panose="02020603050405020304" pitchFamily="18" charset="0"/>
                  </a:rPr>
                  <a:t>R</a:t>
                </a:r>
                <a:r>
                  <a:rPr lang="en-IN" sz="1600" dirty="0">
                    <a:latin typeface="Times New Roman" panose="02020603050405020304" pitchFamily="18" charset="0"/>
                    <a:cs typeface="Times New Roman" panose="02020603050405020304" pitchFamily="18" charset="0"/>
                  </a:rPr>
                  <a:t>elevance score (how important it is) = </a:t>
                </a:r>
                <a14:m>
                  <m:oMath xmlns:m="http://schemas.openxmlformats.org/officeDocument/2006/math">
                    <m:r>
                      <m:rPr>
                        <m:nor/>
                      </m:rPr>
                      <a:rPr lang="en-IN" sz="1600" b="0">
                        <a:latin typeface="Times New Roman" panose="02020603050405020304" pitchFamily="18" charset="0"/>
                        <a:cs typeface="Times New Roman" panose="02020603050405020304" pitchFamily="18" charset="0"/>
                      </a:rPr>
                      <m:t>Sim</m:t>
                    </m:r>
                    <m:d>
                      <m:dPr>
                        <m:sepChr m:val=","/>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b="0" i="1">
                                <a:latin typeface="Cambria Math" panose="02040503050406030204" pitchFamily="18" charset="0"/>
                              </a:rPr>
                              <m:t>𝑆</m:t>
                            </m:r>
                          </m:e>
                          <m:sub>
                            <m:r>
                              <a:rPr lang="ar-AE" sz="1600" b="0" i="1">
                                <a:latin typeface="Cambria Math" panose="02040503050406030204" pitchFamily="18" charset="0"/>
                              </a:rPr>
                              <m:t>𝑖</m:t>
                            </m:r>
                          </m:sub>
                        </m:sSub>
                      </m:e>
                      <m:e>
                        <m:r>
                          <a:rPr lang="ar-AE" sz="1600" i="1">
                            <a:latin typeface="Cambria Math" panose="02040503050406030204" pitchFamily="18" charset="0"/>
                          </a:rPr>
                          <m:t>𝐷</m:t>
                        </m:r>
                      </m:e>
                    </m:d>
                  </m:oMath>
                </a14:m>
                <a:endParaRPr lang="en-IN" sz="1600" i="1" dirty="0">
                  <a:latin typeface="Times New Roman" panose="02020603050405020304" pitchFamily="18" charset="0"/>
                  <a:cs typeface="Times New Roman" panose="02020603050405020304" pitchFamily="18" charset="0"/>
                </a:endParaRPr>
              </a:p>
              <a:p>
                <a:pPr lvl="1" algn="just">
                  <a:lnSpc>
                    <a:spcPct val="100000"/>
                  </a:lnSpc>
                </a:pPr>
                <a:r>
                  <a:rPr lang="en-IN" sz="1600" b="0" dirty="0">
                    <a:latin typeface="Times New Roman" panose="02020603050405020304" pitchFamily="18" charset="0"/>
                    <a:cs typeface="Times New Roman" panose="02020603050405020304" pitchFamily="18" charset="0"/>
                  </a:rPr>
                  <a:t>Redundancy(</a:t>
                </a:r>
                <a:r>
                  <a:rPr lang="en-IN" sz="1600" dirty="0">
                    <a:latin typeface="Times New Roman" panose="02020603050405020304" pitchFamily="18" charset="0"/>
                    <a:cs typeface="Times New Roman" panose="02020603050405020304" pitchFamily="18" charset="0"/>
                  </a:rPr>
                  <a:t>similarity with already selected sentences</a:t>
                </a:r>
                <a:r>
                  <a:rPr lang="en-IN" sz="1600" b="0" dirty="0">
                    <a:latin typeface="Times New Roman" panose="02020603050405020304" pitchFamily="18" charset="0"/>
                    <a:cs typeface="Times New Roman" panose="02020603050405020304" pitchFamily="18" charset="0"/>
                  </a:rPr>
                  <a:t>) = </a:t>
                </a:r>
                <a14:m>
                  <m:oMath xmlns:m="http://schemas.openxmlformats.org/officeDocument/2006/math">
                    <m:r>
                      <m:rPr>
                        <m:nor/>
                      </m:rPr>
                      <a:rPr lang="en-IN" sz="1600" b="0">
                        <a:latin typeface="Times New Roman" panose="02020603050405020304" pitchFamily="18" charset="0"/>
                        <a:cs typeface="Times New Roman" panose="02020603050405020304" pitchFamily="18" charset="0"/>
                      </a:rPr>
                      <m:t>Sim</m:t>
                    </m:r>
                    <m:d>
                      <m:dPr>
                        <m:sepChr m:val=","/>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b="0" i="1">
                                <a:latin typeface="Cambria Math" panose="02040503050406030204" pitchFamily="18" charset="0"/>
                              </a:rPr>
                              <m:t>𝑆</m:t>
                            </m:r>
                          </m:e>
                          <m:sub>
                            <m:r>
                              <a:rPr lang="ar-AE" sz="1600" b="0" i="1">
                                <a:latin typeface="Cambria Math" panose="02040503050406030204" pitchFamily="18" charset="0"/>
                              </a:rPr>
                              <m:t>𝑖</m:t>
                            </m:r>
                          </m:sub>
                        </m:sSub>
                      </m:e>
                      <m:e>
                        <m:sSub>
                          <m:sSubPr>
                            <m:ctrlPr>
                              <a:rPr lang="ar-AE" sz="1600" i="1">
                                <a:latin typeface="Cambria Math" panose="02040503050406030204" pitchFamily="18" charset="0"/>
                              </a:rPr>
                            </m:ctrlPr>
                          </m:sSubPr>
                          <m:e>
                            <m:r>
                              <a:rPr lang="ar-AE" sz="1600" i="1">
                                <a:latin typeface="Cambria Math" panose="02040503050406030204" pitchFamily="18" charset="0"/>
                              </a:rPr>
                              <m:t>𝑆</m:t>
                            </m:r>
                          </m:e>
                          <m:sub>
                            <m:r>
                              <a:rPr lang="ar-AE" sz="1600" i="1">
                                <a:latin typeface="Cambria Math" panose="02040503050406030204" pitchFamily="18" charset="0"/>
                              </a:rPr>
                              <m:t>𝑗</m:t>
                            </m:r>
                          </m:sub>
                        </m:sSub>
                      </m:e>
                    </m:d>
                  </m:oMath>
                </a14:m>
                <a:endParaRPr lang="en-IN" sz="1600" dirty="0">
                  <a:latin typeface="Times New Roman" panose="02020603050405020304" pitchFamily="18" charset="0"/>
                  <a:cs typeface="Times New Roman" panose="02020603050405020304" pitchFamily="18" charset="0"/>
                </a:endParaRPr>
              </a:p>
              <a:p>
                <a:pPr lvl="1" algn="just">
                  <a:lnSpc>
                    <a:spcPct val="100000"/>
                  </a:lnSpc>
                </a:pPr>
                <a14:m>
                  <m:oMath xmlns:m="http://schemas.openxmlformats.org/officeDocument/2006/math">
                    <m:r>
                      <a:rPr lang="en-IN" sz="1600" i="1">
                        <a:latin typeface="Cambria Math" panose="02040503050406030204" pitchFamily="18" charset="0"/>
                      </a:rPr>
                      <m:t>𝜆</m:t>
                    </m:r>
                    <m:r>
                      <a:rPr lang="en-IN" sz="160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a:latin typeface="Cambria Math" panose="02040503050406030204" pitchFamily="18" charset="0"/>
                          </a:rPr>
                          <m:t>0</m:t>
                        </m:r>
                      </m:e>
                      <m:e>
                        <m:r>
                          <a:rPr lang="ar-AE" sz="1600">
                            <a:latin typeface="Cambria Math" panose="02040503050406030204" pitchFamily="18" charset="0"/>
                          </a:rPr>
                          <m:t>1</m:t>
                        </m:r>
                      </m:e>
                    </m:d>
                  </m:oMath>
                </a14:m>
                <a:r>
                  <a:rPr lang="ar-AE"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balancing factor</a:t>
                </a:r>
              </a:p>
              <a:p>
                <a:pPr marL="0" indent="0" algn="just">
                  <a:lnSpc>
                    <a:spcPct val="100000"/>
                  </a:lnSpc>
                  <a:buNone/>
                </a:pPr>
                <a:r>
                  <a:rPr lang="en-IN" sz="1600" b="1" dirty="0">
                    <a:latin typeface="Times New Roman" panose="02020603050405020304" pitchFamily="18" charset="0"/>
                    <a:cs typeface="Times New Roman" panose="02020603050405020304" pitchFamily="18" charset="0"/>
                  </a:rPr>
                  <a:t>Step 6: Summary Generation </a:t>
                </a:r>
              </a:p>
              <a:p>
                <a:pPr algn="just">
                  <a:lnSpc>
                    <a:spcPct val="100000"/>
                  </a:lnSpc>
                </a:pPr>
                <a:r>
                  <a:rPr lang="en-IN" sz="1600" dirty="0">
                    <a:latin typeface="Times New Roman" panose="02020603050405020304" pitchFamily="18" charset="0"/>
                    <a:cs typeface="Times New Roman" panose="02020603050405020304" pitchFamily="18" charset="0"/>
                  </a:rPr>
                  <a:t>Selected key content is passed to the decoder to generate the final summary:</a:t>
                </a:r>
              </a:p>
              <a:p>
                <a:pPr marL="0" indent="0" algn="just">
                  <a:lnSpc>
                    <a:spcPct val="100000"/>
                  </a:lnSpc>
                  <a:buNone/>
                </a:pPr>
                <a:r>
                  <a:rPr lang="en-US"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𝑦</m:t>
                        </m:r>
                      </m:e>
                      <m:sub>
                        <m:r>
                          <a:rPr lang="ar-AE" sz="1600" i="1">
                            <a:latin typeface="Cambria Math" panose="02040503050406030204" pitchFamily="18" charset="0"/>
                          </a:rPr>
                          <m:t>𝑡</m:t>
                        </m:r>
                      </m:sub>
                    </m:sSub>
                    <m:r>
                      <a:rPr lang="ar-AE" sz="1600">
                        <a:latin typeface="Cambria Math" panose="02040503050406030204" pitchFamily="18" charset="0"/>
                      </a:rPr>
                      <m:t>=</m:t>
                    </m:r>
                    <m:r>
                      <m:rPr>
                        <m:nor/>
                      </m:rPr>
                      <a:rPr lang="en-IN" sz="1600" i="1">
                        <a:latin typeface="Times New Roman" panose="02020603050405020304" pitchFamily="18" charset="0"/>
                        <a:cs typeface="Times New Roman" panose="02020603050405020304" pitchFamily="18" charset="0"/>
                      </a:rPr>
                      <m:t>Decoder</m:t>
                    </m:r>
                    <m:d>
                      <m:dPr>
                        <m:sepChr m:val=","/>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𝑦</m:t>
                            </m:r>
                          </m:e>
                          <m:sub>
                            <m:r>
                              <a:rPr lang="ar-AE" sz="1600">
                                <a:latin typeface="Cambria Math" panose="02040503050406030204" pitchFamily="18" charset="0"/>
                              </a:rPr>
                              <m:t>&lt;</m:t>
                            </m:r>
                            <m:r>
                              <a:rPr lang="ar-AE" sz="1600" i="1">
                                <a:latin typeface="Cambria Math" panose="02040503050406030204" pitchFamily="18" charset="0"/>
                              </a:rPr>
                              <m:t>𝑡</m:t>
                            </m:r>
                          </m:sub>
                        </m:sSub>
                      </m:e>
                      <m:e>
                        <m:r>
                          <a:rPr lang="ar-AE" sz="1600" i="1">
                            <a:latin typeface="Cambria Math" panose="02040503050406030204" pitchFamily="18" charset="0"/>
                          </a:rPr>
                          <m:t>𝐻</m:t>
                        </m:r>
                      </m:e>
                    </m:d>
                  </m:oMath>
                </a14:m>
                <a:r>
                  <a:rPr lang="en-US" sz="1600" b="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indent="0" algn="just">
                  <a:lnSpc>
                    <a:spcPct val="100000"/>
                  </a:lnSpc>
                  <a:buNone/>
                </a:pPr>
                <a:endParaRPr lang="en-IN" sz="1600" b="0" dirty="0">
                  <a:latin typeface="Times New Roman" panose="02020603050405020304" pitchFamily="18" charset="0"/>
                  <a:cs typeface="Times New Roman" panose="02020603050405020304" pitchFamily="18" charset="0"/>
                </a:endParaRPr>
              </a:p>
              <a:p>
                <a:pPr marL="0" indent="0" algn="just">
                  <a:lnSpc>
                    <a:spcPct val="100000"/>
                  </a:lnSpc>
                  <a:buNone/>
                </a:pPr>
                <a:endParaRPr lang="en-IN" sz="1600" b="1" dirty="0">
                  <a:latin typeface="Times New Roman" panose="02020603050405020304" pitchFamily="18" charset="0"/>
                  <a:cs typeface="Times New Roman" panose="02020603050405020304" pitchFamily="18" charset="0"/>
                </a:endParaRPr>
              </a:p>
              <a:p>
                <a:pPr lvl="1" algn="just">
                  <a:lnSpc>
                    <a:spcPct val="100000"/>
                  </a:lnSpc>
                </a:pPr>
                <a:endParaRPr lang="en-US" sz="16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DA53F56-0663-D8F0-1D72-6C308FA6403A}"/>
                  </a:ext>
                </a:extLst>
              </p:cNvPr>
              <p:cNvSpPr>
                <a:spLocks noGrp="1" noRot="1" noChangeAspect="1" noMove="1" noResize="1" noEditPoints="1" noAdjustHandles="1" noChangeArrowheads="1" noChangeShapeType="1" noTextEdit="1"/>
              </p:cNvSpPr>
              <p:nvPr>
                <p:ph idx="1"/>
              </p:nvPr>
            </p:nvSpPr>
            <p:spPr>
              <a:xfrm>
                <a:off x="609600" y="216310"/>
                <a:ext cx="10636045" cy="6204154"/>
              </a:xfrm>
              <a:blipFill>
                <a:blip r:embed="rId2"/>
                <a:stretch>
                  <a:fillRect l="-287" r="-287" b="-1768"/>
                </a:stretch>
              </a:blipFill>
            </p:spPr>
            <p:txBody>
              <a:bodyPr/>
              <a:lstStyle/>
              <a:p>
                <a:r>
                  <a:rPr lang="en-IN">
                    <a:noFill/>
                  </a:rPr>
                  <a:t> </a:t>
                </a:r>
              </a:p>
            </p:txBody>
          </p:sp>
        </mc:Fallback>
      </mc:AlternateContent>
    </p:spTree>
    <p:extLst>
      <p:ext uri="{BB962C8B-B14F-4D97-AF65-F5344CB8AC3E}">
        <p14:creationId xmlns:p14="http://schemas.microsoft.com/office/powerpoint/2010/main" val="2238732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8A03-C475-2BB8-61BB-5C3738467157}"/>
              </a:ext>
            </a:extLst>
          </p:cNvPr>
          <p:cNvSpPr>
            <a:spLocks noGrp="1"/>
          </p:cNvSpPr>
          <p:nvPr>
            <p:ph type="title"/>
          </p:nvPr>
        </p:nvSpPr>
        <p:spPr>
          <a:xfrm>
            <a:off x="838200" y="96043"/>
            <a:ext cx="10515600" cy="854075"/>
          </a:xfrm>
        </p:spPr>
        <p:txBody>
          <a:bodyPr>
            <a:normAutofit/>
          </a:bodyPr>
          <a:lstStyle/>
          <a:p>
            <a:pPr algn="ctr"/>
            <a:r>
              <a:rPr lang="en-US" sz="2400" b="1" dirty="0">
                <a:latin typeface="Times New Roman" panose="02020603050405020304" pitchFamily="18" charset="0"/>
                <a:cs typeface="Times New Roman" panose="02020603050405020304" pitchFamily="18" charset="0"/>
              </a:rPr>
              <a:t>Implementation and Execution Steps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A3F2DB-D35D-8661-E15F-D9D99D6D4192}"/>
              </a:ext>
            </a:extLst>
          </p:cNvPr>
          <p:cNvSpPr>
            <a:spLocks noGrp="1"/>
          </p:cNvSpPr>
          <p:nvPr>
            <p:ph idx="1"/>
          </p:nvPr>
        </p:nvSpPr>
        <p:spPr>
          <a:xfrm>
            <a:off x="838200" y="753472"/>
            <a:ext cx="10515600" cy="4957763"/>
          </a:xfrm>
        </p:spPr>
        <p:txBody>
          <a:bodyPr>
            <a:noAutofit/>
          </a:bodyPr>
          <a:lstStyle/>
          <a:p>
            <a:pPr marL="0" indent="0" algn="just">
              <a:lnSpc>
                <a:spcPct val="150000"/>
              </a:lnSpc>
              <a:buNone/>
            </a:pPr>
            <a:r>
              <a:rPr lang="en-US" sz="1600" b="1" dirty="0">
                <a:latin typeface="Times New Roman" panose="02020603050405020304" pitchFamily="18" charset="0"/>
                <a:cs typeface="Times New Roman" panose="02020603050405020304" pitchFamily="18" charset="0"/>
              </a:rPr>
              <a:t>Document Classification</a:t>
            </a:r>
          </a:p>
          <a:p>
            <a:pPr algn="just">
              <a:lnSpc>
                <a:spcPct val="150000"/>
              </a:lnSpc>
            </a:pPr>
            <a:r>
              <a:rPr lang="en-US" sz="1600" b="1" dirty="0">
                <a:latin typeface="Times New Roman" panose="02020603050405020304" pitchFamily="18" charset="0"/>
                <a:cs typeface="Times New Roman" panose="02020603050405020304" pitchFamily="18" charset="0"/>
              </a:rPr>
              <a:t>Input </a:t>
            </a:r>
            <a:r>
              <a:rPr lang="en-US" sz="1600" b="1" dirty="0" err="1">
                <a:latin typeface="Times New Roman" panose="02020603050405020304" pitchFamily="18" charset="0"/>
                <a:cs typeface="Times New Roman" panose="02020603050405020304" pitchFamily="18" charset="0"/>
              </a:rPr>
              <a:t>Dataset:</a:t>
            </a:r>
            <a:r>
              <a:rPr lang="en-US" sz="1600" dirty="0" err="1">
                <a:latin typeface="Times New Roman" panose="02020603050405020304" pitchFamily="18" charset="0"/>
                <a:cs typeface="Times New Roman" panose="02020603050405020304" pitchFamily="18" charset="0"/>
              </a:rPr>
              <a:t>The</a:t>
            </a:r>
            <a:r>
              <a:rPr lang="en-US" sz="1600" dirty="0">
                <a:latin typeface="Times New Roman" panose="02020603050405020304" pitchFamily="18" charset="0"/>
                <a:cs typeface="Times New Roman" panose="02020603050405020304" pitchFamily="18" charset="0"/>
              </a:rPr>
              <a:t> RVL-CDIP dataset is used as input, which contains diverse document images across multiple classes such as Advertisement, Invoice, Scientific Publication, News Article, and Resume. </a:t>
            </a:r>
          </a:p>
          <a:p>
            <a:pPr algn="just">
              <a:lnSpc>
                <a:spcPct val="150000"/>
              </a:lnSpc>
            </a:pPr>
            <a:r>
              <a:rPr lang="en-US" sz="1600" b="1" dirty="0" err="1">
                <a:latin typeface="Times New Roman" panose="02020603050405020304" pitchFamily="18" charset="0"/>
                <a:cs typeface="Times New Roman" panose="02020603050405020304" pitchFamily="18" charset="0"/>
              </a:rPr>
              <a:t>DiT</a:t>
            </a:r>
            <a:r>
              <a:rPr lang="en-US" sz="1600" b="1" dirty="0">
                <a:latin typeface="Times New Roman" panose="02020603050405020304" pitchFamily="18" charset="0"/>
                <a:cs typeface="Times New Roman" panose="02020603050405020304" pitchFamily="18" charset="0"/>
              </a:rPr>
              <a:t> Encoder (Vision Transformer): </a:t>
            </a:r>
            <a:r>
              <a:rPr lang="en-US" sz="1600" dirty="0">
                <a:latin typeface="Times New Roman" panose="02020603050405020304" pitchFamily="18" charset="0"/>
                <a:cs typeface="Times New Roman" panose="02020603050405020304" pitchFamily="18" charset="0"/>
              </a:rPr>
              <a:t>Each document image is passed through the </a:t>
            </a:r>
            <a:r>
              <a:rPr lang="en-US" sz="1600" dirty="0" err="1">
                <a:latin typeface="Times New Roman" panose="02020603050405020304" pitchFamily="18" charset="0"/>
                <a:cs typeface="Times New Roman" panose="02020603050405020304" pitchFamily="18" charset="0"/>
              </a:rPr>
              <a:t>DiT</a:t>
            </a:r>
            <a:r>
              <a:rPr lang="en-US" sz="1600" dirty="0">
                <a:latin typeface="Times New Roman" panose="02020603050405020304" pitchFamily="18" charset="0"/>
                <a:cs typeface="Times New Roman" panose="02020603050405020304" pitchFamily="18" charset="0"/>
              </a:rPr>
              <a:t> (Document Image Transformer), which is a Vision Transformer designed to capture both visual and layout-based features. It divides the image into patches and uses self-attention to understand spatial relationships between different regions of the document. </a:t>
            </a:r>
          </a:p>
          <a:p>
            <a:pPr algn="just">
              <a:lnSpc>
                <a:spcPct val="150000"/>
              </a:lnSpc>
            </a:pPr>
            <a:r>
              <a:rPr lang="en-US" sz="1600" b="1" dirty="0">
                <a:latin typeface="Times New Roman" panose="02020603050405020304" pitchFamily="18" charset="0"/>
                <a:cs typeface="Times New Roman" panose="02020603050405020304" pitchFamily="18" charset="0"/>
              </a:rPr>
              <a:t>Feature Embeddings: </a:t>
            </a:r>
            <a:r>
              <a:rPr lang="en-US" sz="1600" dirty="0">
                <a:latin typeface="Times New Roman" panose="02020603050405020304" pitchFamily="18" charset="0"/>
                <a:cs typeface="Times New Roman" panose="02020603050405020304" pitchFamily="18" charset="0"/>
              </a:rPr>
              <a:t>The </a:t>
            </a:r>
            <a:r>
              <a:rPr lang="en-US" sz="1600" dirty="0" err="1">
                <a:latin typeface="Times New Roman" panose="02020603050405020304" pitchFamily="18" charset="0"/>
                <a:cs typeface="Times New Roman" panose="02020603050405020304" pitchFamily="18" charset="0"/>
              </a:rPr>
              <a:t>DiT</a:t>
            </a:r>
            <a:r>
              <a:rPr lang="en-US" sz="1600" dirty="0">
                <a:latin typeface="Times New Roman" panose="02020603050405020304" pitchFamily="18" charset="0"/>
                <a:cs typeface="Times New Roman" panose="02020603050405020304" pitchFamily="18" charset="0"/>
              </a:rPr>
              <a:t> encoder converts each document into a high-dimensional embedding vector that represents both its textual appearance and structural layout. These embeddings serve as compact and meaningful representations of the documents. </a:t>
            </a:r>
          </a:p>
          <a:p>
            <a:pPr algn="just">
              <a:lnSpc>
                <a:spcPct val="150000"/>
              </a:lnSpc>
            </a:pPr>
            <a:r>
              <a:rPr lang="en-US" sz="1600" b="1" dirty="0">
                <a:latin typeface="Times New Roman" panose="02020603050405020304" pitchFamily="18" charset="0"/>
                <a:cs typeface="Times New Roman" panose="02020603050405020304" pitchFamily="18" charset="0"/>
              </a:rPr>
              <a:t>FAISS Indexing &amp; Retrieval: </a:t>
            </a:r>
            <a:r>
              <a:rPr lang="en-US" sz="1600" dirty="0">
                <a:latin typeface="Times New Roman" panose="02020603050405020304" pitchFamily="18" charset="0"/>
                <a:cs typeface="Times New Roman" panose="02020603050405020304" pitchFamily="18" charset="0"/>
              </a:rPr>
              <a:t>All document embeddings are stored in a FAISS index for efficient similarity search. During inference, the query document embedding is compared with stored embeddings, and Top-K similar documents are retrieved based on distance metrics. </a:t>
            </a:r>
          </a:p>
          <a:p>
            <a:pPr algn="just">
              <a:lnSpc>
                <a:spcPct val="150000"/>
              </a:lnSpc>
            </a:pPr>
            <a:r>
              <a:rPr lang="en-US" sz="1600" b="1" dirty="0">
                <a:latin typeface="Times New Roman" panose="02020603050405020304" pitchFamily="18" charset="0"/>
                <a:cs typeface="Times New Roman" panose="02020603050405020304" pitchFamily="18" charset="0"/>
              </a:rPr>
              <a:t>Majority Voting / Prediction: </a:t>
            </a:r>
            <a:r>
              <a:rPr lang="en-US" sz="1600" dirty="0">
                <a:latin typeface="Times New Roman" panose="02020603050405020304" pitchFamily="18" charset="0"/>
                <a:cs typeface="Times New Roman" panose="02020603050405020304" pitchFamily="18" charset="0"/>
              </a:rPr>
              <a:t>The retrieved Top-K similar documents are analyzed, and a majority voting mechanism is applied to determine the final predicted class.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172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2D2AD-8F5F-E93E-B886-4A634675E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A42FF-5053-750A-FA71-E34151D77321}"/>
              </a:ext>
            </a:extLst>
          </p:cNvPr>
          <p:cNvSpPr>
            <a:spLocks noGrp="1"/>
          </p:cNvSpPr>
          <p:nvPr>
            <p:ph type="title"/>
          </p:nvPr>
        </p:nvSpPr>
        <p:spPr>
          <a:xfrm>
            <a:off x="838200" y="178312"/>
            <a:ext cx="10515600" cy="854075"/>
          </a:xfrm>
        </p:spPr>
        <p:txBody>
          <a:bodyPr>
            <a:normAutofit/>
          </a:bodyPr>
          <a:lstStyle/>
          <a:p>
            <a:pPr algn="ctr"/>
            <a:r>
              <a:rPr lang="en-US" sz="2400" b="1" dirty="0">
                <a:latin typeface="Times New Roman" panose="02020603050405020304" pitchFamily="18" charset="0"/>
                <a:cs typeface="Times New Roman" panose="02020603050405020304" pitchFamily="18" charset="0"/>
              </a:rPr>
              <a:t>Implementation and Execution Steps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CDC2F1-000A-CF86-FCD9-EB8F206C88FC}"/>
              </a:ext>
            </a:extLst>
          </p:cNvPr>
          <p:cNvSpPr>
            <a:spLocks noGrp="1"/>
          </p:cNvSpPr>
          <p:nvPr>
            <p:ph idx="1"/>
          </p:nvPr>
        </p:nvSpPr>
        <p:spPr>
          <a:xfrm>
            <a:off x="838200" y="865238"/>
            <a:ext cx="10515600" cy="4957763"/>
          </a:xfrm>
        </p:spPr>
        <p:txBody>
          <a:bodyPr>
            <a:noAutofit/>
          </a:bodyPr>
          <a:lstStyle/>
          <a:p>
            <a:pPr marL="0" indent="0" algn="just">
              <a:lnSpc>
                <a:spcPct val="150000"/>
              </a:lnSpc>
              <a:buNone/>
            </a:pPr>
            <a:r>
              <a:rPr lang="en-US" sz="1600" b="1" dirty="0">
                <a:latin typeface="Times New Roman" panose="02020603050405020304" pitchFamily="18" charset="0"/>
                <a:cs typeface="Times New Roman" panose="02020603050405020304" pitchFamily="18" charset="0"/>
              </a:rPr>
              <a:t>Document Summarization</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Input Dataset: </a:t>
            </a:r>
            <a:r>
              <a:rPr lang="en-US" sz="1600" dirty="0">
                <a:latin typeface="Times New Roman" panose="02020603050405020304" pitchFamily="18" charset="0"/>
                <a:cs typeface="Times New Roman" panose="02020603050405020304" pitchFamily="18" charset="0"/>
              </a:rPr>
              <a:t>The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summarization dataset is used, where each sample contains a long research article and its corresponding abstract. These long-form documents require special handling due to their size and complexity.</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Chunking &amp; Embedding: </a:t>
            </a:r>
            <a:r>
              <a:rPr lang="en-US" sz="1600" dirty="0">
                <a:latin typeface="Times New Roman" panose="02020603050405020304" pitchFamily="18" charset="0"/>
                <a:cs typeface="Times New Roman" panose="02020603050405020304" pitchFamily="18" charset="0"/>
              </a:rPr>
              <a:t>Documents are divided into smaller chunks for efficient processing, and embeddings are generated using </a:t>
            </a:r>
            <a:r>
              <a:rPr lang="en-US" sz="1600" dirty="0" err="1">
                <a:latin typeface="Times New Roman" panose="02020603050405020304" pitchFamily="18" charset="0"/>
                <a:cs typeface="Times New Roman" panose="02020603050405020304" pitchFamily="18" charset="0"/>
              </a:rPr>
              <a:t>bge</a:t>
            </a:r>
            <a:r>
              <a:rPr lang="en-US" sz="1600" dirty="0">
                <a:latin typeface="Times New Roman" panose="02020603050405020304" pitchFamily="18" charset="0"/>
                <a:cs typeface="Times New Roman" panose="02020603050405020304" pitchFamily="18" charset="0"/>
              </a:rPr>
              <a:t> embeddings for semantic understanding and e5 embeddings for MMR-based relevance scoring.</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Interaction Matrix &amp; Consensus Score: </a:t>
            </a:r>
            <a:r>
              <a:rPr lang="en-US" sz="1600" dirty="0">
                <a:latin typeface="Times New Roman" panose="02020603050405020304" pitchFamily="18" charset="0"/>
                <a:cs typeface="Times New Roman" panose="02020603050405020304" pitchFamily="18" charset="0"/>
              </a:rPr>
              <a:t>An interaction matrix is computed using similarity measures (e.g., cosine similarity) between all chunks. Based on this, a consensus score is assigned to each chunk, identifying the most important and representative parts of the document.</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MMR Optimization: </a:t>
            </a:r>
            <a:r>
              <a:rPr lang="en-US" sz="1600" dirty="0">
                <a:latin typeface="Times New Roman" panose="02020603050405020304" pitchFamily="18" charset="0"/>
                <a:cs typeface="Times New Roman" panose="02020603050405020304" pitchFamily="18" charset="0"/>
              </a:rPr>
              <a:t>Maximum Marginal Relevance (MMR) is applied to select key content by balancing relevance and redundancy. This ensures that the selected information is both important and diverse, avoiding repeated or overlapping content in the summary.</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BART / LED Model: </a:t>
            </a:r>
            <a:r>
              <a:rPr lang="en-US" sz="1600" dirty="0">
                <a:latin typeface="Times New Roman" panose="02020603050405020304" pitchFamily="18" charset="0"/>
                <a:cs typeface="Times New Roman" panose="02020603050405020304" pitchFamily="18" charset="0"/>
              </a:rPr>
              <a:t>The selected key content is passed into sequence-to-sequence models such as BART or LED. These models generate coherent and context-aware summaries while maintaining logical flow and preserving essential information.</a:t>
            </a:r>
          </a:p>
        </p:txBody>
      </p:sp>
    </p:spTree>
    <p:extLst>
      <p:ext uri="{BB962C8B-B14F-4D97-AF65-F5344CB8AC3E}">
        <p14:creationId xmlns:p14="http://schemas.microsoft.com/office/powerpoint/2010/main" val="3990154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B8A6-AC85-F3D0-B764-9E7B15179648}"/>
              </a:ext>
            </a:extLst>
          </p:cNvPr>
          <p:cNvSpPr>
            <a:spLocks noGrp="1"/>
          </p:cNvSpPr>
          <p:nvPr>
            <p:ph type="title"/>
          </p:nvPr>
        </p:nvSpPr>
        <p:spPr>
          <a:xfrm>
            <a:off x="838200" y="399536"/>
            <a:ext cx="10515600" cy="618101"/>
          </a:xfrm>
        </p:spPr>
        <p:txBody>
          <a:bodyPr>
            <a:normAutofit/>
          </a:bodyPr>
          <a:lstStyle/>
          <a:p>
            <a:pPr algn="ctr"/>
            <a:r>
              <a:rPr lang="en-US" sz="2400" b="1" dirty="0">
                <a:latin typeface="Times New Roman" panose="02020603050405020304" pitchFamily="18" charset="0"/>
                <a:cs typeface="Times New Roman" panose="02020603050405020304" pitchFamily="18" charset="0"/>
              </a:rPr>
              <a:t>RESULTS OBTAINED</a:t>
            </a:r>
            <a:endParaRPr lang="en-IN" sz="2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B67A64C-9DBB-D282-1595-C58AAD9B1F05}"/>
              </a:ext>
            </a:extLst>
          </p:cNvPr>
          <p:cNvPicPr>
            <a:picLocks noChangeAspect="1"/>
          </p:cNvPicPr>
          <p:nvPr/>
        </p:nvPicPr>
        <p:blipFill>
          <a:blip r:embed="rId2"/>
          <a:stretch>
            <a:fillRect/>
          </a:stretch>
        </p:blipFill>
        <p:spPr>
          <a:xfrm>
            <a:off x="244541" y="1017637"/>
            <a:ext cx="6097265" cy="5115797"/>
          </a:xfrm>
          <a:prstGeom prst="rect">
            <a:avLst/>
          </a:prstGeom>
        </p:spPr>
      </p:pic>
      <p:graphicFrame>
        <p:nvGraphicFramePr>
          <p:cNvPr id="3" name="Table 2">
            <a:extLst>
              <a:ext uri="{FF2B5EF4-FFF2-40B4-BE49-F238E27FC236}">
                <a16:creationId xmlns:a16="http://schemas.microsoft.com/office/drawing/2014/main" id="{7832227B-D4B3-7621-7BD1-806FB26C90F2}"/>
              </a:ext>
            </a:extLst>
          </p:cNvPr>
          <p:cNvGraphicFramePr>
            <a:graphicFrameLocks noGrp="1"/>
          </p:cNvGraphicFramePr>
          <p:nvPr>
            <p:extLst>
              <p:ext uri="{D42A27DB-BD31-4B8C-83A1-F6EECF244321}">
                <p14:modId xmlns:p14="http://schemas.microsoft.com/office/powerpoint/2010/main" val="2351044108"/>
              </p:ext>
            </p:extLst>
          </p:nvPr>
        </p:nvGraphicFramePr>
        <p:xfrm>
          <a:off x="6936238" y="1636641"/>
          <a:ext cx="4769485" cy="2410460"/>
        </p:xfrm>
        <a:graphic>
          <a:graphicData uri="http://schemas.openxmlformats.org/drawingml/2006/table">
            <a:tbl>
              <a:tblPr firstRow="1" firstCol="1" lastRow="1" lastCol="1" bandRow="1" bandCol="1">
                <a:tableStyleId>{9D7B26C5-4107-4FEC-AEDC-1716B250A1EF}</a:tableStyleId>
              </a:tblPr>
              <a:tblGrid>
                <a:gridCol w="1797685">
                  <a:extLst>
                    <a:ext uri="{9D8B030D-6E8A-4147-A177-3AD203B41FA5}">
                      <a16:colId xmlns:a16="http://schemas.microsoft.com/office/drawing/2014/main" val="4066762594"/>
                    </a:ext>
                  </a:extLst>
                </a:gridCol>
                <a:gridCol w="1150620">
                  <a:extLst>
                    <a:ext uri="{9D8B030D-6E8A-4147-A177-3AD203B41FA5}">
                      <a16:colId xmlns:a16="http://schemas.microsoft.com/office/drawing/2014/main" val="76396996"/>
                    </a:ext>
                  </a:extLst>
                </a:gridCol>
                <a:gridCol w="1821180">
                  <a:extLst>
                    <a:ext uri="{9D8B030D-6E8A-4147-A177-3AD203B41FA5}">
                      <a16:colId xmlns:a16="http://schemas.microsoft.com/office/drawing/2014/main" val="1869569382"/>
                    </a:ext>
                  </a:extLst>
                </a:gridCol>
              </a:tblGrid>
              <a:tr h="363855">
                <a:tc>
                  <a:txBody>
                    <a:bodyPr/>
                    <a:lstStyle/>
                    <a:p>
                      <a:pPr marL="393065">
                        <a:spcBef>
                          <a:spcPts val="390"/>
                        </a:spcBef>
                        <a:buNone/>
                      </a:pPr>
                      <a:r>
                        <a:rPr lang="en-US" sz="1400">
                          <a:effectLst/>
                          <a:latin typeface="Times New Roman" panose="02020603050405020304" pitchFamily="18" charset="0"/>
                          <a:cs typeface="Times New Roman" panose="02020603050405020304" pitchFamily="18" charset="0"/>
                        </a:rPr>
                        <a:t>Document</a:t>
                      </a:r>
                      <a:r>
                        <a:rPr lang="en-US" sz="1400" spc="-10">
                          <a:effectLst/>
                          <a:latin typeface="Times New Roman" panose="02020603050405020304" pitchFamily="18" charset="0"/>
                          <a:cs typeface="Times New Roman" panose="02020603050405020304" pitchFamily="18" charset="0"/>
                        </a:rPr>
                        <a:t> Class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L="1905" marR="24765" algn="ctr">
                        <a:spcBef>
                          <a:spcPts val="390"/>
                        </a:spcBef>
                        <a:buNone/>
                      </a:pPr>
                      <a:r>
                        <a:rPr lang="en-US" sz="1400" spc="-10">
                          <a:effectLst/>
                          <a:latin typeface="Times New Roman" panose="02020603050405020304" pitchFamily="18" charset="0"/>
                          <a:cs typeface="Times New Roman" panose="02020603050405020304" pitchFamily="18" charset="0"/>
                        </a:rPr>
                        <a:t>Precision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L="288925">
                        <a:buNone/>
                        <a:tabLst>
                          <a:tab pos="1158875" algn="l"/>
                        </a:tabLst>
                      </a:pPr>
                      <a:r>
                        <a:rPr lang="en-US" sz="1400" spc="-10">
                          <a:effectLst/>
                          <a:latin typeface="Times New Roman" panose="02020603050405020304" pitchFamily="18" charset="0"/>
                          <a:cs typeface="Times New Roman" panose="02020603050405020304" pitchFamily="18" charset="0"/>
                        </a:rPr>
                        <a:t>Recall</a:t>
                      </a:r>
                      <a:r>
                        <a:rPr lang="en-US" sz="1400">
                          <a:effectLst/>
                          <a:latin typeface="Times New Roman" panose="02020603050405020304" pitchFamily="18" charset="0"/>
                          <a:cs typeface="Times New Roman" panose="02020603050405020304" pitchFamily="18" charset="0"/>
                        </a:rPr>
                        <a:t>	</a:t>
                      </a:r>
                      <a:r>
                        <a:rPr lang="en-US" sz="1400" spc="-10">
                          <a:effectLst/>
                          <a:latin typeface="Times New Roman" panose="02020603050405020304" pitchFamily="18" charset="0"/>
                          <a:cs typeface="Times New Roman" panose="02020603050405020304" pitchFamily="18" charset="0"/>
                        </a:rPr>
                        <a:t>F1-</a:t>
                      </a:r>
                      <a:r>
                        <a:rPr lang="en-US" sz="1400" spc="-20">
                          <a:effectLst/>
                          <a:latin typeface="Times New Roman" panose="02020603050405020304" pitchFamily="18" charset="0"/>
                          <a:cs typeface="Times New Roman" panose="02020603050405020304" pitchFamily="18" charset="0"/>
                        </a:rPr>
                        <a:t>score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3069601250"/>
                  </a:ext>
                </a:extLst>
              </a:tr>
              <a:tr h="323850">
                <a:tc>
                  <a:txBody>
                    <a:bodyPr/>
                    <a:lstStyle/>
                    <a:p>
                      <a:pPr marL="441960">
                        <a:spcBef>
                          <a:spcPts val="400"/>
                        </a:spcBef>
                        <a:buNone/>
                      </a:pPr>
                      <a:r>
                        <a:rPr lang="en-US" sz="1400" spc="-10" dirty="0">
                          <a:effectLst/>
                          <a:latin typeface="Times New Roman" panose="02020603050405020304" pitchFamily="18" charset="0"/>
                          <a:cs typeface="Times New Roman" panose="02020603050405020304" pitchFamily="18" charset="0"/>
                        </a:rPr>
                        <a:t>Advertisement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R="24765" algn="ctr">
                        <a:spcBef>
                          <a:spcPts val="400"/>
                        </a:spcBef>
                        <a:buNone/>
                      </a:pPr>
                      <a:r>
                        <a:rPr lang="en-US" sz="1400" spc="-20">
                          <a:effectLst/>
                          <a:latin typeface="Times New Roman" panose="02020603050405020304" pitchFamily="18" charset="0"/>
                          <a:cs typeface="Times New Roman" panose="02020603050405020304" pitchFamily="18" charset="0"/>
                        </a:rPr>
                        <a:t>0.98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L="358775">
                        <a:buNone/>
                        <a:tabLst>
                          <a:tab pos="1305560" algn="l"/>
                        </a:tabLst>
                      </a:pPr>
                      <a:r>
                        <a:rPr lang="en-US" sz="1400" b="0" spc="-20">
                          <a:effectLst/>
                          <a:latin typeface="Times New Roman" panose="02020603050405020304" pitchFamily="18" charset="0"/>
                          <a:cs typeface="Times New Roman" panose="02020603050405020304" pitchFamily="18" charset="0"/>
                        </a:rPr>
                        <a:t>0.98</a:t>
                      </a:r>
                      <a:r>
                        <a:rPr lang="en-US" sz="1400" b="0">
                          <a:effectLst/>
                          <a:latin typeface="Times New Roman" panose="02020603050405020304" pitchFamily="18" charset="0"/>
                          <a:cs typeface="Times New Roman" panose="02020603050405020304" pitchFamily="18" charset="0"/>
                        </a:rPr>
                        <a:t>	</a:t>
                      </a:r>
                      <a:r>
                        <a:rPr lang="en-US" sz="1400" b="0" spc="-20">
                          <a:effectLst/>
                          <a:latin typeface="Times New Roman" panose="02020603050405020304" pitchFamily="18" charset="0"/>
                          <a:cs typeface="Times New Roman" panose="02020603050405020304" pitchFamily="18" charset="0"/>
                        </a:rPr>
                        <a:t>0.98</a:t>
                      </a:r>
                      <a:endParaRPr lang="en-IN" sz="14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979515013"/>
                  </a:ext>
                </a:extLst>
              </a:tr>
              <a:tr h="363855">
                <a:tc>
                  <a:txBody>
                    <a:bodyPr/>
                    <a:lstStyle/>
                    <a:p>
                      <a:pPr marL="42545" algn="ctr">
                        <a:spcBef>
                          <a:spcPts val="715"/>
                        </a:spcBef>
                        <a:buNone/>
                      </a:pPr>
                      <a:r>
                        <a:rPr lang="en-US" sz="1400" spc="-10" dirty="0">
                          <a:effectLst/>
                          <a:latin typeface="Times New Roman" panose="02020603050405020304" pitchFamily="18" charset="0"/>
                          <a:cs typeface="Times New Roman" panose="02020603050405020304" pitchFamily="18" charset="0"/>
                        </a:rPr>
                        <a:t>Invoice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R="24765" algn="ctr">
                        <a:spcBef>
                          <a:spcPts val="715"/>
                        </a:spcBef>
                        <a:buNone/>
                      </a:pPr>
                      <a:r>
                        <a:rPr lang="en-US" sz="1400" spc="-20">
                          <a:effectLst/>
                          <a:latin typeface="Times New Roman" panose="02020603050405020304" pitchFamily="18" charset="0"/>
                          <a:cs typeface="Times New Roman" panose="02020603050405020304" pitchFamily="18" charset="0"/>
                        </a:rPr>
                        <a:t>0.99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L="358775">
                        <a:spcBef>
                          <a:spcPts val="320"/>
                        </a:spcBef>
                        <a:buNone/>
                        <a:tabLst>
                          <a:tab pos="1305560" algn="l"/>
                        </a:tabLst>
                      </a:pPr>
                      <a:r>
                        <a:rPr lang="en-US" sz="1400" b="0" spc="-20" dirty="0">
                          <a:effectLst/>
                          <a:latin typeface="Times New Roman" panose="02020603050405020304" pitchFamily="18" charset="0"/>
                          <a:cs typeface="Times New Roman" panose="02020603050405020304" pitchFamily="18" charset="0"/>
                        </a:rPr>
                        <a:t>1.00</a:t>
                      </a:r>
                      <a:r>
                        <a:rPr lang="en-US" sz="1400" b="0" dirty="0">
                          <a:effectLst/>
                          <a:latin typeface="Times New Roman" panose="02020603050405020304" pitchFamily="18" charset="0"/>
                          <a:cs typeface="Times New Roman" panose="02020603050405020304" pitchFamily="18" charset="0"/>
                        </a:rPr>
                        <a:t>	</a:t>
                      </a:r>
                      <a:r>
                        <a:rPr lang="en-US" sz="1400" b="0" spc="-20" dirty="0">
                          <a:effectLst/>
                          <a:latin typeface="Times New Roman" panose="02020603050405020304" pitchFamily="18" charset="0"/>
                          <a:cs typeface="Times New Roman" panose="02020603050405020304" pitchFamily="18" charset="0"/>
                        </a:rPr>
                        <a:t>0.99</a:t>
                      </a:r>
                      <a:endParaRPr lang="en-IN" sz="14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2535522264"/>
                  </a:ext>
                </a:extLst>
              </a:tr>
              <a:tr h="363855">
                <a:tc>
                  <a:txBody>
                    <a:bodyPr/>
                    <a:lstStyle/>
                    <a:p>
                      <a:pPr marL="150495">
                        <a:spcBef>
                          <a:spcPts val="715"/>
                        </a:spcBef>
                        <a:buNone/>
                      </a:pPr>
                      <a:r>
                        <a:rPr lang="en-US" sz="1400" dirty="0">
                          <a:effectLst/>
                          <a:latin typeface="Times New Roman" panose="02020603050405020304" pitchFamily="18" charset="0"/>
                          <a:cs typeface="Times New Roman" panose="02020603050405020304" pitchFamily="18" charset="0"/>
                        </a:rPr>
                        <a:t>Scientific</a:t>
                      </a:r>
                      <a:r>
                        <a:rPr lang="en-US" sz="1400" spc="-10" dirty="0">
                          <a:effectLst/>
                          <a:latin typeface="Times New Roman" panose="02020603050405020304" pitchFamily="18" charset="0"/>
                          <a:cs typeface="Times New Roman" panose="02020603050405020304" pitchFamily="18" charset="0"/>
                        </a:rPr>
                        <a:t> Publication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R="24765" algn="ctr">
                        <a:spcBef>
                          <a:spcPts val="715"/>
                        </a:spcBef>
                        <a:buNone/>
                      </a:pPr>
                      <a:r>
                        <a:rPr lang="en-US" sz="1400" spc="-20">
                          <a:effectLst/>
                          <a:latin typeface="Times New Roman" panose="02020603050405020304" pitchFamily="18" charset="0"/>
                          <a:cs typeface="Times New Roman" panose="02020603050405020304" pitchFamily="18" charset="0"/>
                        </a:rPr>
                        <a:t>0.98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L="358775">
                        <a:spcBef>
                          <a:spcPts val="320"/>
                        </a:spcBef>
                        <a:buNone/>
                        <a:tabLst>
                          <a:tab pos="1305560" algn="l"/>
                        </a:tabLst>
                      </a:pPr>
                      <a:r>
                        <a:rPr lang="en-US" sz="1400" b="0" spc="-20">
                          <a:effectLst/>
                          <a:latin typeface="Times New Roman" panose="02020603050405020304" pitchFamily="18" charset="0"/>
                          <a:cs typeface="Times New Roman" panose="02020603050405020304" pitchFamily="18" charset="0"/>
                        </a:rPr>
                        <a:t>0.99</a:t>
                      </a:r>
                      <a:r>
                        <a:rPr lang="en-US" sz="1400" b="0">
                          <a:effectLst/>
                          <a:latin typeface="Times New Roman" panose="02020603050405020304" pitchFamily="18" charset="0"/>
                          <a:cs typeface="Times New Roman" panose="02020603050405020304" pitchFamily="18" charset="0"/>
                        </a:rPr>
                        <a:t>	</a:t>
                      </a:r>
                      <a:r>
                        <a:rPr lang="en-US" sz="1400" b="0" spc="-20">
                          <a:effectLst/>
                          <a:latin typeface="Times New Roman" panose="02020603050405020304" pitchFamily="18" charset="0"/>
                          <a:cs typeface="Times New Roman" panose="02020603050405020304" pitchFamily="18" charset="0"/>
                        </a:rPr>
                        <a:t>0.99</a:t>
                      </a:r>
                      <a:endParaRPr lang="en-IN" sz="14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761417771"/>
                  </a:ext>
                </a:extLst>
              </a:tr>
              <a:tr h="363855">
                <a:tc>
                  <a:txBody>
                    <a:bodyPr/>
                    <a:lstStyle/>
                    <a:p>
                      <a:pPr marL="502285">
                        <a:spcBef>
                          <a:spcPts val="720"/>
                        </a:spcBef>
                        <a:buNone/>
                      </a:pPr>
                      <a:r>
                        <a:rPr lang="en-US" sz="1400">
                          <a:effectLst/>
                          <a:latin typeface="Times New Roman" panose="02020603050405020304" pitchFamily="18" charset="0"/>
                          <a:cs typeface="Times New Roman" panose="02020603050405020304" pitchFamily="18" charset="0"/>
                        </a:rPr>
                        <a:t>News</a:t>
                      </a:r>
                      <a:r>
                        <a:rPr lang="en-US" sz="1400" spc="-20">
                          <a:effectLst/>
                          <a:latin typeface="Times New Roman" panose="02020603050405020304" pitchFamily="18" charset="0"/>
                          <a:cs typeface="Times New Roman" panose="02020603050405020304" pitchFamily="18" charset="0"/>
                        </a:rPr>
                        <a:t> </a:t>
                      </a:r>
                      <a:r>
                        <a:rPr lang="en-US" sz="1400" spc="-10">
                          <a:effectLst/>
                          <a:latin typeface="Times New Roman" panose="02020603050405020304" pitchFamily="18" charset="0"/>
                          <a:cs typeface="Times New Roman" panose="02020603050405020304" pitchFamily="18" charset="0"/>
                        </a:rPr>
                        <a:t>Article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R="24765" algn="ctr">
                        <a:spcBef>
                          <a:spcPts val="720"/>
                        </a:spcBef>
                        <a:buNone/>
                      </a:pPr>
                      <a:r>
                        <a:rPr lang="en-US" sz="1400" spc="-20">
                          <a:effectLst/>
                          <a:latin typeface="Times New Roman" panose="02020603050405020304" pitchFamily="18" charset="0"/>
                          <a:cs typeface="Times New Roman" panose="02020603050405020304" pitchFamily="18" charset="0"/>
                        </a:rPr>
                        <a:t>0.98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L="358775">
                        <a:spcBef>
                          <a:spcPts val="325"/>
                        </a:spcBef>
                        <a:buNone/>
                        <a:tabLst>
                          <a:tab pos="1305560" algn="l"/>
                        </a:tabLst>
                      </a:pPr>
                      <a:r>
                        <a:rPr lang="en-US" sz="1400" b="0" spc="-20" dirty="0">
                          <a:effectLst/>
                          <a:latin typeface="Times New Roman" panose="02020603050405020304" pitchFamily="18" charset="0"/>
                          <a:cs typeface="Times New Roman" panose="02020603050405020304" pitchFamily="18" charset="0"/>
                        </a:rPr>
                        <a:t>0.97</a:t>
                      </a:r>
                      <a:r>
                        <a:rPr lang="en-US" sz="1400" b="0" dirty="0">
                          <a:effectLst/>
                          <a:latin typeface="Times New Roman" panose="02020603050405020304" pitchFamily="18" charset="0"/>
                          <a:cs typeface="Times New Roman" panose="02020603050405020304" pitchFamily="18" charset="0"/>
                        </a:rPr>
                        <a:t>	</a:t>
                      </a:r>
                      <a:r>
                        <a:rPr lang="en-US" sz="1400" b="0" spc="-20" dirty="0">
                          <a:effectLst/>
                          <a:latin typeface="Times New Roman" panose="02020603050405020304" pitchFamily="18" charset="0"/>
                          <a:cs typeface="Times New Roman" panose="02020603050405020304" pitchFamily="18" charset="0"/>
                        </a:rPr>
                        <a:t>0.98</a:t>
                      </a:r>
                      <a:endParaRPr lang="en-IN" sz="14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2696345069"/>
                  </a:ext>
                </a:extLst>
              </a:tr>
              <a:tr h="364490">
                <a:tc>
                  <a:txBody>
                    <a:bodyPr/>
                    <a:lstStyle/>
                    <a:p>
                      <a:pPr marL="42545" marR="635" algn="ctr">
                        <a:spcBef>
                          <a:spcPts val="715"/>
                        </a:spcBef>
                        <a:buNone/>
                      </a:pPr>
                      <a:r>
                        <a:rPr lang="en-US" sz="1400" spc="-10">
                          <a:effectLst/>
                          <a:latin typeface="Times New Roman" panose="02020603050405020304" pitchFamily="18" charset="0"/>
                          <a:cs typeface="Times New Roman" panose="02020603050405020304" pitchFamily="18" charset="0"/>
                        </a:rPr>
                        <a:t>Resume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R="24765" algn="ctr">
                        <a:spcBef>
                          <a:spcPts val="715"/>
                        </a:spcBef>
                        <a:buNone/>
                      </a:pPr>
                      <a:r>
                        <a:rPr lang="en-US" sz="1400" spc="-20">
                          <a:effectLst/>
                          <a:latin typeface="Times New Roman" panose="02020603050405020304" pitchFamily="18" charset="0"/>
                          <a:cs typeface="Times New Roman" panose="02020603050405020304" pitchFamily="18" charset="0"/>
                        </a:rPr>
                        <a:t>1.00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L="358775">
                        <a:spcBef>
                          <a:spcPts val="320"/>
                        </a:spcBef>
                        <a:buNone/>
                        <a:tabLst>
                          <a:tab pos="1305560" algn="l"/>
                        </a:tabLst>
                      </a:pPr>
                      <a:r>
                        <a:rPr lang="en-US" sz="1400" b="0" spc="-20" dirty="0">
                          <a:effectLst/>
                          <a:latin typeface="Times New Roman" panose="02020603050405020304" pitchFamily="18" charset="0"/>
                          <a:cs typeface="Times New Roman" panose="02020603050405020304" pitchFamily="18" charset="0"/>
                        </a:rPr>
                        <a:t>0.99</a:t>
                      </a:r>
                      <a:r>
                        <a:rPr lang="en-US" sz="1400" b="0" dirty="0">
                          <a:effectLst/>
                          <a:latin typeface="Times New Roman" panose="02020603050405020304" pitchFamily="18" charset="0"/>
                          <a:cs typeface="Times New Roman" panose="02020603050405020304" pitchFamily="18" charset="0"/>
                        </a:rPr>
                        <a:t>	</a:t>
                      </a:r>
                      <a:r>
                        <a:rPr lang="en-US" sz="1400" b="0" spc="-20" dirty="0">
                          <a:effectLst/>
                          <a:latin typeface="Times New Roman" panose="02020603050405020304" pitchFamily="18" charset="0"/>
                          <a:cs typeface="Times New Roman" panose="02020603050405020304" pitchFamily="18" charset="0"/>
                        </a:rPr>
                        <a:t>0.99</a:t>
                      </a:r>
                      <a:endParaRPr lang="en-IN" sz="14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663637901"/>
                  </a:ext>
                </a:extLst>
              </a:tr>
              <a:tr h="266700">
                <a:tc>
                  <a:txBody>
                    <a:bodyPr/>
                    <a:lstStyle/>
                    <a:p>
                      <a:pPr marL="345440">
                        <a:lnSpc>
                          <a:spcPts val="1280"/>
                        </a:lnSpc>
                        <a:spcBef>
                          <a:spcPts val="725"/>
                        </a:spcBef>
                        <a:buNone/>
                      </a:pPr>
                      <a:r>
                        <a:rPr lang="en-US" sz="1400" dirty="0">
                          <a:effectLst/>
                          <a:latin typeface="Times New Roman" panose="02020603050405020304" pitchFamily="18" charset="0"/>
                          <a:cs typeface="Times New Roman" panose="02020603050405020304" pitchFamily="18" charset="0"/>
                        </a:rPr>
                        <a:t>Overall</a:t>
                      </a:r>
                      <a:r>
                        <a:rPr lang="en-US" sz="1400" spc="-10" dirty="0">
                          <a:effectLst/>
                          <a:latin typeface="Times New Roman" panose="02020603050405020304" pitchFamily="18" charset="0"/>
                          <a:cs typeface="Times New Roman" panose="02020603050405020304" pitchFamily="18" charset="0"/>
                        </a:rPr>
                        <a:t> Accuracy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a:buNone/>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tc>
                  <a:txBody>
                    <a:bodyPr/>
                    <a:lstStyle/>
                    <a:p>
                      <a:pPr marR="247650" algn="r">
                        <a:spcBef>
                          <a:spcPts val="315"/>
                        </a:spcBef>
                        <a:buNone/>
                      </a:pPr>
                      <a:r>
                        <a:rPr lang="en-US" sz="1400" spc="-20" dirty="0">
                          <a:effectLst/>
                          <a:latin typeface="Times New Roman" panose="02020603050405020304" pitchFamily="18" charset="0"/>
                          <a:cs typeface="Times New Roman" panose="02020603050405020304" pitchFamily="18" charset="0"/>
                        </a:rPr>
                        <a:t>0.99</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4012492800"/>
                  </a:ext>
                </a:extLst>
              </a:tr>
            </a:tbl>
          </a:graphicData>
        </a:graphic>
      </p:graphicFrame>
      <p:sp>
        <p:nvSpPr>
          <p:cNvPr id="6" name="TextBox 5">
            <a:extLst>
              <a:ext uri="{FF2B5EF4-FFF2-40B4-BE49-F238E27FC236}">
                <a16:creationId xmlns:a16="http://schemas.microsoft.com/office/drawing/2014/main" id="{C4C69C63-35F1-B42D-59AC-A5D40DF235AB}"/>
              </a:ext>
            </a:extLst>
          </p:cNvPr>
          <p:cNvSpPr txBox="1"/>
          <p:nvPr/>
        </p:nvSpPr>
        <p:spPr>
          <a:xfrm>
            <a:off x="6601132" y="4047101"/>
            <a:ext cx="4493342" cy="786754"/>
          </a:xfrm>
          <a:prstGeom prst="rect">
            <a:avLst/>
          </a:prstGeom>
          <a:noFill/>
        </p:spPr>
        <p:txBody>
          <a:bodyPr wrap="square">
            <a:spAutoFit/>
          </a:bodyPr>
          <a:lstStyle/>
          <a:p>
            <a:pPr marL="1449070" algn="ctr">
              <a:lnSpc>
                <a:spcPct val="150000"/>
              </a:lnSpc>
              <a:buNone/>
            </a:pPr>
            <a:r>
              <a:rPr lang="en-US" sz="1600" b="1" i="1" dirty="0">
                <a:effectLst/>
                <a:latin typeface="Times New Roman" panose="02020603050405020304" pitchFamily="18" charset="0"/>
                <a:ea typeface="Times New Roman" panose="02020603050405020304" pitchFamily="18" charset="0"/>
              </a:rPr>
              <a:t>Table</a:t>
            </a:r>
            <a:r>
              <a:rPr lang="en-US" sz="1600" b="1" i="1" spc="-25" dirty="0">
                <a:effectLst/>
                <a:latin typeface="Times New Roman" panose="02020603050405020304" pitchFamily="18" charset="0"/>
                <a:ea typeface="Times New Roman" panose="02020603050405020304" pitchFamily="18" charset="0"/>
              </a:rPr>
              <a:t> </a:t>
            </a:r>
            <a:r>
              <a:rPr lang="en-US" sz="1600" b="1" i="1" dirty="0">
                <a:effectLst/>
                <a:latin typeface="Times New Roman" panose="02020603050405020304" pitchFamily="18" charset="0"/>
                <a:ea typeface="Times New Roman" panose="02020603050405020304" pitchFamily="18" charset="0"/>
              </a:rPr>
              <a:t>1:</a:t>
            </a:r>
            <a:r>
              <a:rPr lang="en-US" sz="1600" b="1" i="1" spc="-5" dirty="0">
                <a:effectLst/>
                <a:latin typeface="Times New Roman" panose="02020603050405020304" pitchFamily="18" charset="0"/>
                <a:ea typeface="Times New Roman" panose="02020603050405020304" pitchFamily="18" charset="0"/>
              </a:rPr>
              <a:t> </a:t>
            </a:r>
            <a:r>
              <a:rPr lang="en-US" sz="1600" b="1" i="1" dirty="0">
                <a:effectLst/>
                <a:latin typeface="Times New Roman" panose="02020603050405020304" pitchFamily="18" charset="0"/>
                <a:ea typeface="Times New Roman" panose="02020603050405020304" pitchFamily="18" charset="0"/>
              </a:rPr>
              <a:t>Evaluation</a:t>
            </a:r>
            <a:r>
              <a:rPr lang="en-US" sz="1600" b="1" i="1" spc="-15" dirty="0">
                <a:effectLst/>
                <a:latin typeface="Times New Roman" panose="02020603050405020304" pitchFamily="18" charset="0"/>
                <a:ea typeface="Times New Roman" panose="02020603050405020304" pitchFamily="18" charset="0"/>
              </a:rPr>
              <a:t> </a:t>
            </a:r>
            <a:r>
              <a:rPr lang="en-US" sz="1600" b="1" i="1" dirty="0">
                <a:effectLst/>
                <a:latin typeface="Times New Roman" panose="02020603050405020304" pitchFamily="18" charset="0"/>
                <a:ea typeface="Times New Roman" panose="02020603050405020304" pitchFamily="18" charset="0"/>
              </a:rPr>
              <a:t>Metrics</a:t>
            </a:r>
            <a:r>
              <a:rPr lang="en-US" sz="1600" b="1" i="1" spc="-15" dirty="0">
                <a:effectLst/>
                <a:latin typeface="Times New Roman" panose="02020603050405020304" pitchFamily="18" charset="0"/>
                <a:ea typeface="Times New Roman" panose="02020603050405020304" pitchFamily="18" charset="0"/>
              </a:rPr>
              <a:t> </a:t>
            </a:r>
            <a:r>
              <a:rPr lang="en-US" sz="1600" b="1" i="1" dirty="0">
                <a:effectLst/>
                <a:latin typeface="Times New Roman" panose="02020603050405020304" pitchFamily="18" charset="0"/>
                <a:ea typeface="Times New Roman" panose="02020603050405020304" pitchFamily="18" charset="0"/>
              </a:rPr>
              <a:t>for</a:t>
            </a:r>
            <a:r>
              <a:rPr lang="en-US" sz="1600" b="1" i="1" spc="-10" dirty="0">
                <a:effectLst/>
                <a:latin typeface="Times New Roman" panose="02020603050405020304" pitchFamily="18" charset="0"/>
                <a:ea typeface="Times New Roman" panose="02020603050405020304" pitchFamily="18" charset="0"/>
              </a:rPr>
              <a:t> </a:t>
            </a:r>
            <a:r>
              <a:rPr lang="en-US" sz="1600" b="1" i="1" dirty="0">
                <a:effectLst/>
                <a:latin typeface="Times New Roman" panose="02020603050405020304" pitchFamily="18" charset="0"/>
                <a:ea typeface="Times New Roman" panose="02020603050405020304" pitchFamily="18" charset="0"/>
              </a:rPr>
              <a:t>Document</a:t>
            </a:r>
            <a:r>
              <a:rPr lang="en-US" sz="1600" b="1" i="1" spc="-5" dirty="0">
                <a:effectLst/>
                <a:latin typeface="Times New Roman" panose="02020603050405020304" pitchFamily="18" charset="0"/>
                <a:ea typeface="Times New Roman" panose="02020603050405020304" pitchFamily="18" charset="0"/>
              </a:rPr>
              <a:t> </a:t>
            </a:r>
            <a:r>
              <a:rPr lang="en-US" sz="1600" b="1" i="1" spc="-10" dirty="0">
                <a:effectLst/>
                <a:latin typeface="Times New Roman" panose="02020603050405020304" pitchFamily="18" charset="0"/>
                <a:ea typeface="Times New Roman" panose="02020603050405020304" pitchFamily="18" charset="0"/>
              </a:rPr>
              <a:t>Classification</a:t>
            </a:r>
            <a:endParaRPr lang="en-IN" sz="1600" b="1" i="1"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4B0DE8F3-7312-8EFB-303F-C27F294BD295}"/>
              </a:ext>
            </a:extLst>
          </p:cNvPr>
          <p:cNvSpPr txBox="1"/>
          <p:nvPr/>
        </p:nvSpPr>
        <p:spPr>
          <a:xfrm>
            <a:off x="543022" y="6133434"/>
            <a:ext cx="6096000" cy="338554"/>
          </a:xfrm>
          <a:prstGeom prst="rect">
            <a:avLst/>
          </a:prstGeom>
          <a:noFill/>
        </p:spPr>
        <p:txBody>
          <a:bodyPr wrap="square">
            <a:spAutoFit/>
          </a:bodyPr>
          <a:lstStyle/>
          <a:p>
            <a:pPr marL="220980" algn="ctr">
              <a:buNone/>
            </a:pPr>
            <a:r>
              <a:rPr lang="en-US" sz="1600" b="1" i="1" dirty="0">
                <a:effectLst/>
                <a:latin typeface="Times New Roman" panose="02020603050405020304" pitchFamily="18" charset="0"/>
                <a:ea typeface="Times New Roman" panose="02020603050405020304" pitchFamily="18" charset="0"/>
              </a:rPr>
              <a:t>Fig.</a:t>
            </a:r>
            <a:r>
              <a:rPr lang="en-US" sz="1600" b="1" i="1" spc="-10" dirty="0">
                <a:effectLst/>
                <a:latin typeface="Times New Roman" panose="02020603050405020304" pitchFamily="18" charset="0"/>
                <a:ea typeface="Times New Roman" panose="02020603050405020304" pitchFamily="18" charset="0"/>
              </a:rPr>
              <a:t> </a:t>
            </a:r>
            <a:r>
              <a:rPr lang="en-US" sz="1600" b="1" i="1" spc="-10" dirty="0">
                <a:latin typeface="Times New Roman" panose="02020603050405020304" pitchFamily="18" charset="0"/>
                <a:ea typeface="Times New Roman" panose="02020603050405020304" pitchFamily="18" charset="0"/>
              </a:rPr>
              <a:t>1</a:t>
            </a:r>
            <a:r>
              <a:rPr lang="en-US" sz="1600" b="1" i="1" dirty="0">
                <a:effectLst/>
                <a:latin typeface="Times New Roman" panose="02020603050405020304" pitchFamily="18" charset="0"/>
                <a:ea typeface="Times New Roman" panose="02020603050405020304" pitchFamily="18" charset="0"/>
              </a:rPr>
              <a:t>:</a:t>
            </a:r>
            <a:r>
              <a:rPr lang="en-US" sz="1600" b="1" i="1" spc="-10" dirty="0">
                <a:effectLst/>
                <a:latin typeface="Times New Roman" panose="02020603050405020304" pitchFamily="18" charset="0"/>
                <a:ea typeface="Times New Roman" panose="02020603050405020304" pitchFamily="18" charset="0"/>
              </a:rPr>
              <a:t> </a:t>
            </a:r>
            <a:r>
              <a:rPr lang="en-US" sz="1600" b="1" i="1" dirty="0">
                <a:effectLst/>
                <a:latin typeface="Times New Roman" panose="02020603050405020304" pitchFamily="18" charset="0"/>
                <a:ea typeface="Times New Roman" panose="02020603050405020304" pitchFamily="18" charset="0"/>
              </a:rPr>
              <a:t>Confusion</a:t>
            </a:r>
            <a:r>
              <a:rPr lang="en-US" sz="1600" b="1" i="1" spc="-5" dirty="0">
                <a:effectLst/>
                <a:latin typeface="Times New Roman" panose="02020603050405020304" pitchFamily="18" charset="0"/>
                <a:ea typeface="Times New Roman" panose="02020603050405020304" pitchFamily="18" charset="0"/>
              </a:rPr>
              <a:t> </a:t>
            </a:r>
            <a:r>
              <a:rPr lang="en-US" sz="1600" b="1" i="1" spc="-10" dirty="0">
                <a:effectLst/>
                <a:latin typeface="Times New Roman" panose="02020603050405020304" pitchFamily="18" charset="0"/>
                <a:ea typeface="Times New Roman" panose="02020603050405020304" pitchFamily="18" charset="0"/>
              </a:rPr>
              <a:t>Matrix</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64859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0EEC-7F17-D166-341A-E5CDA22A8177}"/>
              </a:ext>
            </a:extLst>
          </p:cNvPr>
          <p:cNvSpPr txBox="1">
            <a:spLocks/>
          </p:cNvSpPr>
          <p:nvPr/>
        </p:nvSpPr>
        <p:spPr>
          <a:xfrm>
            <a:off x="838200" y="360206"/>
            <a:ext cx="10515600" cy="61810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latin typeface="Times New Roman" panose="02020603050405020304" pitchFamily="18" charset="0"/>
                <a:cs typeface="Times New Roman" panose="02020603050405020304" pitchFamily="18" charset="0"/>
              </a:rPr>
              <a:t>RESULTS OBTAINED</a:t>
            </a:r>
            <a:endParaRPr lang="en-IN" sz="2400"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646953043"/>
              </p:ext>
            </p:extLst>
          </p:nvPr>
        </p:nvGraphicFramePr>
        <p:xfrm>
          <a:off x="602225" y="1216669"/>
          <a:ext cx="6034547" cy="3699944"/>
        </p:xfrm>
        <a:graphic>
          <a:graphicData uri="http://schemas.openxmlformats.org/drawingml/2006/table">
            <a:tbl>
              <a:tblPr>
                <a:tableStyleId>{9D7B26C5-4107-4FEC-AEDC-1716B250A1EF}</a:tableStyleId>
              </a:tblPr>
              <a:tblGrid>
                <a:gridCol w="2426858">
                  <a:extLst>
                    <a:ext uri="{9D8B030D-6E8A-4147-A177-3AD203B41FA5}">
                      <a16:colId xmlns:a16="http://schemas.microsoft.com/office/drawing/2014/main" val="3268041884"/>
                    </a:ext>
                  </a:extLst>
                </a:gridCol>
                <a:gridCol w="1767623">
                  <a:extLst>
                    <a:ext uri="{9D8B030D-6E8A-4147-A177-3AD203B41FA5}">
                      <a16:colId xmlns:a16="http://schemas.microsoft.com/office/drawing/2014/main" val="1359025251"/>
                    </a:ext>
                  </a:extLst>
                </a:gridCol>
                <a:gridCol w="1840066">
                  <a:extLst>
                    <a:ext uri="{9D8B030D-6E8A-4147-A177-3AD203B41FA5}">
                      <a16:colId xmlns:a16="http://schemas.microsoft.com/office/drawing/2014/main" val="121829584"/>
                    </a:ext>
                  </a:extLst>
                </a:gridCol>
              </a:tblGrid>
              <a:tr h="382483">
                <a:tc>
                  <a:txBody>
                    <a:bodyPr/>
                    <a:lstStyle/>
                    <a:p>
                      <a:pPr algn="ctr"/>
                      <a:r>
                        <a:rPr lang="en-IN" b="1">
                          <a:latin typeface="Times New Roman" panose="02020603050405020304" pitchFamily="18" charset="0"/>
                          <a:cs typeface="Times New Roman" panose="02020603050405020304" pitchFamily="18" charset="0"/>
                        </a:rPr>
                        <a:t>Metric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1" dirty="0">
                          <a:latin typeface="Times New Roman" panose="02020603050405020304" pitchFamily="18" charset="0"/>
                          <a:cs typeface="Times New Roman" panose="02020603050405020304" pitchFamily="18" charset="0"/>
                        </a:rPr>
                        <a:t>BART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1" dirty="0">
                          <a:latin typeface="Times New Roman" panose="02020603050405020304" pitchFamily="18" charset="0"/>
                          <a:cs typeface="Times New Roman" panose="02020603050405020304" pitchFamily="18" charset="0"/>
                        </a:rPr>
                        <a:t>LED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0182242"/>
                  </a:ext>
                </a:extLst>
              </a:tr>
              <a:tr h="382483">
                <a:tc>
                  <a:txBody>
                    <a:bodyPr/>
                    <a:lstStyle/>
                    <a:p>
                      <a:pPr algn="ctr"/>
                      <a:r>
                        <a:rPr lang="en-IN">
                          <a:latin typeface="Times New Roman" panose="02020603050405020304" pitchFamily="18" charset="0"/>
                          <a:cs typeface="Times New Roman" panose="02020603050405020304" pitchFamily="18" charset="0"/>
                        </a:rPr>
                        <a:t>Semantic Accuracy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latin typeface="Times New Roman" panose="02020603050405020304" pitchFamily="18" charset="0"/>
                          <a:cs typeface="Times New Roman" panose="02020603050405020304" pitchFamily="18" charset="0"/>
                        </a:rPr>
                        <a:t>0.8418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1" dirty="0">
                          <a:latin typeface="Times New Roman" panose="02020603050405020304" pitchFamily="18" charset="0"/>
                          <a:cs typeface="Times New Roman" panose="02020603050405020304" pitchFamily="18" charset="0"/>
                        </a:rPr>
                        <a:t>0.8517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085863"/>
                  </a:ext>
                </a:extLst>
              </a:tr>
              <a:tr h="632149">
                <a:tc>
                  <a:txBody>
                    <a:bodyPr/>
                    <a:lstStyle/>
                    <a:p>
                      <a:pPr algn="ctr"/>
                      <a:r>
                        <a:rPr lang="en-IN">
                          <a:latin typeface="Times New Roman" panose="02020603050405020304" pitchFamily="18" charset="0"/>
                          <a:cs typeface="Times New Roman" panose="02020603050405020304" pitchFamily="18" charset="0"/>
                        </a:rPr>
                        <a:t>Semantic Consistency (SCS)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latin typeface="Times New Roman" panose="02020603050405020304" pitchFamily="18" charset="0"/>
                          <a:cs typeface="Times New Roman" panose="02020603050405020304" pitchFamily="18" charset="0"/>
                        </a:rPr>
                        <a:t>0.5706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atin typeface="Times New Roman" panose="02020603050405020304" pitchFamily="18" charset="0"/>
                          <a:cs typeface="Times New Roman" panose="02020603050405020304" pitchFamily="18" charset="0"/>
                        </a:rPr>
                        <a:t>0.6201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3653318"/>
                  </a:ext>
                </a:extLst>
              </a:tr>
              <a:tr h="382483">
                <a:tc>
                  <a:txBody>
                    <a:bodyPr/>
                    <a:lstStyle/>
                    <a:p>
                      <a:pPr algn="ctr"/>
                      <a:r>
                        <a:rPr lang="en-IN">
                          <a:latin typeface="Times New Roman" panose="02020603050405020304" pitchFamily="18" charset="0"/>
                          <a:cs typeface="Times New Roman" panose="02020603050405020304" pitchFamily="18" charset="0"/>
                        </a:rPr>
                        <a:t>Redundancy Score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a:latin typeface="Times New Roman" panose="02020603050405020304" pitchFamily="18" charset="0"/>
                          <a:cs typeface="Times New Roman" panose="02020603050405020304" pitchFamily="18" charset="0"/>
                        </a:rPr>
                        <a:t>0.3683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atin typeface="Times New Roman" panose="02020603050405020304" pitchFamily="18" charset="0"/>
                          <a:cs typeface="Times New Roman" panose="02020603050405020304" pitchFamily="18" charset="0"/>
                        </a:rPr>
                        <a:t>0.3933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8317093"/>
                  </a:ext>
                </a:extLst>
              </a:tr>
              <a:tr h="382483">
                <a:tc>
                  <a:txBody>
                    <a:bodyPr/>
                    <a:lstStyle/>
                    <a:p>
                      <a:pPr algn="ctr"/>
                      <a:r>
                        <a:rPr lang="en-IN">
                          <a:latin typeface="Times New Roman" panose="02020603050405020304" pitchFamily="18" charset="0"/>
                          <a:cs typeface="Times New Roman" panose="02020603050405020304" pitchFamily="18" charset="0"/>
                        </a:rPr>
                        <a:t>Information Score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a:latin typeface="Times New Roman" panose="02020603050405020304" pitchFamily="18" charset="0"/>
                          <a:cs typeface="Times New Roman" panose="02020603050405020304" pitchFamily="18" charset="0"/>
                        </a:rPr>
                        <a:t>0.3586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atin typeface="Times New Roman" panose="02020603050405020304" pitchFamily="18" charset="0"/>
                          <a:cs typeface="Times New Roman" panose="02020603050405020304" pitchFamily="18" charset="0"/>
                        </a:rPr>
                        <a:t>0.3750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5863772"/>
                  </a:ext>
                </a:extLst>
              </a:tr>
              <a:tr h="382483">
                <a:tc>
                  <a:txBody>
                    <a:bodyPr/>
                    <a:lstStyle/>
                    <a:p>
                      <a:pPr algn="ctr"/>
                      <a:r>
                        <a:rPr lang="en-IN">
                          <a:latin typeface="Times New Roman" panose="02020603050405020304" pitchFamily="18" charset="0"/>
                          <a:cs typeface="Times New Roman" panose="02020603050405020304" pitchFamily="18" charset="0"/>
                        </a:rPr>
                        <a:t>Layout Fidelity Index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a:latin typeface="Times New Roman" panose="02020603050405020304" pitchFamily="18" charset="0"/>
                          <a:cs typeface="Times New Roman" panose="02020603050405020304" pitchFamily="18" charset="0"/>
                        </a:rPr>
                        <a:t>0.8266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1">
                          <a:latin typeface="Times New Roman" panose="02020603050405020304" pitchFamily="18" charset="0"/>
                          <a:cs typeface="Times New Roman" panose="02020603050405020304" pitchFamily="18" charset="0"/>
                        </a:rPr>
                        <a:t>0.9380</a:t>
                      </a:r>
                      <a:endParaRPr lang="en-IN">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8276771"/>
                  </a:ext>
                </a:extLst>
              </a:tr>
              <a:tr h="382483">
                <a:tc>
                  <a:txBody>
                    <a:bodyPr/>
                    <a:lstStyle/>
                    <a:p>
                      <a:pPr algn="ctr"/>
                      <a:r>
                        <a:rPr lang="en-IN" dirty="0">
                          <a:latin typeface="Times New Roman" panose="02020603050405020304" pitchFamily="18" charset="0"/>
                          <a:cs typeface="Times New Roman" panose="02020603050405020304" pitchFamily="18" charset="0"/>
                        </a:rPr>
                        <a:t>ROUGE-1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latin typeface="Times New Roman" panose="02020603050405020304" pitchFamily="18" charset="0"/>
                          <a:cs typeface="Times New Roman" panose="02020603050405020304" pitchFamily="18" charset="0"/>
                        </a:rPr>
                        <a:t>0.3521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atin typeface="Times New Roman" panose="02020603050405020304" pitchFamily="18" charset="0"/>
                          <a:cs typeface="Times New Roman" panose="02020603050405020304" pitchFamily="18" charset="0"/>
                        </a:rPr>
                        <a:t>0.3867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992849"/>
                  </a:ext>
                </a:extLst>
              </a:tr>
              <a:tr h="382483">
                <a:tc>
                  <a:txBody>
                    <a:bodyPr/>
                    <a:lstStyle/>
                    <a:p>
                      <a:pPr algn="ctr"/>
                      <a:r>
                        <a:rPr lang="en-IN">
                          <a:latin typeface="Times New Roman" panose="02020603050405020304" pitchFamily="18" charset="0"/>
                          <a:cs typeface="Times New Roman" panose="02020603050405020304" pitchFamily="18" charset="0"/>
                        </a:rPr>
                        <a:t>ROUGE-2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a:latin typeface="Times New Roman" panose="02020603050405020304" pitchFamily="18" charset="0"/>
                          <a:cs typeface="Times New Roman" panose="02020603050405020304" pitchFamily="18" charset="0"/>
                        </a:rPr>
                        <a:t>0.1031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atin typeface="Times New Roman" panose="02020603050405020304" pitchFamily="18" charset="0"/>
                          <a:cs typeface="Times New Roman" panose="02020603050405020304" pitchFamily="18" charset="0"/>
                        </a:rPr>
                        <a:t>0.1109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063744"/>
                  </a:ext>
                </a:extLst>
              </a:tr>
              <a:tr h="382483">
                <a:tc>
                  <a:txBody>
                    <a:bodyPr/>
                    <a:lstStyle/>
                    <a:p>
                      <a:pPr algn="ctr"/>
                      <a:r>
                        <a:rPr lang="en-IN">
                          <a:latin typeface="Times New Roman" panose="02020603050405020304" pitchFamily="18" charset="0"/>
                          <a:cs typeface="Times New Roman" panose="02020603050405020304" pitchFamily="18" charset="0"/>
                        </a:rPr>
                        <a:t>ROUGE-L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b="0" dirty="0">
                          <a:latin typeface="Times New Roman" panose="02020603050405020304" pitchFamily="18" charset="0"/>
                          <a:cs typeface="Times New Roman" panose="02020603050405020304" pitchFamily="18" charset="0"/>
                        </a:rPr>
                        <a:t>0.1936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latin typeface="Times New Roman" panose="02020603050405020304" pitchFamily="18" charset="0"/>
                          <a:cs typeface="Times New Roman" panose="02020603050405020304" pitchFamily="18" charset="0"/>
                        </a:rPr>
                        <a:t>0.1907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9200393"/>
                  </a:ext>
                </a:extLst>
              </a:tr>
            </a:tbl>
          </a:graphicData>
        </a:graphic>
      </p:graphicFrame>
      <p:sp>
        <p:nvSpPr>
          <p:cNvPr id="8" name="TextBox 7">
            <a:extLst>
              <a:ext uri="{FF2B5EF4-FFF2-40B4-BE49-F238E27FC236}">
                <a16:creationId xmlns:a16="http://schemas.microsoft.com/office/drawing/2014/main" id="{DE9A2CA1-EE74-2EDF-37C8-E327DE674AB3}"/>
              </a:ext>
            </a:extLst>
          </p:cNvPr>
          <p:cNvSpPr txBox="1"/>
          <p:nvPr/>
        </p:nvSpPr>
        <p:spPr>
          <a:xfrm>
            <a:off x="571498" y="4995000"/>
            <a:ext cx="6096000" cy="646331"/>
          </a:xfrm>
          <a:prstGeom prst="rect">
            <a:avLst/>
          </a:prstGeom>
          <a:noFill/>
        </p:spPr>
        <p:txBody>
          <a:bodyPr wrap="square">
            <a:spAutoFit/>
          </a:bodyPr>
          <a:lstStyle/>
          <a:p>
            <a:pPr marL="225425" algn="ctr">
              <a:spcBef>
                <a:spcPts val="370"/>
              </a:spcBef>
              <a:buNone/>
            </a:pPr>
            <a:r>
              <a:rPr lang="en-US" sz="1800" b="1" dirty="0">
                <a:effectLst/>
                <a:latin typeface="Times New Roman" panose="02020603050405020304" pitchFamily="18" charset="0"/>
                <a:ea typeface="Times New Roman" panose="02020603050405020304" pitchFamily="18" charset="0"/>
              </a:rPr>
              <a:t>Table</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2:</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Performance</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Comparison</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of</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Summarization</a:t>
            </a:r>
            <a:r>
              <a:rPr lang="en-US" sz="1800" b="1" spc="-10" dirty="0">
                <a:effectLst/>
                <a:latin typeface="Times New Roman" panose="02020603050405020304" pitchFamily="18" charset="0"/>
                <a:ea typeface="Times New Roman" panose="02020603050405020304" pitchFamily="18" charset="0"/>
              </a:rPr>
              <a:t> Models</a:t>
            </a:r>
            <a:endParaRPr lang="en-IN" sz="1800" b="1"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AA3543A9-BC92-94A1-918A-797B879FABB5}"/>
              </a:ext>
            </a:extLst>
          </p:cNvPr>
          <p:cNvSpPr txBox="1"/>
          <p:nvPr/>
        </p:nvSpPr>
        <p:spPr>
          <a:xfrm>
            <a:off x="6934200" y="1068914"/>
            <a:ext cx="4827639" cy="41975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LED model outperforms BART across most metrics, achieving higher Semantic Accuracy (0.8517), Semantic Consistency (0.6201), and Layout Fidelity (0.9380), indicating better understanding of long and structured documents.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However, BART achieves a lower redundancy score (0.3683) compared to LED (0.3933), meaning it produces slightly less repetitive summaries.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4251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85649-BC32-CE8A-62D8-4DB1C06DC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60EEC-7F17-D166-341A-E5CDA22A8177}"/>
              </a:ext>
            </a:extLst>
          </p:cNvPr>
          <p:cNvSpPr>
            <a:spLocks noGrp="1"/>
          </p:cNvSpPr>
          <p:nvPr>
            <p:ph type="title"/>
          </p:nvPr>
        </p:nvSpPr>
        <p:spPr>
          <a:xfrm>
            <a:off x="838200" y="379871"/>
            <a:ext cx="10515600" cy="618101"/>
          </a:xfrm>
        </p:spPr>
        <p:txBody>
          <a:bodyPr>
            <a:normAutofit/>
          </a:bodyPr>
          <a:lstStyle/>
          <a:p>
            <a:pPr algn="ctr"/>
            <a:r>
              <a:rPr lang="en-US" sz="2400" b="1" dirty="0">
                <a:latin typeface="Times New Roman" panose="02020603050405020304" pitchFamily="18" charset="0"/>
                <a:cs typeface="Times New Roman" panose="02020603050405020304" pitchFamily="18" charset="0"/>
              </a:rPr>
              <a:t>RESULTS OBTAINED</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E6777A2-864E-06D7-E578-224FB9A5F3F2}"/>
              </a:ext>
            </a:extLst>
          </p:cNvPr>
          <p:cNvPicPr>
            <a:picLocks noChangeAspect="1"/>
          </p:cNvPicPr>
          <p:nvPr/>
        </p:nvPicPr>
        <p:blipFill>
          <a:blip r:embed="rId2"/>
          <a:stretch>
            <a:fillRect/>
          </a:stretch>
        </p:blipFill>
        <p:spPr>
          <a:xfrm>
            <a:off x="990543" y="967558"/>
            <a:ext cx="10021585" cy="3406490"/>
          </a:xfrm>
          <a:prstGeom prst="rect">
            <a:avLst/>
          </a:prstGeom>
        </p:spPr>
      </p:pic>
      <p:sp>
        <p:nvSpPr>
          <p:cNvPr id="8" name="TextBox 7">
            <a:extLst>
              <a:ext uri="{FF2B5EF4-FFF2-40B4-BE49-F238E27FC236}">
                <a16:creationId xmlns:a16="http://schemas.microsoft.com/office/drawing/2014/main" id="{4565BBC6-B4C1-0387-4E2E-CBA82DE9699E}"/>
              </a:ext>
            </a:extLst>
          </p:cNvPr>
          <p:cNvSpPr txBox="1"/>
          <p:nvPr/>
        </p:nvSpPr>
        <p:spPr>
          <a:xfrm>
            <a:off x="1179872" y="4343633"/>
            <a:ext cx="10173928" cy="786754"/>
          </a:xfrm>
          <a:prstGeom prst="rect">
            <a:avLst/>
          </a:prstGeom>
          <a:noFill/>
        </p:spPr>
        <p:txBody>
          <a:bodyPr wrap="square">
            <a:spAutoFit/>
          </a:bodyPr>
          <a:lstStyle/>
          <a:p>
            <a:pPr marL="836930" marR="701040" indent="-158750" algn="ctr">
              <a:lnSpc>
                <a:spcPct val="150000"/>
              </a:lnSpc>
              <a:spcBef>
                <a:spcPts val="110"/>
              </a:spcBef>
              <a:buNone/>
            </a:pPr>
            <a:r>
              <a:rPr lang="en-US" sz="1600" b="1" dirty="0">
                <a:effectLst/>
                <a:latin typeface="Times New Roman" panose="02020603050405020304" pitchFamily="18" charset="0"/>
                <a:ea typeface="Times New Roman" panose="02020603050405020304" pitchFamily="18" charset="0"/>
              </a:rPr>
              <a:t>Fig.</a:t>
            </a:r>
            <a:r>
              <a:rPr lang="en-US" sz="1600" b="1" spc="-20" dirty="0">
                <a:effectLst/>
                <a:latin typeface="Times New Roman" panose="02020603050405020304" pitchFamily="18" charset="0"/>
                <a:ea typeface="Times New Roman" panose="02020603050405020304" pitchFamily="18" charset="0"/>
              </a:rPr>
              <a:t> </a:t>
            </a:r>
            <a:r>
              <a:rPr lang="en-US" sz="1600" b="1" spc="-20" dirty="0">
                <a:latin typeface="Times New Roman" panose="02020603050405020304" pitchFamily="18" charset="0"/>
                <a:ea typeface="Times New Roman" panose="02020603050405020304" pitchFamily="18" charset="0"/>
              </a:rPr>
              <a:t>2</a:t>
            </a:r>
            <a:r>
              <a:rPr lang="en-US" sz="1600" b="1" dirty="0">
                <a:effectLst/>
                <a:latin typeface="Times New Roman" panose="02020603050405020304" pitchFamily="18" charset="0"/>
                <a:ea typeface="Times New Roman" panose="02020603050405020304" pitchFamily="18" charset="0"/>
              </a:rPr>
              <a:t>:</a:t>
            </a:r>
            <a:r>
              <a:rPr lang="en-US" sz="1600" b="1" spc="-2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Performance</a:t>
            </a:r>
            <a:r>
              <a:rPr lang="en-US" sz="1600" b="1" spc="-25"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comparison</a:t>
            </a:r>
            <a:r>
              <a:rPr lang="en-US" sz="1600" b="1" spc="-15"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of</a:t>
            </a:r>
            <a:r>
              <a:rPr lang="en-US" sz="1600" b="1" spc="-2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BART</a:t>
            </a:r>
            <a:r>
              <a:rPr lang="en-US" sz="1600" b="1" spc="-2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and</a:t>
            </a:r>
            <a:r>
              <a:rPr lang="en-US" sz="1600" b="1" spc="-2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LED</a:t>
            </a:r>
            <a:r>
              <a:rPr lang="en-US" sz="1600" b="1" spc="-35"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models</a:t>
            </a:r>
            <a:r>
              <a:rPr lang="en-US" sz="1600" b="1" spc="-25"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across</a:t>
            </a:r>
            <a:r>
              <a:rPr lang="en-US" sz="1600" b="1" spc="-25"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different</a:t>
            </a:r>
            <a:r>
              <a:rPr lang="en-US" sz="1600" b="1" spc="-2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token lengths showing (a) semantic accuracy and (b) semantic consistency score (SCS)</a:t>
            </a:r>
            <a:endParaRPr lang="en-IN" sz="1600" b="1"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7A83FA27-C9E3-E3F9-B918-AEC3F9C98C61}"/>
              </a:ext>
            </a:extLst>
          </p:cNvPr>
          <p:cNvSpPr txBox="1"/>
          <p:nvPr/>
        </p:nvSpPr>
        <p:spPr>
          <a:xfrm>
            <a:off x="668594" y="5138168"/>
            <a:ext cx="10992464" cy="1704569"/>
          </a:xfrm>
          <a:prstGeom prst="rect">
            <a:avLst/>
          </a:prstGeom>
          <a:noFill/>
        </p:spPr>
        <p:txBody>
          <a:bodyPr wrap="square">
            <a:spAutoFit/>
          </a:bodyPr>
          <a:lstStyle/>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LED model performs better than BART for most document lengths, giving higher accuracy and better consistency, especially for longer documents. </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Both models drop in performance for medium-length documents (6–9k tokens), but LED recovers better and handles longer documents more effectively than BART. </a:t>
            </a:r>
          </a:p>
        </p:txBody>
      </p:sp>
    </p:spTree>
    <p:extLst>
      <p:ext uri="{BB962C8B-B14F-4D97-AF65-F5344CB8AC3E}">
        <p14:creationId xmlns:p14="http://schemas.microsoft.com/office/powerpoint/2010/main" val="1983214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39F5F-D001-880A-3D19-74640E848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5A4C4-5B65-D53B-2741-8AC6E90A4E72}"/>
              </a:ext>
            </a:extLst>
          </p:cNvPr>
          <p:cNvSpPr txBox="1">
            <a:spLocks/>
          </p:cNvSpPr>
          <p:nvPr/>
        </p:nvSpPr>
        <p:spPr>
          <a:xfrm>
            <a:off x="838200" y="360206"/>
            <a:ext cx="10515600" cy="61810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a:latin typeface="Times New Roman" panose="02020603050405020304" pitchFamily="18" charset="0"/>
                <a:cs typeface="Times New Roman" panose="02020603050405020304" pitchFamily="18" charset="0"/>
              </a:rPr>
              <a:t>RESULTS OBTAINED</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1F7A9C-82D1-1EA1-E4EE-4D4581C08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048" y="978307"/>
            <a:ext cx="11303904" cy="3323938"/>
          </a:xfrm>
          <a:prstGeom prst="rect">
            <a:avLst/>
          </a:prstGeom>
        </p:spPr>
      </p:pic>
      <p:sp>
        <p:nvSpPr>
          <p:cNvPr id="4" name="TextBox 3">
            <a:extLst>
              <a:ext uri="{FF2B5EF4-FFF2-40B4-BE49-F238E27FC236}">
                <a16:creationId xmlns:a16="http://schemas.microsoft.com/office/drawing/2014/main" id="{3EA54370-07BD-FF1C-A52D-1F6C811B6B0A}"/>
              </a:ext>
            </a:extLst>
          </p:cNvPr>
          <p:cNvSpPr txBox="1"/>
          <p:nvPr/>
        </p:nvSpPr>
        <p:spPr>
          <a:xfrm>
            <a:off x="1023784" y="4920346"/>
            <a:ext cx="10144432" cy="873572"/>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confidence score represents how certain the model is about its prediction, indicating a very high probability that the document is correctly classified as an Invoice.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DF5715-C25E-D163-C891-F63FF0B46162}"/>
              </a:ext>
            </a:extLst>
          </p:cNvPr>
          <p:cNvSpPr txBox="1"/>
          <p:nvPr/>
        </p:nvSpPr>
        <p:spPr>
          <a:xfrm>
            <a:off x="2438400" y="4297961"/>
            <a:ext cx="8622890" cy="338554"/>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Fig.3: Document Classification Interface Showing Predicted Class and Confidence Score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161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44F85-F4B9-761E-C394-62B93C4C8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BD733-074E-B1C6-15E4-E9993EEE320B}"/>
              </a:ext>
            </a:extLst>
          </p:cNvPr>
          <p:cNvSpPr txBox="1">
            <a:spLocks/>
          </p:cNvSpPr>
          <p:nvPr/>
        </p:nvSpPr>
        <p:spPr>
          <a:xfrm>
            <a:off x="838200" y="360206"/>
            <a:ext cx="10515600" cy="61810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latin typeface="Times New Roman" panose="02020603050405020304" pitchFamily="18" charset="0"/>
                <a:cs typeface="Times New Roman" panose="02020603050405020304" pitchFamily="18" charset="0"/>
              </a:rPr>
              <a:t>RESULTS OBTAINED</a:t>
            </a:r>
            <a:endParaRPr lang="en-IN" sz="24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22403C4-CCDD-9089-7E54-ED24980650DE}"/>
              </a:ext>
            </a:extLst>
          </p:cNvPr>
          <p:cNvPicPr>
            <a:picLocks noChangeAspect="1"/>
          </p:cNvPicPr>
          <p:nvPr/>
        </p:nvPicPr>
        <p:blipFill>
          <a:blip r:embed="rId2">
            <a:extLst>
              <a:ext uri="{28A0092B-C50C-407E-A947-70E740481C1C}">
                <a14:useLocalDpi xmlns:a14="http://schemas.microsoft.com/office/drawing/2010/main" val="0"/>
              </a:ext>
            </a:extLst>
          </a:blip>
          <a:srcRect t="13525"/>
          <a:stretch>
            <a:fillRect/>
          </a:stretch>
        </p:blipFill>
        <p:spPr>
          <a:xfrm>
            <a:off x="608751" y="771830"/>
            <a:ext cx="10230551" cy="2900680"/>
          </a:xfrm>
          <a:prstGeom prst="rect">
            <a:avLst/>
          </a:prstGeom>
        </p:spPr>
      </p:pic>
      <p:pic>
        <p:nvPicPr>
          <p:cNvPr id="13" name="Picture 12">
            <a:extLst>
              <a:ext uri="{FF2B5EF4-FFF2-40B4-BE49-F238E27FC236}">
                <a16:creationId xmlns:a16="http://schemas.microsoft.com/office/drawing/2014/main" id="{77685728-88FC-C45D-2D78-FF9584B926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724" y="3915859"/>
            <a:ext cx="10230551" cy="2429328"/>
          </a:xfrm>
          <a:prstGeom prst="rect">
            <a:avLst/>
          </a:prstGeom>
        </p:spPr>
      </p:pic>
      <p:sp>
        <p:nvSpPr>
          <p:cNvPr id="4" name="TextBox 3">
            <a:extLst>
              <a:ext uri="{FF2B5EF4-FFF2-40B4-BE49-F238E27FC236}">
                <a16:creationId xmlns:a16="http://schemas.microsoft.com/office/drawing/2014/main" id="{74319EF4-1705-9949-F357-76CFA2B8C88E}"/>
              </a:ext>
            </a:extLst>
          </p:cNvPr>
          <p:cNvSpPr txBox="1"/>
          <p:nvPr/>
        </p:nvSpPr>
        <p:spPr>
          <a:xfrm>
            <a:off x="1858297" y="6159240"/>
            <a:ext cx="8691716" cy="338554"/>
          </a:xfrm>
          <a:prstGeom prst="rect">
            <a:avLst/>
          </a:prstGeom>
          <a:noFill/>
        </p:spPr>
        <p:txBody>
          <a:bodyPr wrap="square">
            <a:spAutoFit/>
          </a:bodyPr>
          <a:lstStyle/>
          <a:p>
            <a:pPr algn="ctr">
              <a:buNone/>
            </a:pPr>
            <a:r>
              <a:rPr lang="en-US" sz="1600" b="1" dirty="0">
                <a:latin typeface="Times New Roman" panose="02020603050405020304" pitchFamily="18" charset="0"/>
                <a:cs typeface="Times New Roman" panose="02020603050405020304" pitchFamily="18" charset="0"/>
              </a:rPr>
              <a:t>Fig.4: Document Summarization Interface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642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4071-AE2E-DE77-101F-6AB970B8B53D}"/>
              </a:ext>
            </a:extLst>
          </p:cNvPr>
          <p:cNvSpPr>
            <a:spLocks noGrp="1"/>
          </p:cNvSpPr>
          <p:nvPr>
            <p:ph type="title"/>
          </p:nvPr>
        </p:nvSpPr>
        <p:spPr>
          <a:xfrm>
            <a:off x="838200" y="365126"/>
            <a:ext cx="10515600" cy="883572"/>
          </a:xfrm>
        </p:spPr>
        <p:txBody>
          <a:bodyPr>
            <a:normAutofit/>
          </a:bodyPr>
          <a:lstStyle/>
          <a:p>
            <a:pPr algn="ctr"/>
            <a:r>
              <a:rPr lang="en-US" sz="2400" b="1" dirty="0">
                <a:latin typeface="Times New Roman" panose="02020603050405020304" pitchFamily="18" charset="0"/>
                <a:cs typeface="Times New Roman" panose="02020603050405020304" pitchFamily="18" charset="0"/>
              </a:rPr>
              <a:t>CONCLUSION &amp;FUTURE WORK</a:t>
            </a:r>
            <a:endParaRPr lang="en-IN" sz="2400" dirty="0"/>
          </a:p>
        </p:txBody>
      </p:sp>
      <p:sp>
        <p:nvSpPr>
          <p:cNvPr id="3" name="Content Placeholder 2">
            <a:extLst>
              <a:ext uri="{FF2B5EF4-FFF2-40B4-BE49-F238E27FC236}">
                <a16:creationId xmlns:a16="http://schemas.microsoft.com/office/drawing/2014/main" id="{EC9E9CB6-647A-408B-09F5-4B593BA5BBDC}"/>
              </a:ext>
            </a:extLst>
          </p:cNvPr>
          <p:cNvSpPr>
            <a:spLocks noGrp="1"/>
          </p:cNvSpPr>
          <p:nvPr>
            <p:ph idx="1"/>
          </p:nvPr>
        </p:nvSpPr>
        <p:spPr>
          <a:xfrm>
            <a:off x="838200" y="1150374"/>
            <a:ext cx="10515600" cy="5026589"/>
          </a:xfrm>
        </p:spPr>
        <p:txBody>
          <a:bodyPr>
            <a:normAutofit/>
          </a:bodyPr>
          <a:lstStyle/>
          <a:p>
            <a:pPr marL="0" indent="0" algn="just">
              <a:lnSpc>
                <a:spcPct val="150000"/>
              </a:lnSpc>
              <a:buNone/>
            </a:pPr>
            <a:r>
              <a:rPr lang="en-US" sz="1800" b="1" dirty="0">
                <a:latin typeface="Times New Roman" panose="02020603050405020304" pitchFamily="18" charset="0"/>
                <a:ea typeface="Tahoma" panose="020B0604030504040204" pitchFamily="34" charset="0"/>
                <a:cs typeface="Times New Roman" panose="02020603050405020304" pitchFamily="18" charset="0"/>
              </a:rPr>
              <a:t>CONCLUSION:</a:t>
            </a:r>
          </a:p>
          <a:p>
            <a:pPr algn="just">
              <a:lnSpc>
                <a:spcPct val="150000"/>
              </a:lnSpc>
            </a:pPr>
            <a:r>
              <a:rPr lang="en-US" sz="1800" dirty="0">
                <a:latin typeface="Times New Roman" panose="02020603050405020304" pitchFamily="18" charset="0"/>
                <a:ea typeface="Tahoma" panose="020B0604030504040204" pitchFamily="34" charset="0"/>
                <a:cs typeface="Times New Roman" panose="02020603050405020304" pitchFamily="18" charset="0"/>
              </a:rPr>
              <a:t>The proposed system achieves high document classification performance with ~99% accuracy and F1-scores up to 0.99, demonstrating the effectiveness of </a:t>
            </a:r>
            <a:r>
              <a:rPr lang="en-US" sz="1800" dirty="0" err="1">
                <a:latin typeface="Times New Roman" panose="02020603050405020304" pitchFamily="18" charset="0"/>
                <a:ea typeface="Tahoma" panose="020B0604030504040204" pitchFamily="34" charset="0"/>
                <a:cs typeface="Times New Roman" panose="02020603050405020304" pitchFamily="18" charset="0"/>
              </a:rPr>
              <a:t>DiT</a:t>
            </a:r>
            <a:r>
              <a:rPr lang="en-US" sz="1800" dirty="0">
                <a:latin typeface="Times New Roman" panose="02020603050405020304" pitchFamily="18" charset="0"/>
                <a:ea typeface="Tahoma" panose="020B0604030504040204" pitchFamily="34" charset="0"/>
                <a:cs typeface="Times New Roman" panose="02020603050405020304" pitchFamily="18" charset="0"/>
              </a:rPr>
              <a:t> in capturing layout-aware features.</a:t>
            </a:r>
          </a:p>
          <a:p>
            <a:pPr algn="just">
              <a:lnSpc>
                <a:spcPct val="150000"/>
              </a:lnSpc>
            </a:pPr>
            <a:r>
              <a:rPr lang="en-US" sz="1800" dirty="0">
                <a:latin typeface="Times New Roman" panose="02020603050405020304" pitchFamily="18" charset="0"/>
                <a:ea typeface="Tahoma" panose="020B0604030504040204" pitchFamily="34" charset="0"/>
                <a:cs typeface="Times New Roman" panose="02020603050405020304" pitchFamily="18" charset="0"/>
              </a:rPr>
              <a:t>The summarization module shows improved performance with LED (Semantic Accuracy: 0.8517, SCS: 0.6201) compared to BART, ensuring more coherent and informative summaries.</a:t>
            </a:r>
          </a:p>
          <a:p>
            <a:pPr marL="0" indent="0" algn="just">
              <a:lnSpc>
                <a:spcPct val="150000"/>
              </a:lnSpc>
              <a:buNone/>
            </a:pPr>
            <a:r>
              <a:rPr lang="en-US" sz="1800" b="1" dirty="0">
                <a:latin typeface="Times New Roman" panose="02020603050405020304" pitchFamily="18" charset="0"/>
                <a:ea typeface="Tahoma" panose="020B0604030504040204" pitchFamily="34" charset="0"/>
                <a:cs typeface="Times New Roman" panose="02020603050405020304" pitchFamily="18" charset="0"/>
              </a:rPr>
              <a:t>FUTURE WORK:</a:t>
            </a:r>
          </a:p>
          <a:p>
            <a:pPr algn="just">
              <a:lnSpc>
                <a:spcPct val="150000"/>
              </a:lnSpc>
            </a:pPr>
            <a:r>
              <a:rPr lang="en-US" sz="1800" dirty="0">
                <a:latin typeface="Times New Roman" panose="02020603050405020304" pitchFamily="18" charset="0"/>
                <a:ea typeface="Tahoma" panose="020B0604030504040204" pitchFamily="34" charset="0"/>
                <a:cs typeface="Times New Roman" panose="02020603050405020304" pitchFamily="18" charset="0"/>
              </a:rPr>
              <a:t>Enable real-time streaming document processing, where large documents are processed progressively and users receive partial results (classification/summary) instantly without waiting for full completion. </a:t>
            </a:r>
          </a:p>
          <a:p>
            <a:pPr algn="just">
              <a:lnSpc>
                <a:spcPct val="150000"/>
              </a:lnSpc>
            </a:pPr>
            <a:r>
              <a:rPr lang="en-US" sz="1800" dirty="0">
                <a:latin typeface="Times New Roman" panose="02020603050405020304" pitchFamily="18" charset="0"/>
                <a:ea typeface="Tahoma" panose="020B0604030504040204" pitchFamily="34" charset="0"/>
                <a:cs typeface="Times New Roman" panose="02020603050405020304" pitchFamily="18" charset="0"/>
              </a:rPr>
              <a:t>Integrate live document monitoring systems (e.g., emails, PDFs, enterprise data feeds) to automatically classify and summarize documents as they are generated in real time. </a:t>
            </a:r>
          </a:p>
          <a:p>
            <a:pPr algn="just">
              <a:lnSpc>
                <a:spcPct val="150000"/>
              </a:lnSpc>
            </a:pPr>
            <a:endParaRPr lang="en-IN"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931614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751E8-6067-526D-7756-FED68BC71A58}"/>
              </a:ext>
            </a:extLst>
          </p:cNvPr>
          <p:cNvSpPr>
            <a:spLocks noGrp="1"/>
          </p:cNvSpPr>
          <p:nvPr>
            <p:ph type="title"/>
          </p:nvPr>
        </p:nvSpPr>
        <p:spPr>
          <a:xfrm>
            <a:off x="838200" y="211292"/>
            <a:ext cx="10183761" cy="1090049"/>
          </a:xfrm>
        </p:spPr>
        <p:txBody>
          <a:bodyPr>
            <a:normAutofit/>
          </a:bodyPr>
          <a:lstStyle/>
          <a:p>
            <a:pPr algn="ctr"/>
            <a:r>
              <a:rPr lang="en-IN" sz="24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1F271E1-D42B-523F-96B1-C2E70D67779F}"/>
              </a:ext>
            </a:extLst>
          </p:cNvPr>
          <p:cNvSpPr>
            <a:spLocks noGrp="1"/>
          </p:cNvSpPr>
          <p:nvPr>
            <p:ph idx="1"/>
          </p:nvPr>
        </p:nvSpPr>
        <p:spPr>
          <a:xfrm>
            <a:off x="838200" y="1363509"/>
            <a:ext cx="10515600" cy="4909472"/>
          </a:xfrm>
        </p:spPr>
        <p:txBody>
          <a:bodyPr>
            <a:noAutofit/>
          </a:bodyPr>
          <a:lstStyle/>
          <a:p>
            <a:pPr marL="0" lvl="0" indent="0" algn="just">
              <a:lnSpc>
                <a:spcPct val="150000"/>
              </a:lnSpc>
              <a:buNone/>
            </a:pPr>
            <a:r>
              <a:rPr lang="en-IN" sz="1600" b="1" dirty="0">
                <a:latin typeface="Times New Roman" panose="02020603050405020304" pitchFamily="18" charset="0"/>
                <a:cs typeface="Times New Roman" panose="02020603050405020304" pitchFamily="18" charset="0"/>
              </a:rPr>
              <a:t>[1] </a:t>
            </a:r>
            <a:r>
              <a:rPr lang="en-US" sz="1600" dirty="0">
                <a:latin typeface="Times New Roman" panose="02020603050405020304" pitchFamily="18" charset="0"/>
                <a:cs typeface="Times New Roman" panose="02020603050405020304" pitchFamily="18" charset="0"/>
              </a:rPr>
              <a:t>Sadri, A., Hossain, M.M.: Coordinate matrix machine: A human-level concept learning to classify very similar documents.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arXiv:2512.23749, 2025.</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 Yan, </a:t>
            </a:r>
            <a:r>
              <a:rPr lang="en-IN" sz="1600" dirty="0" err="1">
                <a:latin typeface="Times New Roman" panose="02020603050405020304" pitchFamily="18" charset="0"/>
                <a:cs typeface="Times New Roman" panose="02020603050405020304" pitchFamily="18" charset="0"/>
              </a:rPr>
              <a:t>Haolong</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Kaijun</a:t>
            </a:r>
            <a:r>
              <a:rPr lang="en-IN" sz="1600" dirty="0">
                <a:latin typeface="Times New Roman" panose="02020603050405020304" pitchFamily="18" charset="0"/>
                <a:cs typeface="Times New Roman" panose="02020603050405020304" pitchFamily="18" charset="0"/>
              </a:rPr>
              <a:t> Tan, </a:t>
            </a:r>
            <a:r>
              <a:rPr lang="en-IN" sz="1600" dirty="0" err="1">
                <a:latin typeface="Times New Roman" panose="02020603050405020304" pitchFamily="18" charset="0"/>
                <a:cs typeface="Times New Roman" panose="02020603050405020304" pitchFamily="18" charset="0"/>
              </a:rPr>
              <a:t>Yeqing</a:t>
            </a:r>
            <a:r>
              <a:rPr lang="en-IN" sz="1600" dirty="0">
                <a:latin typeface="Times New Roman" panose="02020603050405020304" pitchFamily="18" charset="0"/>
                <a:cs typeface="Times New Roman" panose="02020603050405020304" pitchFamily="18" charset="0"/>
              </a:rPr>
              <a:t> Shen, Xin Huang, Zheng Ge, Xiangyu Zhang, Si Li, and Daxin Jiang. "M-</a:t>
            </a:r>
            <a:r>
              <a:rPr lang="en-IN" sz="1600" dirty="0" err="1">
                <a:latin typeface="Times New Roman" panose="02020603050405020304" pitchFamily="18" charset="0"/>
                <a:cs typeface="Times New Roman" panose="02020603050405020304" pitchFamily="18" charset="0"/>
              </a:rPr>
              <a:t>DocSum</a:t>
            </a:r>
            <a:r>
              <a:rPr lang="en-IN" sz="1600" dirty="0">
                <a:latin typeface="Times New Roman" panose="02020603050405020304" pitchFamily="18" charset="0"/>
                <a:cs typeface="Times New Roman" panose="02020603050405020304" pitchFamily="18" charset="0"/>
              </a:rPr>
              <a:t>: Do LVLMs Genuinely Comprehend Interleaved Image-Text in Document Summarization?." </a:t>
            </a:r>
            <a:r>
              <a:rPr lang="en-IN" sz="1600" i="1" dirty="0" err="1">
                <a:latin typeface="Times New Roman" panose="02020603050405020304" pitchFamily="18" charset="0"/>
                <a:cs typeface="Times New Roman" panose="02020603050405020304" pitchFamily="18" charset="0"/>
              </a:rPr>
              <a:t>arXiv</a:t>
            </a:r>
            <a:r>
              <a:rPr lang="en-IN" sz="1600" i="1" dirty="0">
                <a:latin typeface="Times New Roman" panose="02020603050405020304" pitchFamily="18" charset="0"/>
                <a:cs typeface="Times New Roman" panose="02020603050405020304" pitchFamily="18" charset="0"/>
              </a:rPr>
              <a:t> preprint arXiv:2503.21839,</a:t>
            </a:r>
            <a:r>
              <a:rPr lang="en-IN" sz="1600" dirty="0">
                <a:latin typeface="Times New Roman" panose="02020603050405020304" pitchFamily="18" charset="0"/>
                <a:cs typeface="Times New Roman" panose="02020603050405020304" pitchFamily="18" charset="0"/>
              </a:rPr>
              <a:t>2025.</a:t>
            </a:r>
          </a:p>
          <a:p>
            <a:pPr marL="0" indent="0" algn="just">
              <a:lnSpc>
                <a:spcPct val="150000"/>
              </a:lnSpc>
              <a:buNone/>
            </a:pPr>
            <a:r>
              <a:rPr lang="en-US" sz="1600" b="1" dirty="0">
                <a:solidFill>
                  <a:srgbClr val="222222"/>
                </a:solidFill>
                <a:latin typeface="Times New Roman" panose="02020603050405020304" pitchFamily="18" charset="0"/>
                <a:cs typeface="Times New Roman" panose="02020603050405020304" pitchFamily="18" charset="0"/>
              </a:rPr>
              <a:t>[3] </a:t>
            </a:r>
            <a:r>
              <a:rPr lang="en-IN" sz="1600" dirty="0">
                <a:latin typeface="Times New Roman" panose="02020603050405020304" pitchFamily="18" charset="0"/>
                <a:cs typeface="Times New Roman" panose="02020603050405020304" pitchFamily="18" charset="0"/>
              </a:rPr>
              <a:t>Qian, Kun, Wenjie Li, Tianyu Sun, </a:t>
            </a:r>
            <a:r>
              <a:rPr lang="en-IN" sz="1600" dirty="0" err="1">
                <a:latin typeface="Times New Roman" panose="02020603050405020304" pitchFamily="18" charset="0"/>
                <a:cs typeface="Times New Roman" panose="02020603050405020304" pitchFamily="18" charset="0"/>
              </a:rPr>
              <a:t>Wenhong</a:t>
            </a:r>
            <a:r>
              <a:rPr lang="en-IN" sz="1600" dirty="0">
                <a:latin typeface="Times New Roman" panose="02020603050405020304" pitchFamily="18" charset="0"/>
                <a:cs typeface="Times New Roman" panose="02020603050405020304" pitchFamily="18" charset="0"/>
              </a:rPr>
              <a:t> Wang, and </a:t>
            </a:r>
            <a:r>
              <a:rPr lang="en-IN" sz="1600" dirty="0" err="1">
                <a:latin typeface="Times New Roman" panose="02020603050405020304" pitchFamily="18" charset="0"/>
                <a:cs typeface="Times New Roman" panose="02020603050405020304" pitchFamily="18" charset="0"/>
              </a:rPr>
              <a:t>Wenhan</a:t>
            </a:r>
            <a:r>
              <a:rPr lang="en-IN" sz="1600" dirty="0">
                <a:latin typeface="Times New Roman" panose="02020603050405020304" pitchFamily="18" charset="0"/>
                <a:cs typeface="Times New Roman" panose="02020603050405020304" pitchFamily="18" charset="0"/>
              </a:rPr>
              <a:t> Luo. "DocRefine: An Intelligent Framework for Scientific Document Understanding and Content Optimization based on Multimodal Large Model Agents." </a:t>
            </a:r>
            <a:r>
              <a:rPr lang="en-IN" sz="1600" i="1" dirty="0" err="1">
                <a:latin typeface="Times New Roman" panose="02020603050405020304" pitchFamily="18" charset="0"/>
                <a:cs typeface="Times New Roman" panose="02020603050405020304" pitchFamily="18" charset="0"/>
              </a:rPr>
              <a:t>arXiv</a:t>
            </a:r>
            <a:r>
              <a:rPr lang="en-IN" sz="1600" i="1" dirty="0">
                <a:latin typeface="Times New Roman" panose="02020603050405020304" pitchFamily="18" charset="0"/>
                <a:cs typeface="Times New Roman" panose="02020603050405020304" pitchFamily="18" charset="0"/>
              </a:rPr>
              <a:t> preprint arXiv:2508.07021,</a:t>
            </a:r>
            <a:r>
              <a:rPr lang="en-IN" sz="1600" dirty="0">
                <a:latin typeface="Times New Roman" panose="02020603050405020304" pitchFamily="18" charset="0"/>
                <a:cs typeface="Times New Roman" panose="02020603050405020304" pitchFamily="18" charset="0"/>
              </a:rPr>
              <a:t> 2025.</a:t>
            </a:r>
          </a:p>
          <a:p>
            <a:pPr marL="0" indent="0" algn="just">
              <a:lnSpc>
                <a:spcPct val="150000"/>
              </a:lnSpc>
              <a:buNone/>
            </a:pPr>
            <a:r>
              <a:rPr lang="en-IN" sz="1600" b="1" dirty="0">
                <a:solidFill>
                  <a:srgbClr val="222222"/>
                </a:solidFill>
                <a:latin typeface="Times New Roman" panose="02020603050405020304" pitchFamily="18" charset="0"/>
                <a:cs typeface="Times New Roman" panose="02020603050405020304" pitchFamily="18" charset="0"/>
              </a:rPr>
              <a:t>[4] </a:t>
            </a:r>
            <a:r>
              <a:rPr lang="en-IN" sz="1600" dirty="0">
                <a:latin typeface="Times New Roman" panose="02020603050405020304" pitchFamily="18" charset="0"/>
                <a:cs typeface="Times New Roman" panose="02020603050405020304" pitchFamily="18" charset="0"/>
              </a:rPr>
              <a:t>Shankar, Shreya, Tristan Chambers, Tarak Shah, Aditya G. Parameswaran, and Eugene Wu. "</a:t>
            </a:r>
            <a:r>
              <a:rPr lang="en-IN" sz="1600" dirty="0" err="1">
                <a:latin typeface="Times New Roman" panose="02020603050405020304" pitchFamily="18" charset="0"/>
                <a:cs typeface="Times New Roman" panose="02020603050405020304" pitchFamily="18" charset="0"/>
              </a:rPr>
              <a:t>Docetl</a:t>
            </a:r>
            <a:r>
              <a:rPr lang="en-IN" sz="1600" dirty="0">
                <a:latin typeface="Times New Roman" panose="02020603050405020304" pitchFamily="18" charset="0"/>
                <a:cs typeface="Times New Roman" panose="02020603050405020304" pitchFamily="18" charset="0"/>
              </a:rPr>
              <a:t>: Agentic query rewriting and evaluation for complex document processing." </a:t>
            </a:r>
            <a:r>
              <a:rPr lang="en-IN" sz="1600" i="1" dirty="0" err="1">
                <a:latin typeface="Times New Roman" panose="02020603050405020304" pitchFamily="18" charset="0"/>
                <a:cs typeface="Times New Roman" panose="02020603050405020304" pitchFamily="18" charset="0"/>
              </a:rPr>
              <a:t>arXiv</a:t>
            </a:r>
            <a:r>
              <a:rPr lang="en-IN" sz="1600" i="1" dirty="0">
                <a:latin typeface="Times New Roman" panose="02020603050405020304" pitchFamily="18" charset="0"/>
                <a:cs typeface="Times New Roman" panose="02020603050405020304" pitchFamily="18" charset="0"/>
              </a:rPr>
              <a:t> preprint arXiv:2410.12189, </a:t>
            </a:r>
            <a:r>
              <a:rPr lang="en-IN" sz="1600" dirty="0">
                <a:latin typeface="Times New Roman" panose="02020603050405020304" pitchFamily="18" charset="0"/>
                <a:cs typeface="Times New Roman" panose="02020603050405020304" pitchFamily="18" charset="0"/>
              </a:rPr>
              <a:t>2025.</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[5] </a:t>
            </a:r>
            <a:r>
              <a:rPr lang="en-US" sz="1600" dirty="0">
                <a:latin typeface="Times New Roman" panose="02020603050405020304" pitchFamily="18" charset="0"/>
                <a:cs typeface="Times New Roman" panose="02020603050405020304" pitchFamily="18" charset="0"/>
              </a:rPr>
              <a:t>Nie, Z., Arshad, M., Khurshid, S.K., Javed, A., Waheed, T., Zhang, Q., Shahzad, M.F.: Domain-specific multi-document political news summarization using </a:t>
            </a:r>
            <a:r>
              <a:rPr lang="en-US" sz="1600" dirty="0" err="1">
                <a:latin typeface="Times New Roman" panose="02020603050405020304" pitchFamily="18" charset="0"/>
                <a:cs typeface="Times New Roman" panose="02020603050405020304" pitchFamily="18" charset="0"/>
              </a:rPr>
              <a:t>bart</a:t>
            </a:r>
            <a:r>
              <a:rPr lang="en-US" sz="1600" dirty="0">
                <a:latin typeface="Times New Roman" panose="02020603050405020304" pitchFamily="18" charset="0"/>
                <a:cs typeface="Times New Roman" panose="02020603050405020304" pitchFamily="18" charset="0"/>
              </a:rPr>
              <a:t> and act-</a:t>
            </a:r>
            <a:r>
              <a:rPr lang="en-US" sz="1600" dirty="0" err="1">
                <a:latin typeface="Times New Roman" panose="02020603050405020304" pitchFamily="18" charset="0"/>
                <a:cs typeface="Times New Roman" panose="02020603050405020304" pitchFamily="18" charset="0"/>
              </a:rPr>
              <a:t>gan</a:t>
            </a:r>
            <a:r>
              <a:rPr lang="en-US" sz="1600" dirty="0">
                <a:latin typeface="Times New Roman" panose="02020603050405020304" pitchFamily="18" charset="0"/>
                <a:cs typeface="Times New Roman" panose="02020603050405020304" pitchFamily="18" charset="0"/>
              </a:rPr>
              <a:t>. IEEE Access,2025.</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3284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225A-62A1-A09D-7792-21AE8A020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DE515-075C-F187-8507-9D9FF8AEAB2B}"/>
              </a:ext>
            </a:extLst>
          </p:cNvPr>
          <p:cNvSpPr>
            <a:spLocks noGrp="1"/>
          </p:cNvSpPr>
          <p:nvPr>
            <p:ph type="title"/>
          </p:nvPr>
        </p:nvSpPr>
        <p:spPr>
          <a:xfrm>
            <a:off x="838200" y="211292"/>
            <a:ext cx="10183761" cy="1090049"/>
          </a:xfrm>
        </p:spPr>
        <p:txBody>
          <a:bodyPr>
            <a:normAutofit/>
          </a:bodyPr>
          <a:lstStyle/>
          <a:p>
            <a:pPr algn="ctr"/>
            <a:r>
              <a:rPr lang="en-IN" sz="24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F8F2E92B-D9AB-58BC-DECB-1456C8AAC312}"/>
              </a:ext>
            </a:extLst>
          </p:cNvPr>
          <p:cNvSpPr>
            <a:spLocks noGrp="1"/>
          </p:cNvSpPr>
          <p:nvPr>
            <p:ph idx="1"/>
          </p:nvPr>
        </p:nvSpPr>
        <p:spPr>
          <a:xfrm>
            <a:off x="838200" y="1166864"/>
            <a:ext cx="10515600" cy="4909472"/>
          </a:xfrm>
        </p:spPr>
        <p:txBody>
          <a:bodyPr>
            <a:noAutofit/>
          </a:bodyPr>
          <a:lstStyle/>
          <a:p>
            <a:pPr marL="0" lvl="0" indent="0" algn="just">
              <a:lnSpc>
                <a:spcPct val="150000"/>
              </a:lnSpc>
              <a:buNone/>
            </a:pPr>
            <a:r>
              <a:rPr lang="en-US" sz="1600" b="1" dirty="0">
                <a:latin typeface="Times New Roman" panose="02020603050405020304" pitchFamily="18" charset="0"/>
                <a:cs typeface="Times New Roman" panose="02020603050405020304" pitchFamily="18" charset="0"/>
              </a:rPr>
              <a:t>[6] </a:t>
            </a:r>
            <a:r>
              <a:rPr lang="en-US" sz="1600" dirty="0">
                <a:latin typeface="Times New Roman" panose="02020603050405020304" pitchFamily="18" charset="0"/>
                <a:cs typeface="Times New Roman" panose="02020603050405020304" pitchFamily="18" charset="0"/>
              </a:rPr>
              <a:t>Chen, X., Chen, Z., Cheng, S.: </a:t>
            </a:r>
            <a:r>
              <a:rPr lang="en-US" sz="1600" dirty="0" err="1">
                <a:latin typeface="Times New Roman" panose="02020603050405020304" pitchFamily="18" charset="0"/>
                <a:cs typeface="Times New Roman" panose="02020603050405020304" pitchFamily="18" charset="0"/>
              </a:rPr>
              <a:t>Cothssum</a:t>
            </a:r>
            <a:r>
              <a:rPr lang="en-US" sz="1600" dirty="0">
                <a:latin typeface="Times New Roman" panose="02020603050405020304" pitchFamily="18" charset="0"/>
                <a:cs typeface="Times New Roman" panose="02020603050405020304" pitchFamily="18" charset="0"/>
              </a:rPr>
              <a:t>: Structured long-document summa </a:t>
            </a:r>
            <a:r>
              <a:rPr lang="en-US" sz="1600" dirty="0" err="1">
                <a:latin typeface="Times New Roman" panose="02020603050405020304" pitchFamily="18" charset="0"/>
                <a:cs typeface="Times New Roman" panose="02020603050405020304" pitchFamily="18" charset="0"/>
              </a:rPr>
              <a:t>rization</a:t>
            </a:r>
            <a:r>
              <a:rPr lang="en-US" sz="1600" dirty="0">
                <a:latin typeface="Times New Roman" panose="02020603050405020304" pitchFamily="18" charset="0"/>
                <a:cs typeface="Times New Roman" panose="02020603050405020304" pitchFamily="18" charset="0"/>
              </a:rPr>
              <a:t> via chain-of-thought reasoning and hierarchical segmentation. Journal of King Saud University-Computer and Information Sciences 37(4), 40, 2025</a:t>
            </a:r>
            <a:endParaRPr lang="en-IN" sz="1600" dirty="0">
              <a:latin typeface="Times New Roman" panose="02020603050405020304" pitchFamily="18" charset="0"/>
              <a:cs typeface="Times New Roman" panose="02020603050405020304" pitchFamily="18" charset="0"/>
            </a:endParaRPr>
          </a:p>
          <a:p>
            <a:pPr marL="0" lvl="0" indent="0" algn="just">
              <a:lnSpc>
                <a:spcPct val="150000"/>
              </a:lnSpc>
              <a:buNone/>
            </a:pPr>
            <a:r>
              <a:rPr lang="en-US" sz="1600" b="1" dirty="0">
                <a:latin typeface="Times New Roman" panose="02020603050405020304" pitchFamily="18" charset="0"/>
                <a:cs typeface="Times New Roman" panose="02020603050405020304" pitchFamily="18" charset="0"/>
              </a:rPr>
              <a:t>[7] </a:t>
            </a:r>
            <a:r>
              <a:rPr lang="en-US" sz="1600" dirty="0">
                <a:latin typeface="Times New Roman" panose="02020603050405020304" pitchFamily="18" charset="0"/>
                <a:cs typeface="Times New Roman" panose="02020603050405020304" pitchFamily="18" charset="0"/>
              </a:rPr>
              <a:t>Rani Krishna, K.M., Somasundaram, K., Arulmozhivarman, P., Immanuel, S.A., Rajkumar, E.R.: Deep learning for text summarization using </a:t>
            </a:r>
            <a:r>
              <a:rPr lang="en-US" sz="1600" dirty="0" err="1">
                <a:latin typeface="Times New Roman" panose="02020603050405020304" pitchFamily="18" charset="0"/>
                <a:cs typeface="Times New Roman" panose="02020603050405020304" pitchFamily="18" charset="0"/>
              </a:rPr>
              <a:t>nlp</a:t>
            </a:r>
            <a:r>
              <a:rPr lang="en-US" sz="1600" dirty="0">
                <a:latin typeface="Times New Roman" panose="02020603050405020304" pitchFamily="18" charset="0"/>
                <a:cs typeface="Times New Roman" panose="02020603050405020304" pitchFamily="18" charset="0"/>
              </a:rPr>
              <a:t> for automated news digest. Scientific Reports 15(1), 36343,2025.</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[8] </a:t>
            </a:r>
            <a:r>
              <a:rPr lang="en-US" sz="1600" dirty="0">
                <a:latin typeface="Times New Roman" panose="02020603050405020304" pitchFamily="18" charset="0"/>
                <a:cs typeface="Times New Roman" panose="02020603050405020304" pitchFamily="18" charset="0"/>
              </a:rPr>
              <a:t>Jayatilleke, </a:t>
            </a:r>
            <a:r>
              <a:rPr lang="en-US" sz="1600" dirty="0" err="1">
                <a:latin typeface="Times New Roman" panose="02020603050405020304" pitchFamily="18" charset="0"/>
                <a:cs typeface="Times New Roman" panose="02020603050405020304" pitchFamily="18" charset="0"/>
              </a:rPr>
              <a:t>Nevidu</a:t>
            </a:r>
            <a:r>
              <a:rPr lang="en-US" sz="1600" dirty="0">
                <a:latin typeface="Times New Roman" panose="02020603050405020304" pitchFamily="18" charset="0"/>
                <a:cs typeface="Times New Roman" panose="02020603050405020304" pitchFamily="18" charset="0"/>
              </a:rPr>
              <a:t>, and Ruvan Weerasinghe. "A Hybrid Architecture with Efficient Fine Tuning for Abstractive Patent Document Summarization." In </a:t>
            </a:r>
            <a:r>
              <a:rPr lang="en-US" sz="1600" i="1" dirty="0">
                <a:latin typeface="Times New Roman" panose="02020603050405020304" pitchFamily="18" charset="0"/>
                <a:cs typeface="Times New Roman" panose="02020603050405020304" pitchFamily="18" charset="0"/>
              </a:rPr>
              <a:t>2025 International Research Conference on Smart Computing and Systems Engineering (SCSE)</a:t>
            </a:r>
            <a:r>
              <a:rPr lang="en-US" sz="1600" dirty="0">
                <a:latin typeface="Times New Roman" panose="02020603050405020304" pitchFamily="18" charset="0"/>
                <a:cs typeface="Times New Roman" panose="02020603050405020304" pitchFamily="18" charset="0"/>
              </a:rPr>
              <a:t>, pp. 1-6. IEEE, 2025.</a:t>
            </a:r>
          </a:p>
          <a:p>
            <a:pPr marL="0" lvl="0" indent="0" algn="just">
              <a:lnSpc>
                <a:spcPct val="150000"/>
              </a:lnSpc>
              <a:buNone/>
            </a:pPr>
            <a:r>
              <a:rPr lang="en-US" sz="1600" b="1" dirty="0">
                <a:latin typeface="Times New Roman" panose="02020603050405020304" pitchFamily="18" charset="0"/>
                <a:cs typeface="Times New Roman" panose="02020603050405020304" pitchFamily="18" charset="0"/>
              </a:rPr>
              <a:t>[9] </a:t>
            </a:r>
            <a:r>
              <a:rPr lang="en-US" sz="1600" dirty="0">
                <a:latin typeface="Times New Roman" panose="02020603050405020304" pitchFamily="18" charset="0"/>
                <a:cs typeface="Times New Roman" panose="02020603050405020304" pitchFamily="18" charset="0"/>
              </a:rPr>
              <a:t>Bashir, Abubakar Salisu, Abdulkadir Abubakar </a:t>
            </a:r>
            <a:r>
              <a:rPr lang="en-US" sz="1600" dirty="0" err="1">
                <a:latin typeface="Times New Roman" panose="02020603050405020304" pitchFamily="18" charset="0"/>
                <a:cs typeface="Times New Roman" panose="02020603050405020304" pitchFamily="18" charset="0"/>
              </a:rPr>
              <a:t>Bichi</a:t>
            </a:r>
            <a:r>
              <a:rPr lang="en-US" sz="1600" dirty="0">
                <a:latin typeface="Times New Roman" panose="02020603050405020304" pitchFamily="18" charset="0"/>
                <a:cs typeface="Times New Roman" panose="02020603050405020304" pitchFamily="18" charset="0"/>
              </a:rPr>
              <a:t>, Usman Mahmud, and Abdulrahman Mohammed Bello. "Long-text abstractive summarization using transformer models: A systematic review." </a:t>
            </a:r>
            <a:r>
              <a:rPr lang="en-US" sz="1600" i="1" dirty="0">
                <a:latin typeface="Times New Roman" panose="02020603050405020304" pitchFamily="18" charset="0"/>
                <a:cs typeface="Times New Roman" panose="02020603050405020304" pitchFamily="18" charset="0"/>
              </a:rPr>
              <a:t>Journal of the Brazilian Computer Society </a:t>
            </a:r>
            <a:r>
              <a:rPr lang="en-US" sz="1600" dirty="0">
                <a:latin typeface="Times New Roman" panose="02020603050405020304" pitchFamily="18" charset="0"/>
                <a:cs typeface="Times New Roman" panose="02020603050405020304" pitchFamily="18" charset="0"/>
              </a:rPr>
              <a:t>31, no. 1, 1263-1278,2025</a:t>
            </a:r>
            <a:r>
              <a:rPr lang="en-US"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0" lvl="0" indent="0" algn="just">
              <a:lnSpc>
                <a:spcPct val="150000"/>
              </a:lnSpc>
              <a:buNone/>
            </a:pPr>
            <a:r>
              <a:rPr lang="en-US" sz="1600" b="1" dirty="0">
                <a:latin typeface="Times New Roman" panose="02020603050405020304" pitchFamily="18" charset="0"/>
                <a:cs typeface="Times New Roman" panose="02020603050405020304" pitchFamily="18" charset="0"/>
              </a:rPr>
              <a:t>[10] </a:t>
            </a:r>
            <a:r>
              <a:rPr lang="en-US" sz="1600" dirty="0" err="1">
                <a:latin typeface="Times New Roman" panose="02020603050405020304" pitchFamily="18" charset="0"/>
                <a:cs typeface="Times New Roman" panose="02020603050405020304" pitchFamily="18" charset="0"/>
              </a:rPr>
              <a:t>Goutom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Pritom</a:t>
            </a:r>
            <a:r>
              <a:rPr lang="en-US" sz="1600" dirty="0">
                <a:latin typeface="Times New Roman" panose="02020603050405020304" pitchFamily="18" charset="0"/>
                <a:cs typeface="Times New Roman" panose="02020603050405020304" pitchFamily="18" charset="0"/>
              </a:rPr>
              <a:t> Jyoti, Nomi Baruah, and Paramananda Sonowal. "Attention-based transformer for Assamese abstractive text summarization." </a:t>
            </a:r>
            <a:r>
              <a:rPr lang="en-US" sz="1600" i="1" dirty="0">
                <a:latin typeface="Times New Roman" panose="02020603050405020304" pitchFamily="18" charset="0"/>
                <a:cs typeface="Times New Roman" panose="02020603050405020304" pitchFamily="18" charset="0"/>
              </a:rPr>
              <a:t>Procedia Computer Science </a:t>
            </a:r>
            <a:r>
              <a:rPr lang="en-US" sz="1600" dirty="0">
                <a:latin typeface="Times New Roman" panose="02020603050405020304" pitchFamily="18" charset="0"/>
                <a:cs typeface="Times New Roman" panose="02020603050405020304" pitchFamily="18" charset="0"/>
              </a:rPr>
              <a:t>235 , 1097-1104,2024.</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600" b="1" dirty="0">
              <a:latin typeface="Times New Roman" panose="02020603050405020304" pitchFamily="18" charset="0"/>
              <a:cs typeface="Times New Roman" panose="02020603050405020304" pitchFamily="18" charset="0"/>
            </a:endParaRPr>
          </a:p>
          <a:p>
            <a:pPr marL="0" lv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4867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DC91-D37D-5ED6-3311-0BF9A733167E}"/>
              </a:ext>
            </a:extLst>
          </p:cNvPr>
          <p:cNvSpPr>
            <a:spLocks noGrp="1"/>
          </p:cNvSpPr>
          <p:nvPr>
            <p:ph type="title"/>
          </p:nvPr>
        </p:nvSpPr>
        <p:spPr>
          <a:xfrm>
            <a:off x="838200" y="2766218"/>
            <a:ext cx="10515600" cy="1325563"/>
          </a:xfrm>
        </p:spPr>
        <p:txBody>
          <a:bodyPr/>
          <a:lstStyle/>
          <a:p>
            <a:pPr algn="ctr"/>
            <a:r>
              <a:rPr lang="en-IN"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535226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5390</TotalTime>
  <Words>3409</Words>
  <Application>Microsoft Office PowerPoint</Application>
  <PresentationFormat>Widescreen</PresentationFormat>
  <Paragraphs>315</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Cambria Math</vt:lpstr>
      <vt:lpstr>Times New Roman</vt:lpstr>
      <vt:lpstr>Office Theme</vt:lpstr>
      <vt:lpstr>A Hybrid Document Understanding System Using Vision and Language Transformers </vt:lpstr>
      <vt:lpstr>AGENDA</vt:lpstr>
      <vt:lpstr>INTRODUCTION</vt:lpstr>
      <vt:lpstr>PROBLEM STATEMENT</vt:lpstr>
      <vt:lpstr>OBJECTIVES</vt:lpstr>
      <vt:lpstr>LITERATURE REVIEW</vt:lpstr>
      <vt:lpstr>LITERATURE REVIEW</vt:lpstr>
      <vt:lpstr>LITERATURE REVIEW</vt:lpstr>
      <vt:lpstr>DATASETS </vt:lpstr>
      <vt:lpstr>ARCHITECTURE DIAGRAM</vt:lpstr>
      <vt:lpstr>ALGORITHM - llama-3.3-70b-verstaile </vt:lpstr>
      <vt:lpstr>PowerPoint Presentation</vt:lpstr>
      <vt:lpstr>ALGORITHM – Qwen/Qwen3-Next-80B-A3B-Instruct</vt:lpstr>
      <vt:lpstr>PowerPoint Presentation</vt:lpstr>
      <vt:lpstr>ALGORITHM  - Document Image Transformer(DiT)</vt:lpstr>
      <vt:lpstr>PowerPoint Presentation</vt:lpstr>
      <vt:lpstr>ALGORITHM – BART and LED</vt:lpstr>
      <vt:lpstr>PowerPoint Presentation</vt:lpstr>
      <vt:lpstr>Implementation and Execution Steps</vt:lpstr>
      <vt:lpstr>Implementation and Execution Steps</vt:lpstr>
      <vt:lpstr>RESULTS OBTAINED</vt:lpstr>
      <vt:lpstr>PowerPoint Presentation</vt:lpstr>
      <vt:lpstr>RESULTS OBTAINED</vt:lpstr>
      <vt:lpstr>PowerPoint Presentation</vt:lpstr>
      <vt:lpstr>PowerPoint Presentation</vt:lpstr>
      <vt:lpstr>CONCLUSION &amp;FUTURE WORK</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Hybrid Document Understanding System Using Vision and Language Transformers</dc:title>
  <dc:creator>Harshitha Bandlamudi</dc:creator>
  <cp:lastModifiedBy>poojitha gatta</cp:lastModifiedBy>
  <cp:revision>49</cp:revision>
  <dcterms:created xsi:type="dcterms:W3CDTF">2024-08-24T05:58:21Z</dcterms:created>
  <dcterms:modified xsi:type="dcterms:W3CDTF">2026-04-20T05:43:27Z</dcterms:modified>
</cp:coreProperties>
</file>